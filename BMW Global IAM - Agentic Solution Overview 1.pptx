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147481790" r:id="rId2"/>
    <p:sldId id="2147481791" r:id="rId3"/>
    <p:sldId id="2147481793" r:id="rId4"/>
    <p:sldId id="2147481805" r:id="rId5"/>
    <p:sldId id="2147481787" r:id="rId6"/>
    <p:sldId id="2147481785" r:id="rId7"/>
    <p:sldId id="2147481788" r:id="rId8"/>
    <p:sldId id="2147481794" r:id="rId9"/>
    <p:sldId id="2147481799" r:id="rId10"/>
    <p:sldId id="2147481795" r:id="rId11"/>
    <p:sldId id="2147481796" r:id="rId12"/>
    <p:sldId id="2147481798" r:id="rId13"/>
    <p:sldId id="2147481789" r:id="rId14"/>
    <p:sldId id="2147481797" r:id="rId15"/>
    <p:sldId id="214748180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33D672-209D-485C-AEDA-A2A2345BFD3B}" v="1" dt="2026-06-05T06:00:48.8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908D53-B856-493F-8E89-316262C12065}"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BC60E736-A28C-4ADC-97DB-57057E9BCFF2}">
      <dgm:prSet phldrT="[Text]" phldr="0" custT="1"/>
      <dgm:spPr>
        <a:solidFill>
          <a:srgbClr val="8702C2"/>
        </a:solidFill>
      </dgm:spPr>
      <dgm:t>
        <a:bodyPr/>
        <a:lstStyle/>
        <a:p>
          <a:r>
            <a:rPr lang="en-US" sz="1400">
              <a:latin typeface="Graphik Semibold" panose="020B0703030202060203" pitchFamily="34" charset="0"/>
            </a:rPr>
            <a:t>Pre-Visit</a:t>
          </a:r>
        </a:p>
      </dgm:t>
    </dgm:pt>
    <dgm:pt modelId="{984958BE-30DE-4019-9424-B59FBC481DFD}" type="parTrans" cxnId="{826D58C9-EE69-4ECF-8D72-5060BBDDC00B}">
      <dgm:prSet/>
      <dgm:spPr/>
      <dgm:t>
        <a:bodyPr/>
        <a:lstStyle/>
        <a:p>
          <a:endParaRPr lang="en-US" sz="1400">
            <a:latin typeface="Graphik Semibold" panose="020B0703030202060203" pitchFamily="34" charset="0"/>
          </a:endParaRPr>
        </a:p>
      </dgm:t>
    </dgm:pt>
    <dgm:pt modelId="{12A740DB-8405-4C78-AADA-99E9907F76B6}" type="sibTrans" cxnId="{826D58C9-EE69-4ECF-8D72-5060BBDDC00B}">
      <dgm:prSet/>
      <dgm:spPr/>
      <dgm:t>
        <a:bodyPr/>
        <a:lstStyle/>
        <a:p>
          <a:endParaRPr lang="en-US" sz="1400">
            <a:latin typeface="Graphik Semibold" panose="020B0703030202060203" pitchFamily="34" charset="0"/>
          </a:endParaRPr>
        </a:p>
      </dgm:t>
    </dgm:pt>
    <dgm:pt modelId="{B68488AA-898D-48B3-A6E0-6EF3A22FEF32}">
      <dgm:prSet phldrT="[Text]" phldr="0" custT="1"/>
      <dgm:spPr>
        <a:solidFill>
          <a:srgbClr val="8702C2"/>
        </a:solidFill>
      </dgm:spPr>
      <dgm:t>
        <a:bodyPr/>
        <a:lstStyle/>
        <a:p>
          <a:r>
            <a:rPr lang="en-US" sz="1400">
              <a:latin typeface="Graphik Semibold" panose="020B0703030202060203" pitchFamily="34" charset="0"/>
            </a:rPr>
            <a:t>On-site</a:t>
          </a:r>
        </a:p>
      </dgm:t>
    </dgm:pt>
    <dgm:pt modelId="{A0E0E6C7-0AB2-4571-94B2-C5DAD002D176}" type="parTrans" cxnId="{38408C9A-FE88-479B-BF15-7BA248C9ED8F}">
      <dgm:prSet/>
      <dgm:spPr/>
      <dgm:t>
        <a:bodyPr/>
        <a:lstStyle/>
        <a:p>
          <a:endParaRPr lang="en-US" sz="1400">
            <a:latin typeface="Graphik Semibold" panose="020B0703030202060203" pitchFamily="34" charset="0"/>
          </a:endParaRPr>
        </a:p>
      </dgm:t>
    </dgm:pt>
    <dgm:pt modelId="{D2C32FEE-BAFB-40A8-8D0C-90F0C3566E43}" type="sibTrans" cxnId="{38408C9A-FE88-479B-BF15-7BA248C9ED8F}">
      <dgm:prSet/>
      <dgm:spPr/>
      <dgm:t>
        <a:bodyPr/>
        <a:lstStyle/>
        <a:p>
          <a:endParaRPr lang="en-US" sz="1400">
            <a:latin typeface="Graphik Semibold" panose="020B0703030202060203" pitchFamily="34" charset="0"/>
          </a:endParaRPr>
        </a:p>
      </dgm:t>
    </dgm:pt>
    <dgm:pt modelId="{97369916-A7EB-476F-99F0-9CD1632DD961}">
      <dgm:prSet phldrT="[Text]" phldr="0" custT="1"/>
      <dgm:spPr>
        <a:solidFill>
          <a:srgbClr val="8702C2"/>
        </a:solidFill>
      </dgm:spPr>
      <dgm:t>
        <a:bodyPr/>
        <a:lstStyle/>
        <a:p>
          <a:r>
            <a:rPr lang="en-US" sz="1400">
              <a:latin typeface="Graphik Semibold" panose="020B0703030202060203" pitchFamily="34" charset="0"/>
            </a:rPr>
            <a:t>Post Visit</a:t>
          </a:r>
        </a:p>
      </dgm:t>
    </dgm:pt>
    <dgm:pt modelId="{5E82954E-547B-49BB-8594-27CB66D94090}" type="parTrans" cxnId="{15E6BE61-7CF9-464C-BFFC-79F7749C6DAC}">
      <dgm:prSet/>
      <dgm:spPr/>
      <dgm:t>
        <a:bodyPr/>
        <a:lstStyle/>
        <a:p>
          <a:endParaRPr lang="en-US" sz="1400">
            <a:latin typeface="Graphik Semibold" panose="020B0703030202060203" pitchFamily="34" charset="0"/>
          </a:endParaRPr>
        </a:p>
      </dgm:t>
    </dgm:pt>
    <dgm:pt modelId="{2848E55F-5FFE-4267-BCAC-1CE69DB970C3}" type="sibTrans" cxnId="{15E6BE61-7CF9-464C-BFFC-79F7749C6DAC}">
      <dgm:prSet/>
      <dgm:spPr/>
      <dgm:t>
        <a:bodyPr/>
        <a:lstStyle/>
        <a:p>
          <a:endParaRPr lang="en-US" sz="1400">
            <a:latin typeface="Graphik Semibold" panose="020B0703030202060203" pitchFamily="34" charset="0"/>
          </a:endParaRPr>
        </a:p>
      </dgm:t>
    </dgm:pt>
    <dgm:pt modelId="{A2ECB9E7-E087-4D42-8972-E0B54A0AA37B}" type="pres">
      <dgm:prSet presAssocID="{D6908D53-B856-493F-8E89-316262C12065}" presName="Name0" presStyleCnt="0">
        <dgm:presLayoutVars>
          <dgm:dir/>
          <dgm:animLvl val="lvl"/>
          <dgm:resizeHandles val="exact"/>
        </dgm:presLayoutVars>
      </dgm:prSet>
      <dgm:spPr/>
    </dgm:pt>
    <dgm:pt modelId="{543F2EBA-5869-42C5-B13A-468854BD7166}" type="pres">
      <dgm:prSet presAssocID="{BC60E736-A28C-4ADC-97DB-57057E9BCFF2}" presName="parTxOnly" presStyleLbl="node1" presStyleIdx="0" presStyleCnt="3">
        <dgm:presLayoutVars>
          <dgm:chMax val="0"/>
          <dgm:chPref val="0"/>
          <dgm:bulletEnabled val="1"/>
        </dgm:presLayoutVars>
      </dgm:prSet>
      <dgm:spPr/>
    </dgm:pt>
    <dgm:pt modelId="{E3711826-3511-4A13-920E-851DD9228DA1}" type="pres">
      <dgm:prSet presAssocID="{12A740DB-8405-4C78-AADA-99E9907F76B6}" presName="parTxOnlySpace" presStyleCnt="0"/>
      <dgm:spPr/>
    </dgm:pt>
    <dgm:pt modelId="{5EEC2E54-F6F5-4CBB-919D-3C08F015BE22}" type="pres">
      <dgm:prSet presAssocID="{B68488AA-898D-48B3-A6E0-6EF3A22FEF32}" presName="parTxOnly" presStyleLbl="node1" presStyleIdx="1" presStyleCnt="3">
        <dgm:presLayoutVars>
          <dgm:chMax val="0"/>
          <dgm:chPref val="0"/>
          <dgm:bulletEnabled val="1"/>
        </dgm:presLayoutVars>
      </dgm:prSet>
      <dgm:spPr/>
    </dgm:pt>
    <dgm:pt modelId="{1B8C5B5D-0B7C-4BA8-8F5D-82376CB5D75C}" type="pres">
      <dgm:prSet presAssocID="{D2C32FEE-BAFB-40A8-8D0C-90F0C3566E43}" presName="parTxOnlySpace" presStyleCnt="0"/>
      <dgm:spPr/>
    </dgm:pt>
    <dgm:pt modelId="{1527D15D-3989-4495-8C39-BF7EAA62844E}" type="pres">
      <dgm:prSet presAssocID="{97369916-A7EB-476F-99F0-9CD1632DD961}" presName="parTxOnly" presStyleLbl="node1" presStyleIdx="2" presStyleCnt="3">
        <dgm:presLayoutVars>
          <dgm:chMax val="0"/>
          <dgm:chPref val="0"/>
          <dgm:bulletEnabled val="1"/>
        </dgm:presLayoutVars>
      </dgm:prSet>
      <dgm:spPr/>
    </dgm:pt>
  </dgm:ptLst>
  <dgm:cxnLst>
    <dgm:cxn modelId="{399C440C-9400-46A2-9896-D60BEB9D80B1}" type="presOf" srcId="{D6908D53-B856-493F-8E89-316262C12065}" destId="{A2ECB9E7-E087-4D42-8972-E0B54A0AA37B}" srcOrd="0" destOrd="0" presId="urn:microsoft.com/office/officeart/2005/8/layout/chevron1"/>
    <dgm:cxn modelId="{15E6BE61-7CF9-464C-BFFC-79F7749C6DAC}" srcId="{D6908D53-B856-493F-8E89-316262C12065}" destId="{97369916-A7EB-476F-99F0-9CD1632DD961}" srcOrd="2" destOrd="0" parTransId="{5E82954E-547B-49BB-8594-27CB66D94090}" sibTransId="{2848E55F-5FFE-4267-BCAC-1CE69DB970C3}"/>
    <dgm:cxn modelId="{7CF2B699-99A7-47B0-A76A-27F6BCECBE0E}" type="presOf" srcId="{BC60E736-A28C-4ADC-97DB-57057E9BCFF2}" destId="{543F2EBA-5869-42C5-B13A-468854BD7166}" srcOrd="0" destOrd="0" presId="urn:microsoft.com/office/officeart/2005/8/layout/chevron1"/>
    <dgm:cxn modelId="{38408C9A-FE88-479B-BF15-7BA248C9ED8F}" srcId="{D6908D53-B856-493F-8E89-316262C12065}" destId="{B68488AA-898D-48B3-A6E0-6EF3A22FEF32}" srcOrd="1" destOrd="0" parTransId="{A0E0E6C7-0AB2-4571-94B2-C5DAD002D176}" sibTransId="{D2C32FEE-BAFB-40A8-8D0C-90F0C3566E43}"/>
    <dgm:cxn modelId="{7FE10FC8-BEEE-4716-9483-8DF7AEC5E2AB}" type="presOf" srcId="{97369916-A7EB-476F-99F0-9CD1632DD961}" destId="{1527D15D-3989-4495-8C39-BF7EAA62844E}" srcOrd="0" destOrd="0" presId="urn:microsoft.com/office/officeart/2005/8/layout/chevron1"/>
    <dgm:cxn modelId="{826D58C9-EE69-4ECF-8D72-5060BBDDC00B}" srcId="{D6908D53-B856-493F-8E89-316262C12065}" destId="{BC60E736-A28C-4ADC-97DB-57057E9BCFF2}" srcOrd="0" destOrd="0" parTransId="{984958BE-30DE-4019-9424-B59FBC481DFD}" sibTransId="{12A740DB-8405-4C78-AADA-99E9907F76B6}"/>
    <dgm:cxn modelId="{8460D0D8-7902-4450-BDF2-BEA86C5A1621}" type="presOf" srcId="{B68488AA-898D-48B3-A6E0-6EF3A22FEF32}" destId="{5EEC2E54-F6F5-4CBB-919D-3C08F015BE22}" srcOrd="0" destOrd="0" presId="urn:microsoft.com/office/officeart/2005/8/layout/chevron1"/>
    <dgm:cxn modelId="{149BE702-48EA-41FC-90A5-CC5951CC109A}" type="presParOf" srcId="{A2ECB9E7-E087-4D42-8972-E0B54A0AA37B}" destId="{543F2EBA-5869-42C5-B13A-468854BD7166}" srcOrd="0" destOrd="0" presId="urn:microsoft.com/office/officeart/2005/8/layout/chevron1"/>
    <dgm:cxn modelId="{806A7A25-0F58-47EF-BEE1-5E89F16CE7F9}" type="presParOf" srcId="{A2ECB9E7-E087-4D42-8972-E0B54A0AA37B}" destId="{E3711826-3511-4A13-920E-851DD9228DA1}" srcOrd="1" destOrd="0" presId="urn:microsoft.com/office/officeart/2005/8/layout/chevron1"/>
    <dgm:cxn modelId="{171C1F67-5584-4B9B-AA5B-82E6EA387820}" type="presParOf" srcId="{A2ECB9E7-E087-4D42-8972-E0B54A0AA37B}" destId="{5EEC2E54-F6F5-4CBB-919D-3C08F015BE22}" srcOrd="2" destOrd="0" presId="urn:microsoft.com/office/officeart/2005/8/layout/chevron1"/>
    <dgm:cxn modelId="{0AFE72C2-19AF-43FE-AE69-F29E3291E00A}" type="presParOf" srcId="{A2ECB9E7-E087-4D42-8972-E0B54A0AA37B}" destId="{1B8C5B5D-0B7C-4BA8-8F5D-82376CB5D75C}" srcOrd="3" destOrd="0" presId="urn:microsoft.com/office/officeart/2005/8/layout/chevron1"/>
    <dgm:cxn modelId="{AE751CA4-52A5-4509-87CD-23BA3594AC29}" type="presParOf" srcId="{A2ECB9E7-E087-4D42-8972-E0B54A0AA37B}" destId="{1527D15D-3989-4495-8C39-BF7EAA62844E}"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3F2EBA-5869-42C5-B13A-468854BD7166}">
      <dsp:nvSpPr>
        <dsp:cNvPr id="0" name=""/>
        <dsp:cNvSpPr/>
      </dsp:nvSpPr>
      <dsp:spPr>
        <a:xfrm>
          <a:off x="2725" y="0"/>
          <a:ext cx="3320803" cy="272659"/>
        </a:xfrm>
        <a:prstGeom prst="chevron">
          <a:avLst/>
        </a:prstGeom>
        <a:solidFill>
          <a:srgbClr val="8702C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a:latin typeface="Graphik Semibold" panose="020B0703030202060203" pitchFamily="34" charset="0"/>
            </a:rPr>
            <a:t>Pre-Visit</a:t>
          </a:r>
        </a:p>
      </dsp:txBody>
      <dsp:txXfrm>
        <a:off x="139055" y="0"/>
        <a:ext cx="3048144" cy="272659"/>
      </dsp:txXfrm>
    </dsp:sp>
    <dsp:sp modelId="{5EEC2E54-F6F5-4CBB-919D-3C08F015BE22}">
      <dsp:nvSpPr>
        <dsp:cNvPr id="0" name=""/>
        <dsp:cNvSpPr/>
      </dsp:nvSpPr>
      <dsp:spPr>
        <a:xfrm>
          <a:off x="2991448" y="0"/>
          <a:ext cx="3320803" cy="272659"/>
        </a:xfrm>
        <a:prstGeom prst="chevron">
          <a:avLst/>
        </a:prstGeom>
        <a:solidFill>
          <a:srgbClr val="8702C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a:latin typeface="Graphik Semibold" panose="020B0703030202060203" pitchFamily="34" charset="0"/>
            </a:rPr>
            <a:t>On-site</a:t>
          </a:r>
        </a:p>
      </dsp:txBody>
      <dsp:txXfrm>
        <a:off x="3127778" y="0"/>
        <a:ext cx="3048144" cy="272659"/>
      </dsp:txXfrm>
    </dsp:sp>
    <dsp:sp modelId="{1527D15D-3989-4495-8C39-BF7EAA62844E}">
      <dsp:nvSpPr>
        <dsp:cNvPr id="0" name=""/>
        <dsp:cNvSpPr/>
      </dsp:nvSpPr>
      <dsp:spPr>
        <a:xfrm>
          <a:off x="5980171" y="0"/>
          <a:ext cx="3320803" cy="272659"/>
        </a:xfrm>
        <a:prstGeom prst="chevron">
          <a:avLst/>
        </a:prstGeom>
        <a:solidFill>
          <a:srgbClr val="8702C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a:latin typeface="Graphik Semibold" panose="020B0703030202060203" pitchFamily="34" charset="0"/>
            </a:rPr>
            <a:t>Post Visit</a:t>
          </a:r>
        </a:p>
      </dsp:txBody>
      <dsp:txXfrm>
        <a:off x="6116501" y="0"/>
        <a:ext cx="3048144" cy="27265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FF1D2-46F5-406C-AB49-01668A36E592}"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13E4C-14B5-412A-974B-F3AF9589FF16}" type="slidenum">
              <a:rPr lang="en-US" smtClean="0"/>
              <a:t>‹#›</a:t>
            </a:fld>
            <a:endParaRPr lang="en-US"/>
          </a:p>
        </p:txBody>
      </p:sp>
    </p:spTree>
    <p:extLst>
      <p:ext uri="{BB962C8B-B14F-4D97-AF65-F5344CB8AC3E}">
        <p14:creationId xmlns:p14="http://schemas.microsoft.com/office/powerpoint/2010/main" val="58757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04E6D-82B3-99F1-945B-D52C7DCA6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5D868-8BF4-DA5B-8ACE-456E24A86C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0483D7-25C0-2123-3E7D-406947B6A2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FE678F-EB76-E0EC-4711-C0DB971ACC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225533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EECA6-0821-D004-B071-00E50C983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BEC3B-C9A2-440B-E13D-6964E51BDB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3588300-FE60-9602-3924-00BD9EA6A5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70274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a:solidFill>
                  <a:schemeClr val="tx1"/>
                </a:solidFill>
                <a:effectLst/>
                <a:latin typeface="+mn-lt"/>
                <a:ea typeface="+mn-ea"/>
                <a:cs typeface="+mn-cs"/>
              </a:rPr>
              <a:t>Build </a:t>
            </a:r>
            <a:r>
              <a:rPr lang="en-AU" sz="1200" kern="1200" dirty="0">
                <a:solidFill>
                  <a:schemeClr val="tx1"/>
                </a:solidFill>
                <a:effectLst/>
                <a:latin typeface="+mn-lt"/>
                <a:ea typeface="+mn-ea"/>
                <a:cs typeface="+mn-cs"/>
              </a:rPr>
              <a:t>($830k) and run ($225k) components</a:t>
            </a:r>
            <a:endParaRPr lang="en-US" dirty="0"/>
          </a:p>
        </p:txBody>
      </p:sp>
      <p:sp>
        <p:nvSpPr>
          <p:cNvPr id="4" name="Slide Number Placeholder 3"/>
          <p:cNvSpPr>
            <a:spLocks noGrp="1"/>
          </p:cNvSpPr>
          <p:nvPr>
            <p:ph type="sldNum" sz="quarter" idx="5"/>
          </p:nvPr>
        </p:nvSpPr>
        <p:spPr/>
        <p:txBody>
          <a:bodyPr/>
          <a:lstStyle/>
          <a:p>
            <a:fld id="{2E513E4C-14B5-412A-974B-F3AF9589FF16}" type="slidenum">
              <a:rPr lang="en-US" smtClean="0"/>
              <a:t>5</a:t>
            </a:fld>
            <a:endParaRPr lang="en-US"/>
          </a:p>
        </p:txBody>
      </p:sp>
    </p:spTree>
    <p:extLst>
      <p:ext uri="{BB962C8B-B14F-4D97-AF65-F5344CB8AC3E}">
        <p14:creationId xmlns:p14="http://schemas.microsoft.com/office/powerpoint/2010/main" val="2682421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92251-7799-BDBD-6FFE-5F2902714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566ED-1060-6DB9-7989-2D81D81A26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6A6017-011E-035B-EDB3-37B1021866B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72922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AA712-770D-3AB6-FB89-5A163779D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19F3C1-376D-3750-53D2-2D47BB0D0D5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729FB1-2D21-7A12-9176-D3DA44D4A76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54694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DEE19-C172-B1DE-F774-DA981263B7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DDAA0-1BFC-1B95-A807-C4CECA8E32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DCCFF7-23A0-58EB-D111-FD144FAB5A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48970D-399F-70D6-3E43-4163E425411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9571E2-26CB-4621-BBF2-255E3181B2A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641664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9.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2_Salutation-GTS left-image bkgnd">
    <p:bg>
      <p:bgPr>
        <a:solidFill>
          <a:schemeClr val="accent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1F6D11-452C-6297-3064-3629F75C230B}"/>
              </a:ext>
            </a:extLst>
          </p:cNvPr>
          <p:cNvSpPr/>
          <p:nvPr userDrawn="1"/>
        </p:nvSpPr>
        <p:spPr bwMode="auto">
          <a:xfrm>
            <a:off x="0" y="0"/>
            <a:ext cx="12192000" cy="6873902"/>
          </a:xfrm>
          <a:prstGeom prst="rect">
            <a:avLst/>
          </a:prstGeom>
          <a:gradFill>
            <a:gsLst>
              <a:gs pos="0">
                <a:srgbClr val="82F5D3"/>
              </a:gs>
              <a:gs pos="25000">
                <a:srgbClr val="87D1DA"/>
              </a:gs>
              <a:gs pos="75000">
                <a:srgbClr val="917CE8"/>
              </a:gs>
              <a:gs pos="49000">
                <a:srgbClr val="8DA5E2"/>
              </a:gs>
              <a:gs pos="100000">
                <a:srgbClr val="9C25F9"/>
              </a:gs>
            </a:gsLst>
            <a:lin ang="3000000" scaled="0"/>
          </a:gradFill>
        </p:spPr>
        <p:txBody>
          <a:bodyPr vert="horz" lIns="0" tIns="0" rIns="0" bIns="0" rtlCol="0" anchor="t">
            <a:noAutofit/>
          </a:bodyPr>
          <a:lstStyle/>
          <a:p>
            <a:pPr>
              <a:lnSpc>
                <a:spcPct val="80000"/>
              </a:lnSpc>
              <a:spcBef>
                <a:spcPct val="0"/>
              </a:spcBef>
            </a:pPr>
            <a:endParaRPr lang="en-US" sz="3600" b="1">
              <a:noFill/>
              <a:latin typeface="Graphik-Semibold" panose="020B0503030202060203" pitchFamily="34" charset="77"/>
              <a:ea typeface="+mj-ea"/>
              <a:cs typeface="+mj-cs"/>
            </a:endParaRPr>
          </a:p>
        </p:txBody>
      </p:sp>
      <p:pic>
        <p:nvPicPr>
          <p:cNvPr id="8" name="Picture 7" descr="A computer chip with many wires&#10;&#10;Description automatically generated with medium confidence">
            <a:extLst>
              <a:ext uri="{FF2B5EF4-FFF2-40B4-BE49-F238E27FC236}">
                <a16:creationId xmlns:a16="http://schemas.microsoft.com/office/drawing/2014/main" id="{6B02D07F-7577-DCC4-F652-99EF43C2A2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bwMode="auto">
          <a:xfrm>
            <a:off x="0" y="0"/>
            <a:ext cx="12192000" cy="6858000"/>
          </a:xfrm>
          <a:prstGeom prst="rect">
            <a:avLst/>
          </a:prstGeom>
        </p:spPr>
      </p:pic>
      <p:sp>
        <p:nvSpPr>
          <p:cNvPr id="5" name="Rectangle 4">
            <a:extLst>
              <a:ext uri="{FF2B5EF4-FFF2-40B4-BE49-F238E27FC236}">
                <a16:creationId xmlns:a16="http://schemas.microsoft.com/office/drawing/2014/main" id="{1AF09DEA-5D6A-FBAE-C3C5-8747F57914D7}"/>
              </a:ext>
            </a:extLst>
          </p:cNvPr>
          <p:cNvSpPr/>
          <p:nvPr userDrawn="1"/>
        </p:nvSpPr>
        <p:spPr bwMode="auto">
          <a:xfrm>
            <a:off x="0" y="0"/>
            <a:ext cx="12192000" cy="6858000"/>
          </a:xfrm>
          <a:prstGeom prst="rect">
            <a:avLst/>
          </a:prstGeom>
          <a:gradFill flip="none" rotWithShape="1">
            <a:gsLst>
              <a:gs pos="0">
                <a:schemeClr val="accent2"/>
              </a:gs>
              <a:gs pos="54000">
                <a:srgbClr val="87D2DA">
                  <a:alpha val="0"/>
                </a:srgbClr>
              </a:gs>
              <a:gs pos="83000">
                <a:schemeClr val="accent4">
                  <a:lumMod val="45000"/>
                  <a:lumOff val="55000"/>
                  <a:alpha val="0"/>
                </a:schemeClr>
              </a:gs>
              <a:gs pos="100000">
                <a:srgbClr val="9B25F9">
                  <a:alpha val="39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solidFill>
                <a:srgbClr val="FFFFFF"/>
              </a:solidFill>
              <a:latin typeface="Graphik"/>
            </a:endParaRP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bwMode="auto">
          <a:xfrm>
            <a:off x="571500" y="2784998"/>
            <a:ext cx="6838949" cy="2190750"/>
          </a:xfrm>
        </p:spPr>
        <p:txBody>
          <a:bodyPr anchor="b"/>
          <a:lstStyle>
            <a:lvl1pPr algn="l">
              <a:defRPr sz="5400">
                <a:solidFill>
                  <a:schemeClr val="tx1"/>
                </a:solidFill>
                <a:latin typeface="Graphik Semibold" panose="020B0703030202060203" pitchFamily="34" charset="0"/>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bwMode="auto">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4" name="GTS_WH">
            <a:extLst>
              <a:ext uri="{FF2B5EF4-FFF2-40B4-BE49-F238E27FC236}">
                <a16:creationId xmlns:a16="http://schemas.microsoft.com/office/drawing/2014/main" id="{D46D7DE2-66B3-02FA-441F-0EE64C3AF693}"/>
              </a:ext>
              <a:ext uri="{C183D7F6-B498-43B3-948B-1728B52AA6E4}">
                <adec:decorative xmlns:adec="http://schemas.microsoft.com/office/drawing/2017/decorative" val="1"/>
              </a:ext>
            </a:extLst>
          </p:cNvPr>
          <p:cNvSpPr>
            <a:spLocks noChangeAspect="1"/>
          </p:cNvSpPr>
          <p:nvPr userDrawn="1"/>
        </p:nvSpPr>
        <p:spPr bwMode="auto">
          <a:xfrm>
            <a:off x="5715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36995711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_Salutation-GTS left-image bkgnd">
    <p:bg>
      <p:bgPr>
        <a:solidFill>
          <a:schemeClr val="accent3"/>
        </a:solidFill>
        <a:effectLst/>
      </p:bgPr>
    </p:bg>
    <p:spTree>
      <p:nvGrpSpPr>
        <p:cNvPr id="1" name=""/>
        <p:cNvGrpSpPr/>
        <p:nvPr/>
      </p:nvGrpSpPr>
      <p:grpSpPr>
        <a:xfrm>
          <a:off x="0" y="0"/>
          <a:ext cx="0" cy="0"/>
          <a:chOff x="0" y="0"/>
          <a:chExt cx="0" cy="0"/>
        </a:xfrm>
      </p:grpSpPr>
      <p:pic>
        <p:nvPicPr>
          <p:cNvPr id="6" name="Picture 5" descr="A close up of a blue and purple light&#10;&#10;Description automatically generated with medium confidence">
            <a:extLst>
              <a:ext uri="{FF2B5EF4-FFF2-40B4-BE49-F238E27FC236}">
                <a16:creationId xmlns:a16="http://schemas.microsoft.com/office/drawing/2014/main" id="{AE8104DD-F9E3-2AB1-3E2D-FFEA9457F14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119EAB17-F513-6C60-1A79-16CFF5F2F5DE}"/>
              </a:ext>
            </a:extLst>
          </p:cNvPr>
          <p:cNvSpPr/>
          <p:nvPr userDrawn="1"/>
        </p:nvSpPr>
        <p:spPr bwMode="auto">
          <a:xfrm>
            <a:off x="0" y="0"/>
            <a:ext cx="12192000" cy="6858000"/>
          </a:xfrm>
          <a:prstGeom prst="rect">
            <a:avLst/>
          </a:prstGeom>
          <a:gradFill flip="none" rotWithShape="1">
            <a:gsLst>
              <a:gs pos="23000">
                <a:schemeClr val="accent3">
                  <a:alpha val="83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solidFill>
                <a:srgbClr val="FFFFFF"/>
              </a:solidFill>
              <a:latin typeface="Graphik"/>
            </a:endParaRP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bwMode="auto">
          <a:xfrm>
            <a:off x="571500" y="2523281"/>
            <a:ext cx="6838949" cy="2245489"/>
          </a:xfrm>
        </p:spPr>
        <p:txBody>
          <a:bodyPr anchor="b"/>
          <a:lstStyle>
            <a:lvl1pPr algn="l">
              <a:defRPr sz="5400">
                <a:solidFill>
                  <a:schemeClr val="tx1"/>
                </a:solidFill>
                <a:latin typeface="Graphik Semibold" panose="020B0703030202060203" pitchFamily="34" charset="0"/>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bwMode="auto">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4" name="GTS_WH">
            <a:extLst>
              <a:ext uri="{FF2B5EF4-FFF2-40B4-BE49-F238E27FC236}">
                <a16:creationId xmlns:a16="http://schemas.microsoft.com/office/drawing/2014/main" id="{D46D7DE2-66B3-02FA-441F-0EE64C3AF693}"/>
              </a:ext>
              <a:ext uri="{C183D7F6-B498-43B3-948B-1728B52AA6E4}">
                <adec:decorative xmlns:adec="http://schemas.microsoft.com/office/drawing/2017/decorative" val="1"/>
              </a:ext>
            </a:extLst>
          </p:cNvPr>
          <p:cNvSpPr>
            <a:spLocks noChangeAspect="1"/>
          </p:cNvSpPr>
          <p:nvPr userDrawn="1"/>
        </p:nvSpPr>
        <p:spPr bwMode="auto">
          <a:xfrm>
            <a:off x="5715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13939027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Salutation-GTS left-image bkgnd">
    <p:bg>
      <p:bgPr>
        <a:solidFill>
          <a:schemeClr val="accent3"/>
        </a:solidFill>
        <a:effectLst/>
      </p:bgPr>
    </p:bg>
    <p:spTree>
      <p:nvGrpSpPr>
        <p:cNvPr id="1" name=""/>
        <p:cNvGrpSpPr/>
        <p:nvPr/>
      </p:nvGrpSpPr>
      <p:grpSpPr>
        <a:xfrm>
          <a:off x="0" y="0"/>
          <a:ext cx="0" cy="0"/>
          <a:chOff x="0" y="0"/>
          <a:chExt cx="0" cy="0"/>
        </a:xfrm>
      </p:grpSpPr>
      <p:pic>
        <p:nvPicPr>
          <p:cNvPr id="7" name="Picture 6" descr="A city with lights and lines&#10;&#10;Description automatically generated with medium confidence">
            <a:extLst>
              <a:ext uri="{FF2B5EF4-FFF2-40B4-BE49-F238E27FC236}">
                <a16:creationId xmlns:a16="http://schemas.microsoft.com/office/drawing/2014/main" id="{A2D04B21-F289-592B-FBBD-4D608AF0B7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119EAB17-F513-6C60-1A79-16CFF5F2F5DE}"/>
              </a:ext>
            </a:extLst>
          </p:cNvPr>
          <p:cNvSpPr/>
          <p:nvPr userDrawn="1"/>
        </p:nvSpPr>
        <p:spPr bwMode="auto">
          <a:xfrm>
            <a:off x="0" y="0"/>
            <a:ext cx="12192000" cy="6858000"/>
          </a:xfrm>
          <a:prstGeom prst="rect">
            <a:avLst/>
          </a:prstGeom>
          <a:gradFill flip="none" rotWithShape="1">
            <a:gsLst>
              <a:gs pos="23000">
                <a:schemeClr val="accent3">
                  <a:alpha val="83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solidFill>
                <a:srgbClr val="FFFFFF"/>
              </a:solidFill>
              <a:latin typeface="Graphik"/>
            </a:endParaRP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bwMode="auto">
          <a:xfrm>
            <a:off x="571500" y="2523281"/>
            <a:ext cx="6838949" cy="2245489"/>
          </a:xfrm>
        </p:spPr>
        <p:txBody>
          <a:bodyPr anchor="b"/>
          <a:lstStyle>
            <a:lvl1pPr algn="l">
              <a:defRPr sz="5400">
                <a:solidFill>
                  <a:schemeClr val="tx1"/>
                </a:solidFill>
                <a:latin typeface="Graphik Semibold" panose="020B0703030202060203" pitchFamily="34" charset="0"/>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bwMode="auto">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4" name="GTS_WH">
            <a:extLst>
              <a:ext uri="{FF2B5EF4-FFF2-40B4-BE49-F238E27FC236}">
                <a16:creationId xmlns:a16="http://schemas.microsoft.com/office/drawing/2014/main" id="{D46D7DE2-66B3-02FA-441F-0EE64C3AF693}"/>
              </a:ext>
              <a:ext uri="{C183D7F6-B498-43B3-948B-1728B52AA6E4}">
                <adec:decorative xmlns:adec="http://schemas.microsoft.com/office/drawing/2017/decorative" val="1"/>
              </a:ext>
            </a:extLst>
          </p:cNvPr>
          <p:cNvSpPr>
            <a:spLocks noChangeAspect="1"/>
          </p:cNvSpPr>
          <p:nvPr userDrawn="1"/>
        </p:nvSpPr>
        <p:spPr bwMode="auto">
          <a:xfrm>
            <a:off x="5715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7717664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5_Salutation-GTS left-image bkgnd">
    <p:bg>
      <p:bgPr>
        <a:solidFill>
          <a:schemeClr val="accent3"/>
        </a:solidFill>
        <a:effectLst/>
      </p:bgPr>
    </p:bg>
    <p:spTree>
      <p:nvGrpSpPr>
        <p:cNvPr id="1" name=""/>
        <p:cNvGrpSpPr/>
        <p:nvPr/>
      </p:nvGrpSpPr>
      <p:grpSpPr>
        <a:xfrm>
          <a:off x="0" y="0"/>
          <a:ext cx="0" cy="0"/>
          <a:chOff x="0" y="0"/>
          <a:chExt cx="0" cy="0"/>
        </a:xfrm>
      </p:grpSpPr>
      <p:pic>
        <p:nvPicPr>
          <p:cNvPr id="8" name="Picture 7" descr="A person standing in front of a blue and purple background&#10;&#10;Description automatically generated">
            <a:extLst>
              <a:ext uri="{FF2B5EF4-FFF2-40B4-BE49-F238E27FC236}">
                <a16:creationId xmlns:a16="http://schemas.microsoft.com/office/drawing/2014/main" id="{093AD14E-03EE-D230-9F6C-40519BCF0F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flipH="1">
            <a:off x="0" y="0"/>
            <a:ext cx="121920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bwMode="auto">
          <a:xfrm>
            <a:off x="571500" y="2589055"/>
            <a:ext cx="6838949" cy="2190750"/>
          </a:xfrm>
        </p:spPr>
        <p:txBody>
          <a:bodyPr anchor="b"/>
          <a:lstStyle>
            <a:lvl1pPr algn="l">
              <a:defRPr sz="5400">
                <a:solidFill>
                  <a:schemeClr val="tx1"/>
                </a:solidFill>
                <a:latin typeface="Graphik Semibold" panose="020B0703030202060203" pitchFamily="34" charset="0"/>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bwMode="auto">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4" name="GTS_WH">
            <a:extLst>
              <a:ext uri="{FF2B5EF4-FFF2-40B4-BE49-F238E27FC236}">
                <a16:creationId xmlns:a16="http://schemas.microsoft.com/office/drawing/2014/main" id="{D46D7DE2-66B3-02FA-441F-0EE64C3AF693}"/>
              </a:ext>
              <a:ext uri="{C183D7F6-B498-43B3-948B-1728B52AA6E4}">
                <adec:decorative xmlns:adec="http://schemas.microsoft.com/office/drawing/2017/decorative" val="1"/>
              </a:ext>
            </a:extLst>
          </p:cNvPr>
          <p:cNvSpPr>
            <a:spLocks noChangeAspect="1"/>
          </p:cNvSpPr>
          <p:nvPr userDrawn="1"/>
        </p:nvSpPr>
        <p:spPr bwMode="auto">
          <a:xfrm>
            <a:off x="5715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37835931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22A32D-4639-728D-153D-D390D4D1B664}"/>
              </a:ext>
            </a:extLst>
          </p:cNvPr>
          <p:cNvGrpSpPr/>
          <p:nvPr userDrawn="1"/>
        </p:nvGrpSpPr>
        <p:grpSpPr bwMode="auto">
          <a:xfrm>
            <a:off x="-2" y="0"/>
            <a:ext cx="12192001" cy="6865951"/>
            <a:chOff x="-1" y="7952"/>
            <a:chExt cx="12192000" cy="6857999"/>
          </a:xfrm>
        </p:grpSpPr>
        <p:pic>
          <p:nvPicPr>
            <p:cNvPr id="5" name="Picture 4">
              <a:extLst>
                <a:ext uri="{FF2B5EF4-FFF2-40B4-BE49-F238E27FC236}">
                  <a16:creationId xmlns:a16="http://schemas.microsoft.com/office/drawing/2014/main" id="{4CDC8344-8349-80DC-7603-28EA377732F5}"/>
                </a:ext>
              </a:extLst>
            </p:cNvPr>
            <p:cNvPicPr>
              <a:picLocks noChangeAspect="1"/>
            </p:cNvPicPr>
            <p:nvPr/>
          </p:nvPicPr>
          <p:blipFill>
            <a:blip r:embed="rId2">
              <a:alphaModFix/>
            </a:blip>
            <a:stretch>
              <a:fillRect/>
            </a:stretch>
          </p:blipFill>
          <p:spPr bwMode="auto">
            <a:xfrm>
              <a:off x="-1" y="7952"/>
              <a:ext cx="12192000" cy="6857999"/>
            </a:xfrm>
            <a:prstGeom prst="rect">
              <a:avLst/>
            </a:prstGeom>
          </p:spPr>
        </p:pic>
        <p:pic>
          <p:nvPicPr>
            <p:cNvPr id="6" name="Picture 5">
              <a:extLst>
                <a:ext uri="{FF2B5EF4-FFF2-40B4-BE49-F238E27FC236}">
                  <a16:creationId xmlns:a16="http://schemas.microsoft.com/office/drawing/2014/main" id="{EA8E70D5-8F5F-03E3-9FAB-F1EC9CEC8247}"/>
                </a:ext>
              </a:extLst>
            </p:cNvPr>
            <p:cNvPicPr>
              <a:picLocks noChangeAspect="1"/>
            </p:cNvPicPr>
            <p:nvPr/>
          </p:nvPicPr>
          <p:blipFill>
            <a:blip r:embed="rId2">
              <a:alphaModFix/>
            </a:blip>
            <a:stretch>
              <a:fillRect/>
            </a:stretch>
          </p:blipFill>
          <p:spPr bwMode="auto">
            <a:xfrm>
              <a:off x="-1" y="7952"/>
              <a:ext cx="12192000" cy="6857999"/>
            </a:xfrm>
            <a:prstGeom prst="rect">
              <a:avLst/>
            </a:prstGeom>
          </p:spPr>
        </p:pic>
        <p:pic>
          <p:nvPicPr>
            <p:cNvPr id="8" name="Picture 7">
              <a:extLst>
                <a:ext uri="{FF2B5EF4-FFF2-40B4-BE49-F238E27FC236}">
                  <a16:creationId xmlns:a16="http://schemas.microsoft.com/office/drawing/2014/main" id="{87B62BE9-6163-D4B7-B05E-68538B63F7C5}"/>
                </a:ext>
              </a:extLst>
            </p:cNvPr>
            <p:cNvPicPr>
              <a:picLocks noChangeAspect="1"/>
            </p:cNvPicPr>
            <p:nvPr/>
          </p:nvPicPr>
          <p:blipFill>
            <a:blip r:embed="rId2">
              <a:alphaModFix/>
            </a:blip>
            <a:stretch>
              <a:fillRect/>
            </a:stretch>
          </p:blipFill>
          <p:spPr bwMode="auto">
            <a:xfrm>
              <a:off x="-1" y="7952"/>
              <a:ext cx="12192000" cy="6857999"/>
            </a:xfrm>
            <a:prstGeom prst="rect">
              <a:avLst/>
            </a:prstGeom>
          </p:spPr>
        </p:pic>
        <p:pic>
          <p:nvPicPr>
            <p:cNvPr id="9" name="Picture 8">
              <a:extLst>
                <a:ext uri="{FF2B5EF4-FFF2-40B4-BE49-F238E27FC236}">
                  <a16:creationId xmlns:a16="http://schemas.microsoft.com/office/drawing/2014/main" id="{70EA648C-6C3E-B6F3-C670-E61BD6DE497E}"/>
                </a:ext>
              </a:extLst>
            </p:cNvPr>
            <p:cNvPicPr>
              <a:picLocks noChangeAspect="1"/>
            </p:cNvPicPr>
            <p:nvPr/>
          </p:nvPicPr>
          <p:blipFill>
            <a:blip r:embed="rId2">
              <a:alphaModFix/>
            </a:blip>
            <a:stretch>
              <a:fillRect/>
            </a:stretch>
          </p:blipFill>
          <p:spPr bwMode="auto">
            <a:xfrm>
              <a:off x="-1" y="7952"/>
              <a:ext cx="12192000" cy="6857999"/>
            </a:xfrm>
            <a:prstGeom prst="rect">
              <a:avLst/>
            </a:prstGeom>
          </p:spPr>
        </p:pic>
        <p:sp>
          <p:nvSpPr>
            <p:cNvPr id="10" name="Rectangle 9">
              <a:extLst>
                <a:ext uri="{FF2B5EF4-FFF2-40B4-BE49-F238E27FC236}">
                  <a16:creationId xmlns:a16="http://schemas.microsoft.com/office/drawing/2014/main" id="{D9BD67DD-A241-0F49-27DC-AAF86EE8C026}"/>
                </a:ext>
              </a:extLst>
            </p:cNvPr>
            <p:cNvSpPr/>
            <p:nvPr/>
          </p:nvSpPr>
          <p:spPr bwMode="auto">
            <a:xfrm>
              <a:off x="-1" y="7952"/>
              <a:ext cx="12192000" cy="6857999"/>
            </a:xfrm>
            <a:prstGeom prst="rect">
              <a:avLst/>
            </a:prstGeom>
            <a:gradFill flip="none" rotWithShape="1">
              <a:gsLst>
                <a:gs pos="61000">
                  <a:schemeClr val="tx1">
                    <a:alpha val="0"/>
                  </a:schemeClr>
                </a:gs>
                <a:gs pos="0">
                  <a:schemeClr val="tx1"/>
                </a:gs>
              </a:gsLst>
              <a:lin ang="2700000" scaled="1"/>
              <a:tileRect/>
            </a:gradFill>
            <a:ln w="12700">
              <a:noFill/>
            </a:ln>
          </p:spPr>
          <p:style>
            <a:lnRef idx="1">
              <a:scrgbClr r="0" g="0" b="0"/>
            </a:lnRef>
            <a:fillRef idx="3">
              <a:scrgbClr r="0" g="0" b="0"/>
            </a:fillRef>
            <a:effectRef idx="2">
              <a:schemeClr val="accent1">
                <a:hueOff val="0"/>
                <a:satOff val="0"/>
                <a:lumOff val="0"/>
                <a:alphaOff val="0"/>
              </a:schemeClr>
            </a:effectRef>
            <a:fontRef idx="minor">
              <a:schemeClr val="lt1"/>
            </a:fontRef>
          </p:style>
          <p:txBody>
            <a:bodyPr lIns="91440" tIns="0" rIns="0" bIns="0" rtlCol="0" anchor="ctr"/>
            <a:lstStyle/>
            <a:p>
              <a:pPr marL="0" indent="0" algn="l" defTabSz="889000">
                <a:spcBef>
                  <a:spcPct val="0"/>
                </a:spcBef>
                <a:spcAft>
                  <a:spcPct val="35000"/>
                </a:spcAft>
                <a:buNone/>
              </a:pPr>
              <a:endParaRPr lang="en-US" sz="1600" b="1" kern="1200">
                <a:solidFill>
                  <a:schemeClr val="bg1"/>
                </a:solidFill>
                <a:latin typeface="Graphik-Semibold" panose="020B0503030202060203" pitchFamily="34" charset="77"/>
              </a:endParaRPr>
            </a:p>
          </p:txBody>
        </p:sp>
      </p:grpSp>
      <p:sp>
        <p:nvSpPr>
          <p:cNvPr id="2" name="Title 1">
            <a:extLst>
              <a:ext uri="{FF2B5EF4-FFF2-40B4-BE49-F238E27FC236}">
                <a16:creationId xmlns:a16="http://schemas.microsoft.com/office/drawing/2014/main" id="{6A4D9B0E-55A4-43D3-A4B6-225FAA7538EB}"/>
              </a:ext>
            </a:extLst>
          </p:cNvPr>
          <p:cNvSpPr>
            <a:spLocks noGrp="1"/>
          </p:cNvSpPr>
          <p:nvPr userDrawn="1">
            <p:ph type="title" hasCustomPrompt="1"/>
          </p:nvPr>
        </p:nvSpPr>
        <p:spPr bwMode="auto">
          <a:xfrm>
            <a:off x="571501" y="2015925"/>
            <a:ext cx="10043158" cy="2826150"/>
          </a:xfrm>
        </p:spPr>
        <p:txBody>
          <a:bodyPr anchor="ctr"/>
          <a:lstStyle>
            <a:lvl1pPr algn="l">
              <a:defRPr sz="5400">
                <a:solidFill>
                  <a:schemeClr val="accent2"/>
                </a:solidFill>
              </a:defRPr>
            </a:lvl1pPr>
          </a:lstStyle>
          <a:p>
            <a:r>
              <a:rPr lang="en-US"/>
              <a:t>Place headline here 54pt</a:t>
            </a:r>
          </a:p>
        </p:txBody>
      </p:sp>
      <p:sp>
        <p:nvSpPr>
          <p:cNvPr id="4" name="GTS_WH">
            <a:extLst>
              <a:ext uri="{FF2B5EF4-FFF2-40B4-BE49-F238E27FC236}">
                <a16:creationId xmlns:a16="http://schemas.microsoft.com/office/drawing/2014/main" id="{7937F8A6-98B5-610E-36E5-20E566F380C8}"/>
              </a:ext>
              <a:ext uri="{C183D7F6-B498-43B3-948B-1728B52AA6E4}">
                <adec:decorative xmlns:adec="http://schemas.microsoft.com/office/drawing/2017/decorative" val="1"/>
              </a:ext>
            </a:extLst>
          </p:cNvPr>
          <p:cNvSpPr>
            <a:spLocks noChangeAspect="1"/>
          </p:cNvSpPr>
          <p:nvPr userDrawn="1"/>
        </p:nvSpPr>
        <p:spPr bwMode="auto">
          <a:xfrm>
            <a:off x="5715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688235442"/>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Key Message Gradient Dark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5C3819-A1D5-6E07-E719-29E9A58FFDB9}"/>
              </a:ext>
            </a:extLst>
          </p:cNvPr>
          <p:cNvSpPr/>
          <p:nvPr userDrawn="1"/>
        </p:nvSpPr>
        <p:spPr bwMode="auto">
          <a:xfrm>
            <a:off x="0" y="0"/>
            <a:ext cx="12192000" cy="6873902"/>
          </a:xfrm>
          <a:prstGeom prst="rect">
            <a:avLst/>
          </a:prstGeom>
          <a:gradFill>
            <a:gsLst>
              <a:gs pos="0">
                <a:srgbClr val="82F5D3"/>
              </a:gs>
              <a:gs pos="25000">
                <a:srgbClr val="87D1DA"/>
              </a:gs>
              <a:gs pos="75000">
                <a:srgbClr val="917CE8"/>
              </a:gs>
              <a:gs pos="49000">
                <a:srgbClr val="8DA5E2"/>
              </a:gs>
              <a:gs pos="100000">
                <a:srgbClr val="9C25F9"/>
              </a:gs>
            </a:gsLst>
            <a:lin ang="3000000" scaled="0"/>
          </a:gradFill>
        </p:spPr>
        <p:txBody>
          <a:bodyPr vert="horz" lIns="0" tIns="0" rIns="0" bIns="0" rtlCol="0" anchor="t">
            <a:noAutofit/>
          </a:bodyPr>
          <a:lstStyle/>
          <a:p>
            <a:pPr>
              <a:lnSpc>
                <a:spcPct val="80000"/>
              </a:lnSpc>
              <a:spcBef>
                <a:spcPct val="0"/>
              </a:spcBef>
            </a:pPr>
            <a:endParaRPr lang="en-US" sz="3600" b="1">
              <a:noFill/>
              <a:latin typeface="Graphik-Semibold" panose="020B0503030202060203" pitchFamily="34" charset="77"/>
              <a:ea typeface="+mj-ea"/>
              <a:cs typeface="+mj-cs"/>
            </a:endParaRPr>
          </a:p>
        </p:txBody>
      </p:sp>
      <p:sp>
        <p:nvSpPr>
          <p:cNvPr id="8" name="Rectangle 7">
            <a:extLst>
              <a:ext uri="{FF2B5EF4-FFF2-40B4-BE49-F238E27FC236}">
                <a16:creationId xmlns:a16="http://schemas.microsoft.com/office/drawing/2014/main" id="{1BC3F793-13CE-BC7F-894E-23C58823B901}"/>
              </a:ext>
            </a:extLst>
          </p:cNvPr>
          <p:cNvSpPr/>
          <p:nvPr userDrawn="1"/>
        </p:nvSpPr>
        <p:spPr bwMode="auto">
          <a:xfrm>
            <a:off x="7315200" y="6489700"/>
            <a:ext cx="4114800" cy="198318"/>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Graphik"/>
                <a:ea typeface="+mn-ea"/>
                <a:cs typeface="+mn-cs"/>
              </a:rPr>
              <a:t>Copyright © 2024 Accenture. All rights reserved</a:t>
            </a:r>
            <a:endParaRPr kumimoji="0" lang="en-US" sz="1800" b="0" i="0" u="none" strike="noStrike" kern="1200" cap="none" spc="0" normalizeH="0" baseline="0" noProof="0">
              <a:ln>
                <a:noFill/>
              </a:ln>
              <a:solidFill>
                <a:schemeClr val="tx1"/>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0E505A63-29AA-ECF5-F69A-6AF1B99D4177}"/>
              </a:ext>
            </a:extLst>
          </p:cNvPr>
          <p:cNvSpPr/>
          <p:nvPr userDrawn="1"/>
        </p:nvSpPr>
        <p:spPr bwMode="auto">
          <a:xfrm>
            <a:off x="11480800" y="6489700"/>
            <a:ext cx="363894" cy="198318"/>
          </a:xfrm>
          <a:prstGeom prst="rect">
            <a:avLst/>
          </a:prstGeom>
          <a:noFill/>
        </p:spPr>
        <p:txBody>
          <a:bodyPr vert="horz" wrap="none" lIns="0" tIns="0" rIns="0" bIns="0" rtlCol="0" anchor="ctr"/>
          <a:lstStyle/>
          <a:p>
            <a:pPr lvl="0" algn="r"/>
            <a:fld id="{B9D534C1-53C4-46D6-A533-3B9A7F30A365}" type="slidenum">
              <a:rPr lang="en-US" sz="800" smtClean="0">
                <a:solidFill>
                  <a:schemeClr val="tx1"/>
                </a:solidFill>
              </a:rPr>
              <a:t>‹#›</a:t>
            </a:fld>
            <a:endParaRPr lang="en-US" sz="800">
              <a:solidFill>
                <a:schemeClr val="tx1"/>
              </a:solidFill>
            </a:endParaRPr>
          </a:p>
        </p:txBody>
      </p:sp>
      <p:sp>
        <p:nvSpPr>
          <p:cNvPr id="5" name="GTS_Purple" descr="Accenture Greater Than symbol in purple">
            <a:extLst>
              <a:ext uri="{FF2B5EF4-FFF2-40B4-BE49-F238E27FC236}">
                <a16:creationId xmlns:a16="http://schemas.microsoft.com/office/drawing/2014/main" id="{9E0D1CE9-9FCA-EB6F-61B7-39F9A8903C04}"/>
              </a:ext>
            </a:extLst>
          </p:cNvPr>
          <p:cNvSpPr>
            <a:spLocks noChangeAspect="1"/>
          </p:cNvSpPr>
          <p:nvPr userDrawn="1"/>
        </p:nvSpPr>
        <p:spPr bwMode="auto">
          <a:xfrm>
            <a:off x="380209" y="64882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Rectangle 5">
            <a:extLst>
              <a:ext uri="{FF2B5EF4-FFF2-40B4-BE49-F238E27FC236}">
                <a16:creationId xmlns:a16="http://schemas.microsoft.com/office/drawing/2014/main" id="{EFAA2621-4AD3-CE5B-7D82-E69D3B98B921}"/>
              </a:ext>
            </a:extLst>
          </p:cNvPr>
          <p:cNvSpPr/>
          <p:nvPr userDrawn="1"/>
        </p:nvSpPr>
        <p:spPr bwMode="auto">
          <a:xfrm>
            <a:off x="228600" y="197963"/>
            <a:ext cx="11734800" cy="62028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
        <p:nvSpPr>
          <p:cNvPr id="7" name="Title 6">
            <a:extLst>
              <a:ext uri="{FF2B5EF4-FFF2-40B4-BE49-F238E27FC236}">
                <a16:creationId xmlns:a16="http://schemas.microsoft.com/office/drawing/2014/main" id="{1D1C74C7-2CA7-0BCC-F182-736AAAE77542}"/>
              </a:ext>
            </a:extLst>
          </p:cNvPr>
          <p:cNvSpPr>
            <a:spLocks noGrp="1"/>
          </p:cNvSpPr>
          <p:nvPr>
            <p:ph type="title"/>
          </p:nvPr>
        </p:nvSpPr>
        <p:spPr bwMode="auto">
          <a:xfrm>
            <a:off x="3825910" y="366213"/>
            <a:ext cx="7985088" cy="784800"/>
          </a:xfrm>
        </p:spPr>
        <p:txBody>
          <a:bodyPr/>
          <a:lstStyle>
            <a:lvl1pPr>
              <a:defRPr>
                <a:solidFill>
                  <a:schemeClr val="bg1"/>
                </a:solidFill>
              </a:defRPr>
            </a:lvl1pPr>
          </a:lstStyle>
          <a:p>
            <a:r>
              <a:rPr lang="en-US"/>
              <a:t>Click to edit Master title style</a:t>
            </a:r>
          </a:p>
        </p:txBody>
      </p:sp>
      <p:sp>
        <p:nvSpPr>
          <p:cNvPr id="3" name="Gray Rectangle">
            <a:extLst>
              <a:ext uri="{FF2B5EF4-FFF2-40B4-BE49-F238E27FC236}">
                <a16:creationId xmlns:a16="http://schemas.microsoft.com/office/drawing/2014/main" id="{78E0C69C-C94D-C54D-D217-0602FE802E7E}"/>
              </a:ext>
              <a:ext uri="{C183D7F6-B498-43B3-948B-1728B52AA6E4}">
                <adec:decorative xmlns:adec="http://schemas.microsoft.com/office/drawing/2017/decorative" val="1"/>
              </a:ext>
            </a:extLst>
          </p:cNvPr>
          <p:cNvSpPr/>
          <p:nvPr userDrawn="1"/>
        </p:nvSpPr>
        <p:spPr bwMode="auto">
          <a:xfrm>
            <a:off x="229943" y="197963"/>
            <a:ext cx="3367367" cy="6202837"/>
          </a:xfrm>
          <a:prstGeom prst="rect">
            <a:avLst/>
          </a:prstGeom>
          <a:solidFill>
            <a:schemeClr val="tx1">
              <a:lumMod val="95000"/>
              <a:alpha val="68000"/>
            </a:scheme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38546789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Key Message Gradient Dark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5C3819-A1D5-6E07-E719-29E9A58FFDB9}"/>
              </a:ext>
            </a:extLst>
          </p:cNvPr>
          <p:cNvSpPr/>
          <p:nvPr userDrawn="1"/>
        </p:nvSpPr>
        <p:spPr bwMode="auto">
          <a:xfrm>
            <a:off x="0" y="0"/>
            <a:ext cx="12192000" cy="6873902"/>
          </a:xfrm>
          <a:prstGeom prst="rect">
            <a:avLst/>
          </a:prstGeom>
          <a:gradFill>
            <a:gsLst>
              <a:gs pos="0">
                <a:srgbClr val="82F5D3"/>
              </a:gs>
              <a:gs pos="25000">
                <a:srgbClr val="87D1DA"/>
              </a:gs>
              <a:gs pos="75000">
                <a:srgbClr val="917CE8"/>
              </a:gs>
              <a:gs pos="49000">
                <a:srgbClr val="8DA5E2"/>
              </a:gs>
              <a:gs pos="100000">
                <a:srgbClr val="9C25F9"/>
              </a:gs>
            </a:gsLst>
            <a:lin ang="3000000" scaled="0"/>
          </a:gradFill>
        </p:spPr>
        <p:txBody>
          <a:bodyPr vert="horz" lIns="0" tIns="0" rIns="0" bIns="0" rtlCol="0" anchor="t">
            <a:noAutofit/>
          </a:bodyPr>
          <a:lstStyle/>
          <a:p>
            <a:pPr>
              <a:lnSpc>
                <a:spcPct val="80000"/>
              </a:lnSpc>
              <a:spcBef>
                <a:spcPct val="0"/>
              </a:spcBef>
            </a:pPr>
            <a:endParaRPr lang="en-US" sz="3600" b="1">
              <a:noFill/>
              <a:latin typeface="Graphik-Semibold" panose="020B0503030202060203" pitchFamily="34" charset="77"/>
              <a:ea typeface="+mj-ea"/>
              <a:cs typeface="+mj-cs"/>
            </a:endParaRPr>
          </a:p>
        </p:txBody>
      </p:sp>
      <p:sp>
        <p:nvSpPr>
          <p:cNvPr id="8" name="Rectangle 7">
            <a:extLst>
              <a:ext uri="{FF2B5EF4-FFF2-40B4-BE49-F238E27FC236}">
                <a16:creationId xmlns:a16="http://schemas.microsoft.com/office/drawing/2014/main" id="{1BC3F793-13CE-BC7F-894E-23C58823B901}"/>
              </a:ext>
            </a:extLst>
          </p:cNvPr>
          <p:cNvSpPr/>
          <p:nvPr userDrawn="1"/>
        </p:nvSpPr>
        <p:spPr bwMode="auto">
          <a:xfrm>
            <a:off x="7315200" y="6489700"/>
            <a:ext cx="4114800" cy="198318"/>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Graphik"/>
                <a:ea typeface="+mn-ea"/>
                <a:cs typeface="+mn-cs"/>
              </a:rPr>
              <a:t>Copyright © 2024 Accenture. All rights reserved</a:t>
            </a:r>
            <a:endParaRPr kumimoji="0" lang="en-US" sz="1800" b="0" i="0" u="none" strike="noStrike" kern="1200" cap="none" spc="0" normalizeH="0" baseline="0" noProof="0">
              <a:ln>
                <a:noFill/>
              </a:ln>
              <a:solidFill>
                <a:schemeClr val="tx1"/>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0E505A63-29AA-ECF5-F69A-6AF1B99D4177}"/>
              </a:ext>
            </a:extLst>
          </p:cNvPr>
          <p:cNvSpPr/>
          <p:nvPr userDrawn="1"/>
        </p:nvSpPr>
        <p:spPr bwMode="auto">
          <a:xfrm>
            <a:off x="11480800" y="6489700"/>
            <a:ext cx="363894" cy="198318"/>
          </a:xfrm>
          <a:prstGeom prst="rect">
            <a:avLst/>
          </a:prstGeom>
          <a:noFill/>
        </p:spPr>
        <p:txBody>
          <a:bodyPr vert="horz" wrap="none" lIns="0" tIns="0" rIns="0" bIns="0" rtlCol="0" anchor="ctr"/>
          <a:lstStyle/>
          <a:p>
            <a:pPr lvl="0" algn="r"/>
            <a:fld id="{B9D534C1-53C4-46D6-A533-3B9A7F30A365}" type="slidenum">
              <a:rPr lang="en-US" sz="800" smtClean="0">
                <a:solidFill>
                  <a:schemeClr val="tx1"/>
                </a:solidFill>
              </a:rPr>
              <a:t>‹#›</a:t>
            </a:fld>
            <a:endParaRPr lang="en-US" sz="800">
              <a:solidFill>
                <a:schemeClr val="tx1"/>
              </a:solidFill>
            </a:endParaRPr>
          </a:p>
        </p:txBody>
      </p:sp>
      <p:sp>
        <p:nvSpPr>
          <p:cNvPr id="5" name="GTS_Purple" descr="Accenture Greater Than symbol in purple">
            <a:extLst>
              <a:ext uri="{FF2B5EF4-FFF2-40B4-BE49-F238E27FC236}">
                <a16:creationId xmlns:a16="http://schemas.microsoft.com/office/drawing/2014/main" id="{9E0D1CE9-9FCA-EB6F-61B7-39F9A8903C04}"/>
              </a:ext>
            </a:extLst>
          </p:cNvPr>
          <p:cNvSpPr>
            <a:spLocks noChangeAspect="1"/>
          </p:cNvSpPr>
          <p:nvPr userDrawn="1"/>
        </p:nvSpPr>
        <p:spPr bwMode="auto">
          <a:xfrm>
            <a:off x="380209" y="64882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Rectangle 5">
            <a:extLst>
              <a:ext uri="{FF2B5EF4-FFF2-40B4-BE49-F238E27FC236}">
                <a16:creationId xmlns:a16="http://schemas.microsoft.com/office/drawing/2014/main" id="{EFAA2621-4AD3-CE5B-7D82-E69D3B98B921}"/>
              </a:ext>
            </a:extLst>
          </p:cNvPr>
          <p:cNvSpPr/>
          <p:nvPr userDrawn="1"/>
        </p:nvSpPr>
        <p:spPr bwMode="auto">
          <a:xfrm>
            <a:off x="228600" y="197963"/>
            <a:ext cx="11734800" cy="62028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
        <p:nvSpPr>
          <p:cNvPr id="3" name="Gray Rectangle">
            <a:extLst>
              <a:ext uri="{FF2B5EF4-FFF2-40B4-BE49-F238E27FC236}">
                <a16:creationId xmlns:a16="http://schemas.microsoft.com/office/drawing/2014/main" id="{78E0C69C-C94D-C54D-D217-0602FE802E7E}"/>
              </a:ext>
              <a:ext uri="{C183D7F6-B498-43B3-948B-1728B52AA6E4}">
                <adec:decorative xmlns:adec="http://schemas.microsoft.com/office/drawing/2017/decorative" val="1"/>
              </a:ext>
            </a:extLst>
          </p:cNvPr>
          <p:cNvSpPr/>
          <p:nvPr userDrawn="1"/>
        </p:nvSpPr>
        <p:spPr bwMode="auto">
          <a:xfrm>
            <a:off x="229943" y="197963"/>
            <a:ext cx="3367367" cy="6202837"/>
          </a:xfrm>
          <a:prstGeom prst="rect">
            <a:avLst/>
          </a:prstGeom>
          <a:solidFill>
            <a:schemeClr val="tx1">
              <a:lumMod val="95000"/>
              <a:alpha val="68000"/>
            </a:scheme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raphik"/>
              <a:ea typeface="+mn-ea"/>
              <a:cs typeface="+mn-cs"/>
            </a:endParaRPr>
          </a:p>
        </p:txBody>
      </p:sp>
      <p:sp>
        <p:nvSpPr>
          <p:cNvPr id="4" name="Title 3">
            <a:extLst>
              <a:ext uri="{FF2B5EF4-FFF2-40B4-BE49-F238E27FC236}">
                <a16:creationId xmlns:a16="http://schemas.microsoft.com/office/drawing/2014/main" id="{4D0986F3-8AC3-38A5-E0E8-45175D8C0A14}"/>
              </a:ext>
            </a:extLst>
          </p:cNvPr>
          <p:cNvSpPr>
            <a:spLocks noGrp="1"/>
          </p:cNvSpPr>
          <p:nvPr>
            <p:ph type="title"/>
          </p:nvPr>
        </p:nvSpPr>
        <p:spPr bwMode="auto">
          <a:xfrm>
            <a:off x="380999" y="366213"/>
            <a:ext cx="2979657" cy="769207"/>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786376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01D2209-E89C-7C8D-8A74-F7001474DE62}"/>
              </a:ext>
            </a:extLst>
          </p:cNvPr>
          <p:cNvSpPr/>
          <p:nvPr userDrawn="1"/>
        </p:nvSpPr>
        <p:spPr bwMode="auto">
          <a:xfrm>
            <a:off x="0" y="0"/>
            <a:ext cx="12192000" cy="6865951"/>
          </a:xfrm>
          <a:prstGeom prst="rect">
            <a:avLst/>
          </a:prstGeom>
          <a:gradFill>
            <a:gsLst>
              <a:gs pos="0">
                <a:srgbClr val="82F5D3"/>
              </a:gs>
              <a:gs pos="25000">
                <a:srgbClr val="87D1DA"/>
              </a:gs>
              <a:gs pos="75000">
                <a:srgbClr val="917CE8"/>
              </a:gs>
              <a:gs pos="49000">
                <a:srgbClr val="8DA5E2"/>
              </a:gs>
              <a:gs pos="100000">
                <a:srgbClr val="9C25F9"/>
              </a:gs>
            </a:gsLst>
            <a:lin ang="3000000" scaled="0"/>
          </a:gradFill>
        </p:spPr>
        <p:txBody>
          <a:bodyPr vert="horz" lIns="0" tIns="0" rIns="0" bIns="0" rtlCol="0" anchor="t">
            <a:noAutofit/>
          </a:bodyPr>
          <a:lstStyle/>
          <a:p>
            <a:pPr>
              <a:lnSpc>
                <a:spcPct val="80000"/>
              </a:lnSpc>
              <a:spcBef>
                <a:spcPct val="0"/>
              </a:spcBef>
            </a:pPr>
            <a:endParaRPr lang="en-US" sz="3600" b="1">
              <a:noFill/>
              <a:latin typeface="Graphik-Semibold" panose="020B0503030202060203" pitchFamily="34" charset="77"/>
              <a:ea typeface="+mj-ea"/>
              <a:cs typeface="+mj-cs"/>
            </a:endParaRPr>
          </a:p>
        </p:txBody>
      </p:sp>
      <p:sp>
        <p:nvSpPr>
          <p:cNvPr id="2" name="Title 1">
            <a:extLst>
              <a:ext uri="{FF2B5EF4-FFF2-40B4-BE49-F238E27FC236}">
                <a16:creationId xmlns:a16="http://schemas.microsoft.com/office/drawing/2014/main" id="{EB452CDF-E49D-6725-BC63-8632905A4BC6}"/>
              </a:ext>
            </a:extLst>
          </p:cNvPr>
          <p:cNvSpPr>
            <a:spLocks noGrp="1"/>
          </p:cNvSpPr>
          <p:nvPr>
            <p:ph type="title"/>
          </p:nvPr>
        </p:nvSpPr>
        <p:spPr bwMode="auto">
          <a:xfrm>
            <a:off x="380208" y="2849438"/>
            <a:ext cx="2934491" cy="784800"/>
          </a:xfrm>
        </p:spPr>
        <p:txBody>
          <a:bodyPr/>
          <a:lstStyle>
            <a:lvl1pPr>
              <a:defRPr>
                <a:solidFill>
                  <a:schemeClr val="bg1"/>
                </a:solidFill>
              </a:defRPr>
            </a:lvl1pPr>
          </a:lstStyle>
          <a:p>
            <a:r>
              <a:rPr lang="en-US"/>
              <a:t>Click to edit Master title style</a:t>
            </a:r>
          </a:p>
        </p:txBody>
      </p:sp>
      <p:sp>
        <p:nvSpPr>
          <p:cNvPr id="9" name="Rectangle 8">
            <a:extLst>
              <a:ext uri="{FF2B5EF4-FFF2-40B4-BE49-F238E27FC236}">
                <a16:creationId xmlns:a16="http://schemas.microsoft.com/office/drawing/2014/main" id="{75B56140-0282-593D-05DD-830179D8D649}"/>
              </a:ext>
            </a:extLst>
          </p:cNvPr>
          <p:cNvSpPr/>
          <p:nvPr userDrawn="1"/>
        </p:nvSpPr>
        <p:spPr bwMode="auto">
          <a:xfrm>
            <a:off x="3512494" y="98260"/>
            <a:ext cx="8581703" cy="666148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raphik"/>
              <a:ea typeface="+mn-ea"/>
              <a:cs typeface="+mn-cs"/>
            </a:endParaRPr>
          </a:p>
        </p:txBody>
      </p:sp>
      <p:sp>
        <p:nvSpPr>
          <p:cNvPr id="5" name="Rectangle 4">
            <a:extLst>
              <a:ext uri="{FF2B5EF4-FFF2-40B4-BE49-F238E27FC236}">
                <a16:creationId xmlns:a16="http://schemas.microsoft.com/office/drawing/2014/main" id="{F8EECE27-0926-0F74-3692-290E79A6942F}"/>
              </a:ext>
            </a:extLst>
          </p:cNvPr>
          <p:cNvSpPr/>
          <p:nvPr userDrawn="1"/>
        </p:nvSpPr>
        <p:spPr bwMode="auto">
          <a:xfrm>
            <a:off x="7315200" y="6489700"/>
            <a:ext cx="4114800" cy="198318"/>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2"/>
                </a:solidFill>
                <a:effectLst/>
                <a:uLnTx/>
                <a:uFillTx/>
                <a:latin typeface="Graphik"/>
                <a:ea typeface="+mn-ea"/>
                <a:cs typeface="+mn-cs"/>
              </a:rPr>
              <a:t>Copyright © 2024 Accenture. All rights reserved</a:t>
            </a:r>
            <a:endParaRPr kumimoji="0" lang="en-US" sz="1800" b="0" i="0" u="none" strike="noStrike" kern="1200" cap="none" spc="0" normalizeH="0" baseline="0" noProof="0">
              <a:ln>
                <a:noFill/>
              </a:ln>
              <a:solidFill>
                <a:schemeClr val="bg2"/>
              </a:solidFill>
              <a:effectLst/>
              <a:uLnTx/>
              <a:uFillTx/>
              <a:latin typeface="Graphik"/>
              <a:ea typeface="+mn-ea"/>
              <a:cs typeface="+mn-cs"/>
            </a:endParaRPr>
          </a:p>
        </p:txBody>
      </p:sp>
      <p:sp>
        <p:nvSpPr>
          <p:cNvPr id="6" name="Rectangle 5">
            <a:extLst>
              <a:ext uri="{FF2B5EF4-FFF2-40B4-BE49-F238E27FC236}">
                <a16:creationId xmlns:a16="http://schemas.microsoft.com/office/drawing/2014/main" id="{9CB3DB30-C9C0-9CD0-5041-7A041C022643}"/>
              </a:ext>
            </a:extLst>
          </p:cNvPr>
          <p:cNvSpPr/>
          <p:nvPr userDrawn="1"/>
        </p:nvSpPr>
        <p:spPr bwMode="auto">
          <a:xfrm>
            <a:off x="11480800" y="6489700"/>
            <a:ext cx="363894" cy="198318"/>
          </a:xfrm>
          <a:prstGeom prst="rect">
            <a:avLst/>
          </a:prstGeom>
        </p:spPr>
        <p:txBody>
          <a:bodyPr vert="horz" wrap="none" lIns="0" tIns="0" rIns="0" bIns="0" rtlCol="0" anchor="ctr"/>
          <a:lstStyle/>
          <a:p>
            <a:pPr lvl="0" algn="r"/>
            <a:fld id="{B9D534C1-53C4-46D6-A533-3B9A7F30A365}" type="slidenum">
              <a:rPr lang="en-US" sz="800" smtClean="0">
                <a:solidFill>
                  <a:schemeClr val="bg2"/>
                </a:solidFill>
              </a:rPr>
              <a:t>‹#›</a:t>
            </a:fld>
            <a:endParaRPr lang="en-US" sz="800">
              <a:solidFill>
                <a:schemeClr val="bg2"/>
              </a:solidFill>
            </a:endParaRPr>
          </a:p>
        </p:txBody>
      </p:sp>
      <p:sp>
        <p:nvSpPr>
          <p:cNvPr id="4" name="GTS_Purple" descr="Accenture Greater Than symbol in purple">
            <a:extLst>
              <a:ext uri="{FF2B5EF4-FFF2-40B4-BE49-F238E27FC236}">
                <a16:creationId xmlns:a16="http://schemas.microsoft.com/office/drawing/2014/main" id="{5EE5EBB1-F021-6903-1145-A3A51C64E727}"/>
              </a:ext>
            </a:extLst>
          </p:cNvPr>
          <p:cNvSpPr>
            <a:spLocks noChangeAspect="1"/>
          </p:cNvSpPr>
          <p:nvPr userDrawn="1"/>
        </p:nvSpPr>
        <p:spPr bwMode="auto">
          <a:xfrm>
            <a:off x="380209" y="64882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665854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Key Message Gradient Dark 1">
    <p:bg>
      <p:bgPr>
        <a:solidFill>
          <a:schemeClr val="tx1"/>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AD4EA75-3462-B1A6-2F68-9C3B1B5CCA38}"/>
              </a:ext>
            </a:extLst>
          </p:cNvPr>
          <p:cNvSpPr>
            <a:spLocks noGrp="1"/>
          </p:cNvSpPr>
          <p:nvPr>
            <p:ph sz="quarter" idx="10"/>
          </p:nvPr>
        </p:nvSpPr>
        <p:spPr bwMode="auto">
          <a:xfrm>
            <a:off x="380999" y="366213"/>
            <a:ext cx="11430000" cy="319087"/>
          </a:xfrm>
        </p:spPr>
        <p:txBody>
          <a:bodyPr/>
          <a:lstStyle>
            <a:lvl1pPr marL="0" indent="0">
              <a:buNone/>
              <a:defRPr sz="1400">
                <a:solidFill>
                  <a:schemeClr val="accent1"/>
                </a:solidFill>
                <a:latin typeface="Graphik Medium" panose="020B0603030202060203"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8" name="Rectangle 7">
            <a:extLst>
              <a:ext uri="{FF2B5EF4-FFF2-40B4-BE49-F238E27FC236}">
                <a16:creationId xmlns:a16="http://schemas.microsoft.com/office/drawing/2014/main" id="{1BC3F793-13CE-BC7F-894E-23C58823B901}"/>
              </a:ext>
            </a:extLst>
          </p:cNvPr>
          <p:cNvSpPr/>
          <p:nvPr userDrawn="1"/>
        </p:nvSpPr>
        <p:spPr bwMode="auto">
          <a:xfrm>
            <a:off x="7315200" y="6489700"/>
            <a:ext cx="4114800" cy="198318"/>
          </a:xfrm>
          <a:prstGeom prst="rect">
            <a:avLst/>
          </a:prstGeom>
          <a:solidFill>
            <a:schemeClr val="tx1"/>
          </a:solid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2"/>
                </a:solidFill>
                <a:effectLst/>
                <a:uLnTx/>
                <a:uFillTx/>
                <a:latin typeface="Graphik"/>
                <a:ea typeface="+mn-ea"/>
                <a:cs typeface="+mn-cs"/>
              </a:rPr>
              <a:t>Copyright © 2024 Accenture. All rights reserved</a:t>
            </a:r>
            <a:endParaRPr kumimoji="0" lang="en-US" sz="1800" b="0" i="0" u="none" strike="noStrike" kern="1200" cap="none" spc="0" normalizeH="0" baseline="0" noProof="0">
              <a:ln>
                <a:noFill/>
              </a:ln>
              <a:solidFill>
                <a:schemeClr val="bg2"/>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0E505A63-29AA-ECF5-F69A-6AF1B99D4177}"/>
              </a:ext>
            </a:extLst>
          </p:cNvPr>
          <p:cNvSpPr/>
          <p:nvPr userDrawn="1"/>
        </p:nvSpPr>
        <p:spPr bwMode="auto">
          <a:xfrm>
            <a:off x="11480800" y="6489700"/>
            <a:ext cx="363894" cy="198318"/>
          </a:xfrm>
          <a:prstGeom prst="rect">
            <a:avLst/>
          </a:prstGeom>
          <a:solidFill>
            <a:schemeClr val="tx1"/>
          </a:solidFill>
        </p:spPr>
        <p:txBody>
          <a:bodyPr vert="horz" wrap="none" lIns="0" tIns="0" rIns="0" bIns="0" rtlCol="0" anchor="ctr"/>
          <a:lstStyle/>
          <a:p>
            <a:pPr lvl="0" algn="r"/>
            <a:fld id="{B9D534C1-53C4-46D6-A533-3B9A7F30A365}" type="slidenum">
              <a:rPr lang="en-US" sz="800" smtClean="0">
                <a:solidFill>
                  <a:schemeClr val="bg2"/>
                </a:solidFill>
              </a:rPr>
              <a:t>‹#›</a:t>
            </a:fld>
            <a:endParaRPr lang="en-US" sz="800">
              <a:solidFill>
                <a:schemeClr val="bg2"/>
              </a:solidFill>
            </a:endParaRPr>
          </a:p>
        </p:txBody>
      </p:sp>
      <p:sp>
        <p:nvSpPr>
          <p:cNvPr id="3" name="Title 2">
            <a:extLst>
              <a:ext uri="{FF2B5EF4-FFF2-40B4-BE49-F238E27FC236}">
                <a16:creationId xmlns:a16="http://schemas.microsoft.com/office/drawing/2014/main" id="{3E564228-DCD5-B791-CCF5-D7ED4648987E}"/>
              </a:ext>
            </a:extLst>
          </p:cNvPr>
          <p:cNvSpPr>
            <a:spLocks noGrp="1"/>
          </p:cNvSpPr>
          <p:nvPr>
            <p:ph type="title"/>
          </p:nvPr>
        </p:nvSpPr>
        <p:spPr bwMode="auto">
          <a:xfrm>
            <a:off x="380209" y="736460"/>
            <a:ext cx="11430000" cy="769207"/>
          </a:xfrm>
        </p:spPr>
        <p:txBody>
          <a:bodyPr/>
          <a:lstStyle>
            <a:lvl1pPr algn="l" defTabSz="914400" rtl="0" eaLnBrk="1" latinLnBrk="0" hangingPunct="1">
              <a:lnSpc>
                <a:spcPct val="80000"/>
              </a:lnSpc>
              <a:spcBef>
                <a:spcPct val="0"/>
              </a:spcBef>
              <a:buNone/>
              <a:defRPr lang="en-US" sz="2800" b="0" kern="1200" dirty="0">
                <a:solidFill>
                  <a:schemeClr val="bg1"/>
                </a:solidFill>
                <a:latin typeface="Graphik Semibold" panose="020B0703030202060203" pitchFamily="34" charset="0"/>
                <a:ea typeface="+mj-ea"/>
                <a:cs typeface="+mj-cs"/>
              </a:defRPr>
            </a:lvl1pPr>
          </a:lstStyle>
          <a:p>
            <a:r>
              <a:rPr lang="en-US"/>
              <a:t>Click to edit Master title style</a:t>
            </a:r>
          </a:p>
        </p:txBody>
      </p:sp>
    </p:spTree>
    <p:extLst>
      <p:ext uri="{BB962C8B-B14F-4D97-AF65-F5344CB8AC3E}">
        <p14:creationId xmlns:p14="http://schemas.microsoft.com/office/powerpoint/2010/main" val="215942744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ong Headlin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9D4F-7DB4-AA06-35AC-75601901ED3C}"/>
              </a:ext>
            </a:extLst>
          </p:cNvPr>
          <p:cNvSpPr>
            <a:spLocks noGrp="1"/>
          </p:cNvSpPr>
          <p:nvPr>
            <p:ph type="title"/>
          </p:nvPr>
        </p:nvSpPr>
        <p:spPr bwMode="auto"/>
        <p:txBody>
          <a:bodyPr/>
          <a:lstStyle/>
          <a:p>
            <a:r>
              <a:rPr lang="en-US"/>
              <a:t>Click to edit Master title style</a:t>
            </a:r>
          </a:p>
        </p:txBody>
      </p:sp>
    </p:spTree>
    <p:extLst>
      <p:ext uri="{BB962C8B-B14F-4D97-AF65-F5344CB8AC3E}">
        <p14:creationId xmlns:p14="http://schemas.microsoft.com/office/powerpoint/2010/main" val="1453669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Long Headlin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9D4F-7DB4-AA06-35AC-75601901ED3C}"/>
              </a:ext>
            </a:extLst>
          </p:cNvPr>
          <p:cNvSpPr>
            <a:spLocks noGrp="1"/>
          </p:cNvSpPr>
          <p:nvPr>
            <p:ph type="title"/>
          </p:nvPr>
        </p:nvSpPr>
        <p:spPr bwMode="auto"/>
        <p:txBody>
          <a:bodyPr/>
          <a:lstStyle/>
          <a:p>
            <a:r>
              <a:rPr lang="en-US"/>
              <a:t>Click to edit Master title style</a:t>
            </a:r>
          </a:p>
        </p:txBody>
      </p:sp>
      <p:sp>
        <p:nvSpPr>
          <p:cNvPr id="5" name="Rectangle 4">
            <a:extLst>
              <a:ext uri="{FF2B5EF4-FFF2-40B4-BE49-F238E27FC236}">
                <a16:creationId xmlns:a16="http://schemas.microsoft.com/office/drawing/2014/main" id="{C31164D2-FC76-04CE-7C49-9F9E1996C32A}"/>
              </a:ext>
            </a:extLst>
          </p:cNvPr>
          <p:cNvSpPr/>
          <p:nvPr userDrawn="1"/>
        </p:nvSpPr>
        <p:spPr bwMode="auto">
          <a:xfrm>
            <a:off x="0" y="1253673"/>
            <a:ext cx="4735286" cy="5604327"/>
          </a:xfrm>
          <a:prstGeom prst="rect">
            <a:avLst/>
          </a:prstGeom>
          <a:gradFill flip="none" rotWithShape="1">
            <a:gsLst>
              <a:gs pos="75000">
                <a:srgbClr val="917CE8"/>
              </a:gs>
              <a:gs pos="25000">
                <a:srgbClr val="87D1DA"/>
              </a:gs>
              <a:gs pos="50000">
                <a:srgbClr val="8DA5E2"/>
              </a:gs>
              <a:gs pos="0">
                <a:srgbClr val="82F5D3"/>
              </a:gs>
              <a:gs pos="100000">
                <a:srgbClr val="9C25F9"/>
              </a:gs>
            </a:gsLst>
            <a:lin ang="2700000" scaled="1"/>
            <a:tileRect/>
          </a:gradFill>
          <a:ln w="12700" cap="flat" cmpd="sng" algn="ctr">
            <a:noFill/>
            <a:prstDash val="solid"/>
            <a:miter lim="800000"/>
          </a:ln>
          <a:effectLst/>
        </p:spPr>
        <p:txBody>
          <a:bodyPr lIns="396000" tIns="91440" bIns="91440"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Graphik Semibold" panose="020B0703030202060203" pitchFamily="34" charset="0"/>
              <a:ea typeface="+mn-ea"/>
              <a:cs typeface="+mn-cs"/>
            </a:endParaRPr>
          </a:p>
        </p:txBody>
      </p:sp>
      <p:sp>
        <p:nvSpPr>
          <p:cNvPr id="6" name="Rectangle 5">
            <a:extLst>
              <a:ext uri="{FF2B5EF4-FFF2-40B4-BE49-F238E27FC236}">
                <a16:creationId xmlns:a16="http://schemas.microsoft.com/office/drawing/2014/main" id="{254BF758-1279-0A31-3EDB-7C5594EA1B7A}"/>
              </a:ext>
            </a:extLst>
          </p:cNvPr>
          <p:cNvSpPr/>
          <p:nvPr userDrawn="1"/>
        </p:nvSpPr>
        <p:spPr bwMode="auto">
          <a:xfrm>
            <a:off x="2014538" y="1668236"/>
            <a:ext cx="4614927" cy="5604327"/>
          </a:xfrm>
          <a:prstGeom prst="rect">
            <a:avLst/>
          </a:prstGeom>
          <a:solidFill>
            <a:srgbClr val="FFFFFF">
              <a:alpha val="80000"/>
            </a:srgbClr>
          </a:solidFill>
          <a:ln w="12700" cap="flat" cmpd="sng" algn="ctr">
            <a:noFill/>
            <a:prstDash val="solid"/>
            <a:miter lim="800000"/>
          </a:ln>
          <a:effectLst/>
        </p:spPr>
        <p:txBody>
          <a:bodyPr lIns="396000" tIns="216000" rIns="756000" bIns="144000" rtlCol="0" anchor="t"/>
          <a:lstStyle/>
          <a:p>
            <a:pPr>
              <a:spcAft>
                <a:spcPts val="1800"/>
              </a:spcAft>
            </a:pPr>
            <a:endParaRPr lang="en-US" sz="1200">
              <a:solidFill>
                <a:srgbClr val="000000"/>
              </a:solidFill>
              <a:latin typeface="Graphik Light" panose="020B0403030202060203" pitchFamily="34" charset="77"/>
            </a:endParaRPr>
          </a:p>
        </p:txBody>
      </p:sp>
      <p:sp>
        <p:nvSpPr>
          <p:cNvPr id="3" name="GTS_Purple" descr="Accenture Greater Than symbol in purple">
            <a:extLst>
              <a:ext uri="{FF2B5EF4-FFF2-40B4-BE49-F238E27FC236}">
                <a16:creationId xmlns:a16="http://schemas.microsoft.com/office/drawing/2014/main" id="{2456631D-B39D-7448-2203-820700E90C2D}"/>
              </a:ext>
            </a:extLst>
          </p:cNvPr>
          <p:cNvSpPr>
            <a:spLocks noChangeAspect="1"/>
          </p:cNvSpPr>
          <p:nvPr userDrawn="1"/>
        </p:nvSpPr>
        <p:spPr bwMode="auto">
          <a:xfrm>
            <a:off x="380209" y="64882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22630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Long Headlin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6AA423-6A29-F9EB-FB90-B8329F88955E}"/>
              </a:ext>
            </a:extLst>
          </p:cNvPr>
          <p:cNvSpPr/>
          <p:nvPr userDrawn="1"/>
        </p:nvSpPr>
        <p:spPr bwMode="auto">
          <a:xfrm>
            <a:off x="0" y="3962400"/>
            <a:ext cx="12192000" cy="2895600"/>
          </a:xfrm>
          <a:prstGeom prst="rect">
            <a:avLst/>
          </a:prstGeom>
          <a:solidFill>
            <a:srgbClr val="F9F9F9"/>
          </a:solidFill>
          <a:ln w="12700" cap="flat" cmpd="sng" algn="ctr">
            <a:noFill/>
            <a:prstDash val="solid"/>
            <a:miter lim="800000"/>
          </a:ln>
          <a:effectLst/>
        </p:spPr>
        <p:txBody>
          <a:bodyPr rtlCol="0" anchor="ctr"/>
          <a:lstStyle/>
          <a:p>
            <a:pPr marR="0" lvl="0" indent="0" algn="ctr" fontAlgn="base">
              <a:lnSpc>
                <a:spcPct val="100000"/>
              </a:lnSpc>
              <a:spcBef>
                <a:spcPct val="0"/>
              </a:spcBef>
              <a:spcAft>
                <a:spcPct val="0"/>
              </a:spcAft>
              <a:buClrTx/>
              <a:buSzTx/>
              <a:buFontTx/>
              <a:buNone/>
              <a:tabLst/>
            </a:pPr>
            <a:endParaRPr kumimoji="0" lang="en-US" b="0" i="0" u="none" strike="noStrike" kern="0" cap="none" spc="0" normalizeH="0" baseline="0">
              <a:ln>
                <a:noFill/>
              </a:ln>
              <a:solidFill>
                <a:srgbClr val="FFFFFF"/>
              </a:solidFill>
              <a:effectLst/>
              <a:uLnTx/>
              <a:uFillTx/>
              <a:latin typeface="Graphik"/>
            </a:endParaRPr>
          </a:p>
        </p:txBody>
      </p:sp>
      <p:sp>
        <p:nvSpPr>
          <p:cNvPr id="4" name="Title 3">
            <a:extLst>
              <a:ext uri="{FF2B5EF4-FFF2-40B4-BE49-F238E27FC236}">
                <a16:creationId xmlns:a16="http://schemas.microsoft.com/office/drawing/2014/main" id="{BF819D4F-7DB4-AA06-35AC-75601901ED3C}"/>
              </a:ext>
            </a:extLst>
          </p:cNvPr>
          <p:cNvSpPr>
            <a:spLocks noGrp="1"/>
          </p:cNvSpPr>
          <p:nvPr>
            <p:ph type="title"/>
          </p:nvPr>
        </p:nvSpPr>
        <p:spPr bwMode="auto"/>
        <p:txBody>
          <a:bodyPr/>
          <a:lstStyle/>
          <a:p>
            <a:r>
              <a:rPr lang="en-US"/>
              <a:t>Click to edit Master title style</a:t>
            </a:r>
          </a:p>
        </p:txBody>
      </p:sp>
      <p:sp>
        <p:nvSpPr>
          <p:cNvPr id="5" name="GTS_Purple" descr="Accenture Greater Than symbol in purple">
            <a:extLst>
              <a:ext uri="{FF2B5EF4-FFF2-40B4-BE49-F238E27FC236}">
                <a16:creationId xmlns:a16="http://schemas.microsoft.com/office/drawing/2014/main" id="{11D80BF0-A8BB-5458-9155-B9FF085FB216}"/>
              </a:ext>
            </a:extLst>
          </p:cNvPr>
          <p:cNvSpPr>
            <a:spLocks noChangeAspect="1"/>
          </p:cNvSpPr>
          <p:nvPr userDrawn="1"/>
        </p:nvSpPr>
        <p:spPr bwMode="auto">
          <a:xfrm>
            <a:off x="380209" y="64882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Rectangle 5">
            <a:extLst>
              <a:ext uri="{FF2B5EF4-FFF2-40B4-BE49-F238E27FC236}">
                <a16:creationId xmlns:a16="http://schemas.microsoft.com/office/drawing/2014/main" id="{0829EFDB-53F0-CD30-3F94-7EF21EB696A7}"/>
              </a:ext>
            </a:extLst>
          </p:cNvPr>
          <p:cNvSpPr/>
          <p:nvPr userDrawn="1"/>
        </p:nvSpPr>
        <p:spPr bwMode="auto">
          <a:xfrm>
            <a:off x="7315200" y="6489700"/>
            <a:ext cx="4114800" cy="198318"/>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Graphik"/>
                <a:ea typeface="+mn-ea"/>
                <a:cs typeface="+mn-cs"/>
              </a:rPr>
              <a:t>Copyright © 2024 Accenture. All rights reserved</a:t>
            </a:r>
            <a:endParaRPr kumimoji="0" lang="en-US" sz="1800" b="0" i="0" u="none" strike="noStrike" kern="1200" cap="none" spc="0" normalizeH="0" baseline="0" noProof="0">
              <a:ln>
                <a:noFill/>
              </a:ln>
              <a:solidFill>
                <a:schemeClr val="tx2"/>
              </a:solidFill>
              <a:effectLst/>
              <a:uLnTx/>
              <a:uFillTx/>
              <a:latin typeface="Graphik"/>
              <a:ea typeface="+mn-ea"/>
              <a:cs typeface="+mn-cs"/>
            </a:endParaRPr>
          </a:p>
        </p:txBody>
      </p:sp>
      <p:sp>
        <p:nvSpPr>
          <p:cNvPr id="7" name="Rectangle 6">
            <a:extLst>
              <a:ext uri="{FF2B5EF4-FFF2-40B4-BE49-F238E27FC236}">
                <a16:creationId xmlns:a16="http://schemas.microsoft.com/office/drawing/2014/main" id="{EA4E8043-AAEA-D2CF-E95C-CE81FBC34AFD}"/>
              </a:ext>
            </a:extLst>
          </p:cNvPr>
          <p:cNvSpPr/>
          <p:nvPr userDrawn="1"/>
        </p:nvSpPr>
        <p:spPr bwMode="auto">
          <a:xfrm>
            <a:off x="11480800" y="6489700"/>
            <a:ext cx="363894" cy="198318"/>
          </a:xfrm>
          <a:prstGeom prst="rect">
            <a:avLst/>
          </a:prstGeom>
        </p:spPr>
        <p:txBody>
          <a:bodyPr vert="horz" wrap="none" lIns="0" tIns="0" rIns="0" bIns="0" rtlCol="0" anchor="ctr"/>
          <a:lstStyle/>
          <a:p>
            <a:pPr lvl="0" algn="r"/>
            <a:fld id="{B9D534C1-53C4-46D6-A533-3B9A7F30A365}"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1592690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Key Message Gradient Dark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5C3819-A1D5-6E07-E719-29E9A58FFDB9}"/>
              </a:ext>
            </a:extLst>
          </p:cNvPr>
          <p:cNvSpPr/>
          <p:nvPr userDrawn="1"/>
        </p:nvSpPr>
        <p:spPr bwMode="auto">
          <a:xfrm>
            <a:off x="0" y="0"/>
            <a:ext cx="12192000" cy="6865951"/>
          </a:xfrm>
          <a:prstGeom prst="rect">
            <a:avLst/>
          </a:prstGeom>
          <a:gradFill>
            <a:gsLst>
              <a:gs pos="0">
                <a:srgbClr val="82F5D3"/>
              </a:gs>
              <a:gs pos="25000">
                <a:srgbClr val="87D1DA"/>
              </a:gs>
              <a:gs pos="75000">
                <a:srgbClr val="917CE8"/>
              </a:gs>
              <a:gs pos="49000">
                <a:srgbClr val="8DA5E2"/>
              </a:gs>
              <a:gs pos="100000">
                <a:srgbClr val="9C25F9"/>
              </a:gs>
            </a:gsLst>
            <a:lin ang="3000000" scaled="0"/>
          </a:gradFill>
        </p:spPr>
        <p:txBody>
          <a:bodyPr vert="horz" lIns="0" tIns="0" rIns="0" bIns="0" rtlCol="0" anchor="t">
            <a:noAutofit/>
          </a:bodyPr>
          <a:lstStyle/>
          <a:p>
            <a:pPr>
              <a:lnSpc>
                <a:spcPct val="80000"/>
              </a:lnSpc>
              <a:spcBef>
                <a:spcPct val="0"/>
              </a:spcBef>
            </a:pPr>
            <a:endParaRPr lang="en-US" sz="3600" b="1">
              <a:noFill/>
              <a:latin typeface="Graphik-Semibold" panose="020B0503030202060203" pitchFamily="34" charset="77"/>
              <a:ea typeface="+mj-ea"/>
              <a:cs typeface="+mj-cs"/>
            </a:endParaRPr>
          </a:p>
        </p:txBody>
      </p:sp>
      <p:sp>
        <p:nvSpPr>
          <p:cNvPr id="8" name="Rectangle 7">
            <a:extLst>
              <a:ext uri="{FF2B5EF4-FFF2-40B4-BE49-F238E27FC236}">
                <a16:creationId xmlns:a16="http://schemas.microsoft.com/office/drawing/2014/main" id="{1BC3F793-13CE-BC7F-894E-23C58823B901}"/>
              </a:ext>
            </a:extLst>
          </p:cNvPr>
          <p:cNvSpPr/>
          <p:nvPr userDrawn="1"/>
        </p:nvSpPr>
        <p:spPr bwMode="auto">
          <a:xfrm>
            <a:off x="7315200" y="6489700"/>
            <a:ext cx="4114800" cy="198318"/>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Graphik"/>
                <a:ea typeface="+mn-ea"/>
                <a:cs typeface="+mn-cs"/>
              </a:rPr>
              <a:t>Copyright © 2024 Accenture. All rights reserved</a:t>
            </a:r>
            <a:endParaRPr kumimoji="0" lang="en-US" sz="1800" b="0" i="0" u="none" strike="noStrike" kern="1200" cap="none" spc="0" normalizeH="0" baseline="0" noProof="0">
              <a:ln>
                <a:noFill/>
              </a:ln>
              <a:solidFill>
                <a:schemeClr val="tx1"/>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0E505A63-29AA-ECF5-F69A-6AF1B99D4177}"/>
              </a:ext>
            </a:extLst>
          </p:cNvPr>
          <p:cNvSpPr/>
          <p:nvPr userDrawn="1"/>
        </p:nvSpPr>
        <p:spPr bwMode="auto">
          <a:xfrm>
            <a:off x="11480800" y="6489700"/>
            <a:ext cx="363894" cy="198318"/>
          </a:xfrm>
          <a:prstGeom prst="rect">
            <a:avLst/>
          </a:prstGeom>
          <a:noFill/>
        </p:spPr>
        <p:txBody>
          <a:bodyPr vert="horz" wrap="none" lIns="0" tIns="0" rIns="0" bIns="0" rtlCol="0" anchor="ctr"/>
          <a:lstStyle/>
          <a:p>
            <a:pPr lvl="0" algn="r"/>
            <a:fld id="{B9D534C1-53C4-46D6-A533-3B9A7F30A365}" type="slidenum">
              <a:rPr lang="en-US" sz="800" smtClean="0">
                <a:solidFill>
                  <a:schemeClr val="tx1"/>
                </a:solidFill>
              </a:rPr>
              <a:t>‹#›</a:t>
            </a:fld>
            <a:endParaRPr lang="en-US" sz="800">
              <a:solidFill>
                <a:schemeClr val="tx1"/>
              </a:solidFill>
            </a:endParaRPr>
          </a:p>
        </p:txBody>
      </p:sp>
      <p:sp>
        <p:nvSpPr>
          <p:cNvPr id="5" name="GTS_Purple" descr="Accenture Greater Than symbol in purple">
            <a:extLst>
              <a:ext uri="{FF2B5EF4-FFF2-40B4-BE49-F238E27FC236}">
                <a16:creationId xmlns:a16="http://schemas.microsoft.com/office/drawing/2014/main" id="{9E0D1CE9-9FCA-EB6F-61B7-39F9A8903C04}"/>
              </a:ext>
            </a:extLst>
          </p:cNvPr>
          <p:cNvSpPr>
            <a:spLocks noChangeAspect="1"/>
          </p:cNvSpPr>
          <p:nvPr userDrawn="1"/>
        </p:nvSpPr>
        <p:spPr bwMode="auto">
          <a:xfrm>
            <a:off x="380209" y="64882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Rectangle 5">
            <a:extLst>
              <a:ext uri="{FF2B5EF4-FFF2-40B4-BE49-F238E27FC236}">
                <a16:creationId xmlns:a16="http://schemas.microsoft.com/office/drawing/2014/main" id="{EFAA2621-4AD3-CE5B-7D82-E69D3B98B921}"/>
              </a:ext>
            </a:extLst>
          </p:cNvPr>
          <p:cNvSpPr/>
          <p:nvPr userDrawn="1"/>
        </p:nvSpPr>
        <p:spPr bwMode="auto">
          <a:xfrm>
            <a:off x="228600" y="197963"/>
            <a:ext cx="11734800" cy="62028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
        <p:nvSpPr>
          <p:cNvPr id="3" name="Gray Rectangle">
            <a:extLst>
              <a:ext uri="{FF2B5EF4-FFF2-40B4-BE49-F238E27FC236}">
                <a16:creationId xmlns:a16="http://schemas.microsoft.com/office/drawing/2014/main" id="{78E0C69C-C94D-C54D-D217-0602FE802E7E}"/>
              </a:ext>
              <a:ext uri="{C183D7F6-B498-43B3-948B-1728B52AA6E4}">
                <adec:decorative xmlns:adec="http://schemas.microsoft.com/office/drawing/2017/decorative" val="1"/>
              </a:ext>
            </a:extLst>
          </p:cNvPr>
          <p:cNvSpPr/>
          <p:nvPr userDrawn="1"/>
        </p:nvSpPr>
        <p:spPr bwMode="auto">
          <a:xfrm>
            <a:off x="229943" y="200967"/>
            <a:ext cx="3367367" cy="6199833"/>
          </a:xfrm>
          <a:prstGeom prst="rect">
            <a:avLst/>
          </a:prstGeom>
          <a:solidFill>
            <a:srgbClr val="F6F6F6"/>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raphik"/>
              <a:ea typeface="+mn-ea"/>
              <a:cs typeface="+mn-cs"/>
            </a:endParaRPr>
          </a:p>
        </p:txBody>
      </p:sp>
      <p:sp>
        <p:nvSpPr>
          <p:cNvPr id="4" name="Title 3">
            <a:extLst>
              <a:ext uri="{FF2B5EF4-FFF2-40B4-BE49-F238E27FC236}">
                <a16:creationId xmlns:a16="http://schemas.microsoft.com/office/drawing/2014/main" id="{87C8DD1C-A3DC-7A4E-C883-5D9FEB085E4C}"/>
              </a:ext>
            </a:extLst>
          </p:cNvPr>
          <p:cNvSpPr>
            <a:spLocks noGrp="1"/>
          </p:cNvSpPr>
          <p:nvPr>
            <p:ph type="title"/>
          </p:nvPr>
        </p:nvSpPr>
        <p:spPr bwMode="auto">
          <a:xfrm>
            <a:off x="3825909" y="366213"/>
            <a:ext cx="7985089" cy="769207"/>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4536710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Long Headline and subhead">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CCEE6C20-59C5-9C93-F2ED-657442536831}"/>
              </a:ext>
            </a:extLst>
          </p:cNvPr>
          <p:cNvSpPr>
            <a:spLocks noGrp="1"/>
          </p:cNvSpPr>
          <p:nvPr>
            <p:ph type="body" sz="quarter" idx="11"/>
          </p:nvPr>
        </p:nvSpPr>
        <p:spPr bwMode="auto">
          <a:xfrm>
            <a:off x="381000" y="1710154"/>
            <a:ext cx="11430000" cy="4597483"/>
          </a:xfrm>
          <a:prstGeom prst="rect">
            <a:avLst/>
          </a:prstGeom>
        </p:spPr>
        <p:txBody>
          <a:bodyPr vert="horz" lIns="0" tIns="0" rIns="0" bIns="0" rtlCol="0">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Graphik-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Graphik-Light" panose="020B0403030202060203" pitchFamily="34" charset="0"/>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Graphik-Light" panose="020B0403030202060203" pitchFamily="34" charset="0"/>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Graphik-Light" panose="020B0403030202060203" pitchFamily="34" charset="0"/>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Graphik-Light" panose="020B0403030202060203" pitchFamily="34" charset="0"/>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Graphik-Light" panose="020B0403030202060203" pitchFamily="34" charset="0"/>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Graphik-Light" panose="020B0403030202060203" pitchFamily="34" charset="0"/>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Graphik-LightItalic" panose="020B0403030202060203" pitchFamily="34" charset="0"/>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Graphik-Light" panose="020B0403030202060203" pitchFamily="34" charset="0"/>
                <a:ea typeface="+mn-ea"/>
                <a:cs typeface="+mn-cs"/>
              </a:defRPr>
            </a:lvl9pPr>
          </a:lstStyle>
          <a:p>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endParaRPr lang="en-US" sz="2400">
              <a:solidFill>
                <a:srgbClr val="8DA5E2"/>
              </a:solidFill>
              <a:latin typeface="Graphik-Light" panose="020B0403030202060203" pitchFamily="34" charset="77"/>
            </a:endParaRPr>
          </a:p>
        </p:txBody>
      </p:sp>
      <p:sp>
        <p:nvSpPr>
          <p:cNvPr id="5" name="Text Placeholder 2">
            <a:extLst>
              <a:ext uri="{FF2B5EF4-FFF2-40B4-BE49-F238E27FC236}">
                <a16:creationId xmlns:a16="http://schemas.microsoft.com/office/drawing/2014/main" id="{178D8779-497E-01C2-F495-09BDBD7A7160}"/>
              </a:ext>
            </a:extLst>
          </p:cNvPr>
          <p:cNvSpPr>
            <a:spLocks noGrp="1"/>
          </p:cNvSpPr>
          <p:nvPr>
            <p:ph idx="21" hasCustomPrompt="1"/>
          </p:nvPr>
        </p:nvSpPr>
        <p:spPr bwMode="auto">
          <a:xfrm>
            <a:off x="380999" y="366213"/>
            <a:ext cx="11430000" cy="307777"/>
          </a:xfrm>
          <a:prstGeom prst="rect">
            <a:avLst/>
          </a:prstGeom>
        </p:spPr>
        <p:txBody>
          <a:bodyPr vert="horz" lIns="0" tIns="0" rIns="0" bIns="0" rtlCol="0">
            <a:noAutofit/>
          </a:bodyPr>
          <a:lstStyle>
            <a:lvl1pPr>
              <a:defRPr lang="en-US" sz="1400">
                <a:solidFill>
                  <a:schemeClr val="accent1"/>
                </a:solidFill>
                <a:latin typeface="Graphik Medium" panose="020B0603030202060203" pitchFamily="34" charset="0"/>
              </a:defRPr>
            </a:lvl1pPr>
          </a:lstStyle>
          <a:p>
            <a:pPr marL="0" lvl="0" indent="0">
              <a:buNone/>
            </a:pPr>
            <a:r>
              <a:rPr lang="en-US"/>
              <a:t>Place subhead here (20pt, min 16pt)</a:t>
            </a:r>
          </a:p>
        </p:txBody>
      </p:sp>
      <p:sp>
        <p:nvSpPr>
          <p:cNvPr id="2" name="Rectangle 1">
            <a:extLst>
              <a:ext uri="{FF2B5EF4-FFF2-40B4-BE49-F238E27FC236}">
                <a16:creationId xmlns:a16="http://schemas.microsoft.com/office/drawing/2014/main" id="{48CA8792-698F-31B3-69ED-0D74811B291C}"/>
              </a:ext>
            </a:extLst>
          </p:cNvPr>
          <p:cNvSpPr/>
          <p:nvPr userDrawn="1"/>
        </p:nvSpPr>
        <p:spPr bwMode="auto">
          <a:xfrm>
            <a:off x="0" y="0"/>
            <a:ext cx="12192000" cy="201168"/>
          </a:xfrm>
          <a:prstGeom prst="rect">
            <a:avLst/>
          </a:prstGeom>
          <a:gradFill>
            <a:gsLst>
              <a:gs pos="0">
                <a:srgbClr val="82F5D3"/>
              </a:gs>
              <a:gs pos="25000">
                <a:srgbClr val="87D1DA"/>
              </a:gs>
              <a:gs pos="75000">
                <a:srgbClr val="917CE8"/>
              </a:gs>
              <a:gs pos="49000">
                <a:srgbClr val="8DA5E2"/>
              </a:gs>
              <a:gs pos="100000">
                <a:srgbClr val="9C25F9"/>
              </a:gs>
            </a:gsLst>
            <a:lin ang="3000000" scaled="0"/>
          </a:gradFill>
        </p:spPr>
        <p:txBody>
          <a:bodyPr vert="horz" lIns="0" tIns="0" rIns="0" bIns="0" rtlCol="0" anchor="t">
            <a:noAutofit/>
          </a:bodyPr>
          <a:lstStyle/>
          <a:p>
            <a:pPr>
              <a:lnSpc>
                <a:spcPct val="80000"/>
              </a:lnSpc>
              <a:spcBef>
                <a:spcPct val="0"/>
              </a:spcBef>
            </a:pPr>
            <a:endParaRPr lang="en-US" sz="3600" b="1">
              <a:noFill/>
              <a:latin typeface="Graphik-Semibold" panose="020B0503030202060203" pitchFamily="34" charset="77"/>
              <a:ea typeface="+mj-ea"/>
              <a:cs typeface="+mj-cs"/>
            </a:endParaRPr>
          </a:p>
        </p:txBody>
      </p:sp>
      <p:sp>
        <p:nvSpPr>
          <p:cNvPr id="8" name="Title 7">
            <a:extLst>
              <a:ext uri="{FF2B5EF4-FFF2-40B4-BE49-F238E27FC236}">
                <a16:creationId xmlns:a16="http://schemas.microsoft.com/office/drawing/2014/main" id="{0F200A13-C80A-8222-8851-031B590082E3}"/>
              </a:ext>
            </a:extLst>
          </p:cNvPr>
          <p:cNvSpPr>
            <a:spLocks noGrp="1"/>
          </p:cNvSpPr>
          <p:nvPr>
            <p:ph type="title"/>
          </p:nvPr>
        </p:nvSpPr>
        <p:spPr bwMode="auto">
          <a:xfrm>
            <a:off x="380209" y="736460"/>
            <a:ext cx="11430000" cy="769207"/>
          </a:xfrm>
        </p:spPr>
        <p:txBody>
          <a:bodyPr/>
          <a:lstStyle/>
          <a:p>
            <a:r>
              <a:rPr lang="en-US"/>
              <a:t>Click to edit Master title style</a:t>
            </a:r>
          </a:p>
        </p:txBody>
      </p:sp>
    </p:spTree>
    <p:extLst>
      <p:ext uri="{BB962C8B-B14F-4D97-AF65-F5344CB8AC3E}">
        <p14:creationId xmlns:p14="http://schemas.microsoft.com/office/powerpoint/2010/main" val="4186600762"/>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8_Key Message Gradient Dark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5C3819-A1D5-6E07-E719-29E9A58FFDB9}"/>
              </a:ext>
            </a:extLst>
          </p:cNvPr>
          <p:cNvSpPr/>
          <p:nvPr userDrawn="1"/>
        </p:nvSpPr>
        <p:spPr bwMode="auto">
          <a:xfrm>
            <a:off x="0" y="0"/>
            <a:ext cx="12192000" cy="6873902"/>
          </a:xfrm>
          <a:prstGeom prst="rect">
            <a:avLst/>
          </a:prstGeom>
          <a:gradFill>
            <a:gsLst>
              <a:gs pos="0">
                <a:srgbClr val="82F5D3"/>
              </a:gs>
              <a:gs pos="25000">
                <a:srgbClr val="87D1DA"/>
              </a:gs>
              <a:gs pos="75000">
                <a:srgbClr val="917CE8"/>
              </a:gs>
              <a:gs pos="49000">
                <a:srgbClr val="8DA5E2"/>
              </a:gs>
              <a:gs pos="100000">
                <a:srgbClr val="9C25F9"/>
              </a:gs>
            </a:gsLst>
            <a:lin ang="3000000" scaled="0"/>
          </a:gradFill>
        </p:spPr>
        <p:txBody>
          <a:bodyPr vert="horz" lIns="0" tIns="0" rIns="0" bIns="0" rtlCol="0" anchor="t">
            <a:noAutofit/>
          </a:bodyPr>
          <a:lstStyle/>
          <a:p>
            <a:pPr>
              <a:lnSpc>
                <a:spcPct val="80000"/>
              </a:lnSpc>
              <a:spcBef>
                <a:spcPct val="0"/>
              </a:spcBef>
            </a:pPr>
            <a:endParaRPr lang="en-US" sz="3600" b="1">
              <a:noFill/>
              <a:latin typeface="Graphik-Semibold" panose="020B0503030202060203" pitchFamily="34" charset="77"/>
              <a:ea typeface="+mj-ea"/>
              <a:cs typeface="+mj-cs"/>
            </a:endParaRPr>
          </a:p>
        </p:txBody>
      </p:sp>
      <p:sp>
        <p:nvSpPr>
          <p:cNvPr id="8" name="Rectangle 7">
            <a:extLst>
              <a:ext uri="{FF2B5EF4-FFF2-40B4-BE49-F238E27FC236}">
                <a16:creationId xmlns:a16="http://schemas.microsoft.com/office/drawing/2014/main" id="{1BC3F793-13CE-BC7F-894E-23C58823B901}"/>
              </a:ext>
            </a:extLst>
          </p:cNvPr>
          <p:cNvSpPr/>
          <p:nvPr userDrawn="1"/>
        </p:nvSpPr>
        <p:spPr bwMode="auto">
          <a:xfrm>
            <a:off x="7315200" y="6489700"/>
            <a:ext cx="4114800" cy="198318"/>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Graphik"/>
                <a:ea typeface="+mn-ea"/>
                <a:cs typeface="+mn-cs"/>
              </a:rPr>
              <a:t>Copyright © 2024 Accenture. All rights reserved</a:t>
            </a:r>
            <a:endParaRPr kumimoji="0" lang="en-US" sz="1800" b="0" i="0" u="none" strike="noStrike" kern="1200" cap="none" spc="0" normalizeH="0" baseline="0" noProof="0">
              <a:ln>
                <a:noFill/>
              </a:ln>
              <a:solidFill>
                <a:schemeClr val="tx1"/>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0E505A63-29AA-ECF5-F69A-6AF1B99D4177}"/>
              </a:ext>
            </a:extLst>
          </p:cNvPr>
          <p:cNvSpPr/>
          <p:nvPr userDrawn="1"/>
        </p:nvSpPr>
        <p:spPr bwMode="auto">
          <a:xfrm>
            <a:off x="11480800" y="6489700"/>
            <a:ext cx="363894" cy="198318"/>
          </a:xfrm>
          <a:prstGeom prst="rect">
            <a:avLst/>
          </a:prstGeom>
          <a:noFill/>
        </p:spPr>
        <p:txBody>
          <a:bodyPr vert="horz" wrap="none" lIns="0" tIns="0" rIns="0" bIns="0" rtlCol="0" anchor="ctr"/>
          <a:lstStyle/>
          <a:p>
            <a:pPr lvl="0" algn="r"/>
            <a:fld id="{B9D534C1-53C4-46D6-A533-3B9A7F30A365}" type="slidenum">
              <a:rPr lang="en-US" sz="800" smtClean="0">
                <a:solidFill>
                  <a:schemeClr val="tx1"/>
                </a:solidFill>
              </a:rPr>
              <a:t>‹#›</a:t>
            </a:fld>
            <a:endParaRPr lang="en-US" sz="800">
              <a:solidFill>
                <a:schemeClr val="tx1"/>
              </a:solidFill>
            </a:endParaRPr>
          </a:p>
        </p:txBody>
      </p:sp>
      <p:sp>
        <p:nvSpPr>
          <p:cNvPr id="5" name="GTS_Purple" descr="Accenture Greater Than symbol in purple">
            <a:extLst>
              <a:ext uri="{FF2B5EF4-FFF2-40B4-BE49-F238E27FC236}">
                <a16:creationId xmlns:a16="http://schemas.microsoft.com/office/drawing/2014/main" id="{9E0D1CE9-9FCA-EB6F-61B7-39F9A8903C04}"/>
              </a:ext>
            </a:extLst>
          </p:cNvPr>
          <p:cNvSpPr>
            <a:spLocks noChangeAspect="1"/>
          </p:cNvSpPr>
          <p:nvPr userDrawn="1"/>
        </p:nvSpPr>
        <p:spPr bwMode="auto">
          <a:xfrm>
            <a:off x="380209" y="64882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Rectangle 5">
            <a:extLst>
              <a:ext uri="{FF2B5EF4-FFF2-40B4-BE49-F238E27FC236}">
                <a16:creationId xmlns:a16="http://schemas.microsoft.com/office/drawing/2014/main" id="{EFAA2621-4AD3-CE5B-7D82-E69D3B98B921}"/>
              </a:ext>
            </a:extLst>
          </p:cNvPr>
          <p:cNvSpPr/>
          <p:nvPr userDrawn="1"/>
        </p:nvSpPr>
        <p:spPr bwMode="auto">
          <a:xfrm>
            <a:off x="228600" y="197963"/>
            <a:ext cx="11734800" cy="62028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
        <p:nvSpPr>
          <p:cNvPr id="3" name="Gray Rectangle">
            <a:extLst>
              <a:ext uri="{FF2B5EF4-FFF2-40B4-BE49-F238E27FC236}">
                <a16:creationId xmlns:a16="http://schemas.microsoft.com/office/drawing/2014/main" id="{78E0C69C-C94D-C54D-D217-0602FE802E7E}"/>
              </a:ext>
              <a:ext uri="{C183D7F6-B498-43B3-948B-1728B52AA6E4}">
                <adec:decorative xmlns:adec="http://schemas.microsoft.com/office/drawing/2017/decorative" val="1"/>
              </a:ext>
            </a:extLst>
          </p:cNvPr>
          <p:cNvSpPr/>
          <p:nvPr userDrawn="1"/>
        </p:nvSpPr>
        <p:spPr bwMode="auto">
          <a:xfrm>
            <a:off x="229943" y="197963"/>
            <a:ext cx="3367367" cy="6202837"/>
          </a:xfrm>
          <a:prstGeom prst="rect">
            <a:avLst/>
          </a:prstGeom>
          <a:solidFill>
            <a:schemeClr val="tx1">
              <a:lumMod val="95000"/>
              <a:alpha val="68000"/>
            </a:schemeClr>
          </a:solid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3450248384"/>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bwMode="auto">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bwMode="auto">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bwMode="auto">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US"/>
              <a:t>Place subtitle here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bwMode="auto">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2021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bwMode="auto"/>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859300700"/>
      </p:ext>
    </p:extLst>
  </p:cSld>
  <p:clrMapOvr>
    <a:masterClrMapping/>
  </p:clrMapOvr>
  <p:extLst>
    <p:ext uri="{DCECCB84-F9BA-43D5-87BE-67443E8EF086}">
      <p15:sldGuideLst xmlns:p15="http://schemas.microsoft.com/office/powerpoint/2012/main">
        <p15:guide id="1" orient="horz" pos="931">
          <p15:clr>
            <a:srgbClr val="547EB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3250D-BFEF-45FE-9854-87DFF2D42FFA}"/>
              </a:ext>
            </a:extLst>
          </p:cNvPr>
          <p:cNvSpPr>
            <a:spLocks noGrp="1"/>
          </p:cNvSpPr>
          <p:nvPr>
            <p:ph type="title"/>
          </p:nvPr>
        </p:nvSpPr>
        <p:spPr bwMode="auto"/>
        <p:txBody>
          <a:bodyPr/>
          <a:lstStyle/>
          <a:p>
            <a:r>
              <a:rPr lang="en-US"/>
              <a:t>Click to edit Master title style</a:t>
            </a:r>
          </a:p>
        </p:txBody>
      </p:sp>
      <p:sp>
        <p:nvSpPr>
          <p:cNvPr id="5" name="Footer Placeholder 7">
            <a:extLst>
              <a:ext uri="{FF2B5EF4-FFF2-40B4-BE49-F238E27FC236}">
                <a16:creationId xmlns:a16="http://schemas.microsoft.com/office/drawing/2014/main" id="{75C91F4C-384A-4B06-1F79-BB5FD06C95AD}"/>
              </a:ext>
            </a:extLst>
          </p:cNvPr>
          <p:cNvSpPr txBox="1">
            <a:spLocks/>
          </p:cNvSpPr>
          <p:nvPr userDrawn="1"/>
        </p:nvSpPr>
        <p:spPr bwMode="auto">
          <a:xfrm>
            <a:off x="7354956" y="6498173"/>
            <a:ext cx="4114800" cy="19831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defRPr/>
            </a:pPr>
            <a:r>
              <a:rPr lang="en-US" sz="800">
                <a:solidFill>
                  <a:prstClr val="black">
                    <a:alpha val="75000"/>
                  </a:prstClr>
                </a:solidFill>
                <a:latin typeface="Graphik Light"/>
              </a:rPr>
              <a:t>Copyright © 2023 Accenture. All rights reserved.</a:t>
            </a:r>
            <a:endParaRPr lang="en-GB" sz="800">
              <a:solidFill>
                <a:prstClr val="black">
                  <a:alpha val="75000"/>
                </a:prstClr>
              </a:solidFill>
              <a:latin typeface="Graphik Light"/>
            </a:endParaRPr>
          </a:p>
        </p:txBody>
      </p:sp>
      <p:sp>
        <p:nvSpPr>
          <p:cNvPr id="6" name="Slide Number Placeholder 8">
            <a:extLst>
              <a:ext uri="{FF2B5EF4-FFF2-40B4-BE49-F238E27FC236}">
                <a16:creationId xmlns:a16="http://schemas.microsoft.com/office/drawing/2014/main" id="{E6C2C5D3-8255-CAAE-85D8-3A3728D51AC9}"/>
              </a:ext>
            </a:extLst>
          </p:cNvPr>
          <p:cNvSpPr txBox="1">
            <a:spLocks/>
          </p:cNvSpPr>
          <p:nvPr userDrawn="1"/>
        </p:nvSpPr>
        <p:spPr bwMode="auto">
          <a:xfrm>
            <a:off x="11392250" y="6499964"/>
            <a:ext cx="458506" cy="19652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fld id="{1F90F471-3972-4120-B8B3-0237DE626C35}" type="slidenum">
              <a:rPr lang="en-US" sz="800" smtClean="0">
                <a:solidFill>
                  <a:prstClr val="black"/>
                </a:solidFill>
                <a:latin typeface="Graphik Light"/>
              </a:rPr>
              <a:pPr algn="r" defTabSz="457200">
                <a:defRPr/>
              </a:pPr>
              <a:t>‹#›</a:t>
            </a:fld>
            <a:endParaRPr lang="en-US" sz="800">
              <a:solidFill>
                <a:prstClr val="black"/>
              </a:solidFill>
              <a:latin typeface="Graphik Light"/>
            </a:endParaRPr>
          </a:p>
        </p:txBody>
      </p:sp>
    </p:spTree>
    <p:extLst>
      <p:ext uri="{BB962C8B-B14F-4D97-AF65-F5344CB8AC3E}">
        <p14:creationId xmlns:p14="http://schemas.microsoft.com/office/powerpoint/2010/main" val="17415971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Blank - Ligh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2626F4-E259-D743-BE1C-30FA7ED20CE8}"/>
              </a:ext>
            </a:extLst>
          </p:cNvPr>
          <p:cNvSpPr>
            <a:spLocks noGrp="1"/>
          </p:cNvSpPr>
          <p:nvPr>
            <p:ph type="title"/>
          </p:nvPr>
        </p:nvSpPr>
        <p:spPr/>
        <p:txBody>
          <a:bodyPr/>
          <a:lstStyle/>
          <a:p>
            <a:r>
              <a:rPr lang="en-US"/>
              <a:t>Click to edit Master title style</a:t>
            </a:r>
          </a:p>
        </p:txBody>
      </p:sp>
      <p:sp>
        <p:nvSpPr>
          <p:cNvPr id="7" name="Text Placeholder 6">
            <a:extLst>
              <a:ext uri="{FF2B5EF4-FFF2-40B4-BE49-F238E27FC236}">
                <a16:creationId xmlns:a16="http://schemas.microsoft.com/office/drawing/2014/main" id="{29982707-59BA-CEB8-E72E-88B7120AC172}"/>
              </a:ext>
            </a:extLst>
          </p:cNvPr>
          <p:cNvSpPr>
            <a:spLocks noGrp="1"/>
          </p:cNvSpPr>
          <p:nvPr>
            <p:ph type="body" sz="quarter" idx="10" hasCustomPrompt="1"/>
          </p:nvPr>
        </p:nvSpPr>
        <p:spPr>
          <a:xfrm>
            <a:off x="1319213" y="1762125"/>
            <a:ext cx="3349625" cy="952500"/>
          </a:xfrm>
        </p:spPr>
        <p:txBody>
          <a:bodyPr/>
          <a:lstStyle>
            <a:lvl1pPr marL="0" indent="0">
              <a:buNone/>
              <a:defRPr/>
            </a:lvl1pPr>
          </a:lstStyle>
          <a:p>
            <a:pPr lvl="0"/>
            <a:r>
              <a:rPr lang="en-US" err="1"/>
              <a:t>sdsdsdsdsdsds</a:t>
            </a:r>
            <a:endParaRPr lang="en-US"/>
          </a:p>
        </p:txBody>
      </p:sp>
    </p:spTree>
    <p:extLst>
      <p:ext uri="{BB962C8B-B14F-4D97-AF65-F5344CB8AC3E}">
        <p14:creationId xmlns:p14="http://schemas.microsoft.com/office/powerpoint/2010/main" val="20465547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ank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448056"/>
          </a:xfrm>
        </p:spPr>
        <p:txBody>
          <a:bodyPr>
            <a:noAutofit/>
          </a:bodyPr>
          <a:lstStyle>
            <a:lvl1pPr>
              <a:lnSpc>
                <a:spcPct val="90000"/>
              </a:lnSpc>
              <a:defRPr sz="3000" b="1">
                <a:latin typeface="+mj-lt"/>
              </a:defRPr>
            </a:lvl1pPr>
          </a:lstStyle>
          <a:p>
            <a:r>
              <a:rPr lang="en-GB"/>
              <a:t>Place headline here</a:t>
            </a:r>
            <a:endParaRPr lang="en-US"/>
          </a:p>
        </p:txBody>
      </p:sp>
    </p:spTree>
    <p:extLst>
      <p:ext uri="{BB962C8B-B14F-4D97-AF65-F5344CB8AC3E}">
        <p14:creationId xmlns:p14="http://schemas.microsoft.com/office/powerpoint/2010/main" val="41091261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032769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R lef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000"/>
            </a:lvl1pPr>
          </a:lstStyle>
          <a:p>
            <a:r>
              <a:rPr lang="en-GB"/>
              <a:t>Place headline here (36pt, min 30pt)</a:t>
            </a:r>
            <a:endParaRPr lang="en-US"/>
          </a:p>
        </p:txBody>
      </p:sp>
      <p:sp>
        <p:nvSpPr>
          <p:cNvPr id="3" name="TextBox 2">
            <a:extLst>
              <a:ext uri="{FF2B5EF4-FFF2-40B4-BE49-F238E27FC236}">
                <a16:creationId xmlns:a16="http://schemas.microsoft.com/office/drawing/2014/main" id="{912595AB-F1B1-2FDD-84E9-79FC297FF65A}"/>
              </a:ext>
            </a:extLst>
          </p:cNvPr>
          <p:cNvSpPr txBox="1"/>
          <p:nvPr userDrawn="1"/>
        </p:nvSpPr>
        <p:spPr>
          <a:xfrm>
            <a:off x="627489" y="6499061"/>
            <a:ext cx="3112110" cy="203203"/>
          </a:xfrm>
          <a:prstGeom prst="rect">
            <a:avLst/>
          </a:prstGeom>
          <a:noFill/>
        </p:spPr>
        <p:txBody>
          <a:bodyPr wrap="square" lIns="0" tIns="0" rIns="0" bIns="0" rtlCol="0" anchor="ctr">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2024 Accenture. All rights reserved.</a:t>
            </a:r>
            <a:endParaRPr lang="en-US" noProof="0">
              <a:solidFill>
                <a:schemeClr val="tx1">
                  <a:alpha val="75000"/>
                </a:schemeClr>
              </a:solidFill>
            </a:endParaRPr>
          </a:p>
        </p:txBody>
      </p:sp>
      <p:sp>
        <p:nvSpPr>
          <p:cNvPr id="4" name="Slide Number Placeholder 6">
            <a:extLst>
              <a:ext uri="{FF2B5EF4-FFF2-40B4-BE49-F238E27FC236}">
                <a16:creationId xmlns:a16="http://schemas.microsoft.com/office/drawing/2014/main" id="{865E3040-2737-4074-92B1-6231EE2B6ECF}"/>
              </a:ext>
            </a:extLst>
          </p:cNvPr>
          <p:cNvSpPr>
            <a:spLocks noGrp="1"/>
          </p:cNvSpPr>
          <p:nvPr>
            <p:ph type="sldNum" sz="quarter" idx="11"/>
          </p:nvPr>
        </p:nvSpPr>
        <p:spPr>
          <a:xfrm>
            <a:off x="11484746" y="6490025"/>
            <a:ext cx="326254" cy="201168"/>
          </a:xfrm>
        </p:spPr>
        <p:txBody>
          <a:bodyPr/>
          <a:lstStyle/>
          <a:p>
            <a:fld id="{FC1BBE33-A891-48E8-970C-4A8D55F96D53}" type="slidenum">
              <a:rPr lang="en-AU" smtClean="0"/>
              <a:pPr/>
              <a:t>‹#›</a:t>
            </a:fld>
            <a:endParaRPr lang="en-AU"/>
          </a:p>
        </p:txBody>
      </p:sp>
    </p:spTree>
    <p:extLst>
      <p:ext uri="{BB962C8B-B14F-4D97-AF65-F5344CB8AC3E}">
        <p14:creationId xmlns:p14="http://schemas.microsoft.com/office/powerpoint/2010/main" val="16524925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Arial"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F1205C-E5D8-4455-9040-F4FEE554CC20}"/>
              </a:ext>
            </a:extLst>
          </p:cNvPr>
          <p:cNvSpPr>
            <a:spLocks noGrp="1"/>
          </p:cNvSpPr>
          <p:nvPr>
            <p:ph type="dt" sz="half" idx="11"/>
          </p:nvPr>
        </p:nvSpPr>
        <p:spPr/>
        <p:txBody>
          <a:bodyPr/>
          <a:lstStyle/>
          <a:p>
            <a:endParaRPr lang="en-US"/>
          </a:p>
        </p:txBody>
      </p:sp>
      <p:sp>
        <p:nvSpPr>
          <p:cNvPr id="5" name="Slide Number Placeholder 4">
            <a:extLst>
              <a:ext uri="{FF2B5EF4-FFF2-40B4-BE49-F238E27FC236}">
                <a16:creationId xmlns:a16="http://schemas.microsoft.com/office/drawing/2014/main" id="{1A7563E4-420A-4EC3-AED5-771356428595}"/>
              </a:ext>
            </a:extLst>
          </p:cNvPr>
          <p:cNvSpPr>
            <a:spLocks noGrp="1"/>
          </p:cNvSpPr>
          <p:nvPr>
            <p:ph type="sldNum" sz="quarter" idx="12"/>
          </p:nvPr>
        </p:nvSpPr>
        <p:spPr/>
        <p:txBody>
          <a:bodyPr/>
          <a:lstStyle/>
          <a:p>
            <a:endParaRPr lang="en-US"/>
          </a:p>
        </p:txBody>
      </p:sp>
    </p:spTree>
    <p:extLst>
      <p:ext uri="{BB962C8B-B14F-4D97-AF65-F5344CB8AC3E}">
        <p14:creationId xmlns:p14="http://schemas.microsoft.com/office/powerpoint/2010/main" val="16384050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a:t>Click to edit Master subtitle style</a:t>
            </a:r>
          </a:p>
        </p:txBody>
      </p:sp>
    </p:spTree>
    <p:extLst>
      <p:ext uri="{BB962C8B-B14F-4D97-AF65-F5344CB8AC3E}">
        <p14:creationId xmlns:p14="http://schemas.microsoft.com/office/powerpoint/2010/main" val="28755901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948759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269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529185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425542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_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51FBFED-3E1B-4D16-A8C6-A66935D072A8}"/>
              </a:ext>
            </a:extLst>
          </p:cNvPr>
          <p:cNvGraphicFramePr>
            <a:graphicFrameLocks noChangeAspect="1"/>
          </p:cNvGraphicFramePr>
          <p:nvPr userDrawn="1">
            <p:custDataLst>
              <p:tags r:id="rId1"/>
            </p:custDataLst>
            <p:extLst>
              <p:ext uri="{D42A27DB-BD31-4B8C-83A1-F6EECF244321}">
                <p14:modId xmlns:p14="http://schemas.microsoft.com/office/powerpoint/2010/main" val="22824960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5" name="Object 4" hidden="1">
                        <a:extLst>
                          <a:ext uri="{FF2B5EF4-FFF2-40B4-BE49-F238E27FC236}">
                            <a16:creationId xmlns:a16="http://schemas.microsoft.com/office/drawing/2014/main" id="{851FBFED-3E1B-4D16-A8C6-A66935D072A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0"/>
          <p:cNvSpPr>
            <a:spLocks noGrp="1"/>
          </p:cNvSpPr>
          <p:nvPr>
            <p:ph type="title" hasCustomPrompt="1"/>
          </p:nvPr>
        </p:nvSpPr>
        <p:spPr>
          <a:xfrm>
            <a:off x="381000" y="381000"/>
            <a:ext cx="11430000" cy="486371"/>
          </a:xfrm>
          <a:prstGeom prst="rect">
            <a:avLst/>
          </a:prstGeom>
        </p:spPr>
        <p:txBody>
          <a:bodyPr vert="horz"/>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r>
              <a:rPr lang="en-US"/>
              <a:t>Click to edit master title style</a:t>
            </a:r>
          </a:p>
        </p:txBody>
      </p:sp>
      <p:sp>
        <p:nvSpPr>
          <p:cNvPr id="8" name="Slide Number Placeholder 3">
            <a:extLst>
              <a:ext uri="{FF2B5EF4-FFF2-40B4-BE49-F238E27FC236}">
                <a16:creationId xmlns:a16="http://schemas.microsoft.com/office/drawing/2014/main" id="{4A218440-ED4A-7860-CA74-AD2C20E85C7C}"/>
              </a:ext>
            </a:extLst>
          </p:cNvPr>
          <p:cNvSpPr>
            <a:spLocks noGrp="1"/>
          </p:cNvSpPr>
          <p:nvPr>
            <p:ph type="sldNum" sz="quarter" idx="4"/>
          </p:nvPr>
        </p:nvSpPr>
        <p:spPr>
          <a:xfrm>
            <a:off x="11554140" y="6490025"/>
            <a:ext cx="256860" cy="201168"/>
          </a:xfrm>
          <a:prstGeom prst="rect">
            <a:avLst/>
          </a:prstGeom>
        </p:spPr>
        <p:txBody>
          <a:bodyPr vert="horz" wrap="none" lIns="0" tIns="0" rIns="0" bIns="0" rtlCol="0" anchor="ctr"/>
          <a:lstStyle>
            <a:lvl1pPr algn="r" rtl="0">
              <a:defRPr sz="800" b="0" i="0">
                <a:solidFill>
                  <a:schemeClr val="tx1">
                    <a:alpha val="50000"/>
                  </a:schemeClr>
                </a:solidFill>
                <a:latin typeface="Graphik Regular" panose="020B0503030202060203" pitchFamily="34" charset="77"/>
              </a:defRPr>
            </a:lvl1pPr>
          </a:lstStyle>
          <a:p>
            <a:fld id="{1F90F471-3972-4120-B8B3-0237DE626C35}" type="slidenum">
              <a:rPr lang="en-US" smtClean="0"/>
              <a:pPr/>
              <a:t>‹#›</a:t>
            </a:fld>
            <a:endParaRPr lang="en-US"/>
          </a:p>
        </p:txBody>
      </p:sp>
    </p:spTree>
    <p:extLst>
      <p:ext uri="{BB962C8B-B14F-4D97-AF65-F5344CB8AC3E}">
        <p14:creationId xmlns:p14="http://schemas.microsoft.com/office/powerpoint/2010/main" val="35567316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Lg Hdr + 1 Col">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1F90F471-3972-4120-B8B3-0237DE626C35}" type="slidenum">
              <a:rPr lang="en-US" smtClean="0"/>
              <a:pPr/>
              <a:t>‹#›</a:t>
            </a:fld>
            <a:endParaRPr lang="en-US"/>
          </a:p>
        </p:txBody>
      </p:sp>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 uri="{C183D7F6-B498-43B3-948B-1728B52AA6E4}">
                <adec:decorative xmlns:adec="http://schemas.microsoft.com/office/drawing/2017/decorative" val="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Tree>
    <p:extLst>
      <p:ext uri="{BB962C8B-B14F-4D97-AF65-F5344CB8AC3E}">
        <p14:creationId xmlns:p14="http://schemas.microsoft.com/office/powerpoint/2010/main" val="7539029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3_Blank no foot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555F98-E2ED-EB0A-F714-275641BAD27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84048" y="6560626"/>
            <a:ext cx="1374677" cy="131641"/>
          </a:xfrm>
          <a:prstGeom prst="rect">
            <a:avLst/>
          </a:prstGeom>
        </p:spPr>
      </p:pic>
      <p:sp>
        <p:nvSpPr>
          <p:cNvPr id="3" name="Footer Placeholder 3">
            <a:extLst>
              <a:ext uri="{FF2B5EF4-FFF2-40B4-BE49-F238E27FC236}">
                <a16:creationId xmlns:a16="http://schemas.microsoft.com/office/drawing/2014/main" id="{5CC9173B-36C7-F76A-552B-F38A0C7DC45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2024 Accenture. All rights reserved.</a:t>
            </a:r>
          </a:p>
        </p:txBody>
      </p:sp>
      <p:sp>
        <p:nvSpPr>
          <p:cNvPr id="4" name="Slide Number Placeholder 3">
            <a:extLst>
              <a:ext uri="{FF2B5EF4-FFF2-40B4-BE49-F238E27FC236}">
                <a16:creationId xmlns:a16="http://schemas.microsoft.com/office/drawing/2014/main" id="{C995FAD5-85C5-751E-F773-1E46EA3367FF}"/>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1F90F471-3972-4120-B8B3-0237DE626C35}" type="slidenum">
              <a:rPr lang="en-US" smtClean="0"/>
              <a:pPr/>
              <a:t>‹#›</a:t>
            </a:fld>
            <a:endParaRPr lang="en-US"/>
          </a:p>
        </p:txBody>
      </p:sp>
      <p:sp>
        <p:nvSpPr>
          <p:cNvPr id="5" name="Title 5">
            <a:extLst>
              <a:ext uri="{FF2B5EF4-FFF2-40B4-BE49-F238E27FC236}">
                <a16:creationId xmlns:a16="http://schemas.microsoft.com/office/drawing/2014/main" id="{4095A829-F96D-6659-B173-7C2EC9055734}"/>
              </a:ext>
            </a:extLst>
          </p:cNvPr>
          <p:cNvSpPr>
            <a:spLocks noGrp="1"/>
          </p:cNvSpPr>
          <p:nvPr>
            <p:ph type="title"/>
          </p:nvPr>
        </p:nvSpPr>
        <p:spPr>
          <a:xfrm>
            <a:off x="384048" y="406706"/>
            <a:ext cx="11460213" cy="344710"/>
          </a:xfrm>
        </p:spPr>
        <p:txBody>
          <a:bodyPr/>
          <a:lstStyle>
            <a:lvl1pPr>
              <a:defRPr sz="2800" b="1">
                <a:latin typeface="+mj-lt"/>
              </a:defRPr>
            </a:lvl1pPr>
          </a:lstStyle>
          <a:p>
            <a:r>
              <a:rPr lang="en-US"/>
              <a:t>Click to edit Master title style</a:t>
            </a:r>
          </a:p>
        </p:txBody>
      </p:sp>
    </p:spTree>
    <p:extLst>
      <p:ext uri="{BB962C8B-B14F-4D97-AF65-F5344CB8AC3E}">
        <p14:creationId xmlns:p14="http://schemas.microsoft.com/office/powerpoint/2010/main" val="3621371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Lg Hdr Only">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1F90F471-3972-4120-B8B3-0237DE626C35}" type="slidenum">
              <a:rPr lang="en-US" smtClean="0"/>
              <a:pPr/>
              <a:t>‹#›</a:t>
            </a:fld>
            <a:endParaRPr lang="en-US"/>
          </a:p>
        </p:txBody>
      </p:sp>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 uri="{C183D7F6-B498-43B3-948B-1728B52AA6E4}">
                <adec:decorative xmlns:adec="http://schemas.microsoft.com/office/drawing/2017/decorative" val="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2023 Accenture. All rights reserved.</a:t>
            </a:r>
          </a:p>
        </p:txBody>
      </p:sp>
    </p:spTree>
    <p:extLst>
      <p:ext uri="{BB962C8B-B14F-4D97-AF65-F5344CB8AC3E}">
        <p14:creationId xmlns:p14="http://schemas.microsoft.com/office/powerpoint/2010/main" val="17248265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Divider Image Full Bleed_5">
    <p:bg>
      <p:bgPr>
        <a:solidFill>
          <a:schemeClr val="accent3"/>
        </a:solidFill>
        <a:effectLst/>
      </p:bgPr>
    </p:bg>
    <p:spTree>
      <p:nvGrpSpPr>
        <p:cNvPr id="1" name=""/>
        <p:cNvGrpSpPr/>
        <p:nvPr/>
      </p:nvGrpSpPr>
      <p:grpSpPr>
        <a:xfrm>
          <a:off x="0" y="0"/>
          <a:ext cx="0" cy="0"/>
          <a:chOff x="0" y="0"/>
          <a:chExt cx="0" cy="0"/>
        </a:xfrm>
      </p:grpSpPr>
      <p:pic>
        <p:nvPicPr>
          <p:cNvPr id="11" name="Picture 10" descr="A person standing next to a car&#10;&#10;Description automatically generated with medium confidence">
            <a:extLst>
              <a:ext uri="{FF2B5EF4-FFF2-40B4-BE49-F238E27FC236}">
                <a16:creationId xmlns:a16="http://schemas.microsoft.com/office/drawing/2014/main" id="{A21B1619-3366-F74C-9062-49F4B50B8E1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06" y="0"/>
            <a:ext cx="12187589"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957470" y="2506982"/>
            <a:ext cx="4952999" cy="1844039"/>
          </a:xfrm>
        </p:spPr>
        <p:txBody>
          <a:bodyPr anchor="b"/>
          <a:lstStyle>
            <a:lvl1pPr>
              <a:defRPr sz="6000">
                <a:solidFill>
                  <a:schemeClr val="tx1"/>
                </a:solidFill>
              </a:defRPr>
            </a:lvl1pPr>
          </a:lstStyle>
          <a:p>
            <a:r>
              <a:rPr lang="en-US"/>
              <a:t>Section title 60pt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70" y="6482516"/>
            <a:ext cx="191087" cy="202328"/>
          </a:xfrm>
          <a:prstGeom prst="rect">
            <a:avLst/>
          </a:prstGeom>
        </p:spPr>
      </p:pic>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5"/>
            <a:ext cx="381000" cy="205775"/>
          </a:xfrm>
          <a:prstGeom prst="rect">
            <a:avLst/>
          </a:prstGeom>
          <a:noFill/>
        </p:spPr>
        <p:txBody>
          <a:bodyPr wrap="square" lIns="0" tIns="0" rIns="0" bIns="0" rtlCol="0" anchor="ctr">
            <a:noAutofit/>
          </a:bodyPr>
          <a:lstStyle/>
          <a:p>
            <a:pPr marL="0" marR="0" lvl="0" indent="0" algn="r" defTabSz="228594"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594"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957469" y="4632961"/>
            <a:ext cx="4953000" cy="145135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
        <p:nvSpPr>
          <p:cNvPr id="3" name="TextBox 2">
            <a:extLst>
              <a:ext uri="{FF2B5EF4-FFF2-40B4-BE49-F238E27FC236}">
                <a16:creationId xmlns:a16="http://schemas.microsoft.com/office/drawing/2014/main" id="{645DCEAC-BCDF-071A-D618-55F37CB0CA36}"/>
              </a:ext>
            </a:extLst>
          </p:cNvPr>
          <p:cNvSpPr txBox="1"/>
          <p:nvPr userDrawn="1"/>
        </p:nvSpPr>
        <p:spPr>
          <a:xfrm>
            <a:off x="8317890" y="6483349"/>
            <a:ext cx="3112111" cy="203203"/>
          </a:xfrm>
          <a:prstGeom prst="rect">
            <a:avLst/>
          </a:prstGeom>
          <a:noFill/>
        </p:spPr>
        <p:txBody>
          <a:bodyPr wrap="square" lIns="0" tIns="0" rIns="0" bIns="0" rtlCol="0" anchor="ctr">
            <a:noAutofit/>
          </a:bodyPr>
          <a:lstStyle/>
          <a:p>
            <a:pPr marL="0" marR="0" lvl="0" indent="0" algn="r" defTabSz="228594"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2025 Accenture. All rights reserved.</a:t>
            </a:r>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2963628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Standard Layout Title Sub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a:xfrm>
            <a:off x="381000" y="381001"/>
            <a:ext cx="11430000" cy="705803"/>
          </a:xfrm>
        </p:spPr>
        <p:txBody>
          <a:bodyPr/>
          <a:lstStyle>
            <a:lvl1pPr>
              <a:defRPr/>
            </a:lvl1pPr>
          </a:lstStyle>
          <a:p>
            <a:r>
              <a:rPr lang="en-US"/>
              <a:t>Click to edit Master title style</a:t>
            </a:r>
            <a:endParaRPr lang="de-DE"/>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463">
              <a:spcAft>
                <a:spcPts val="1200"/>
              </a:spcAft>
            </a:pPr>
            <a:fld id="{CC9E6EB9-168E-4914-8CC7-2E853AFB4F1B}" type="slidenum">
              <a:rPr lang="en-US" smtClean="0"/>
              <a:pPr algn="r" defTabSz="228463">
                <a:spcAft>
                  <a:spcPts val="1200"/>
                </a:spcAft>
              </a:pPr>
              <a:t>‹#›</a:t>
            </a:fld>
            <a:endParaRPr lang="en-US"/>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chor="b">
            <a:noAutofit/>
          </a:bodyPr>
          <a:lstStyle>
            <a:lvl1pPr>
              <a:lnSpc>
                <a:spcPct val="80000"/>
              </a:lnSpc>
              <a:defRPr sz="1999" b="1">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7142360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99F161-305A-4DEF-8642-F5D79A791E4E}"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96F45-7004-4413-A86F-C156F931B9B5}" type="slidenum">
              <a:rPr lang="en-US" smtClean="0"/>
              <a:t>‹#›</a:t>
            </a:fld>
            <a:endParaRPr lang="en-US"/>
          </a:p>
        </p:txBody>
      </p:sp>
    </p:spTree>
    <p:extLst>
      <p:ext uri="{BB962C8B-B14F-4D97-AF65-F5344CB8AC3E}">
        <p14:creationId xmlns:p14="http://schemas.microsoft.com/office/powerpoint/2010/main" val="257054082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E8F618-A80F-0031-6335-1A0C9D180811}"/>
              </a:ext>
            </a:extLst>
          </p:cNvPr>
          <p:cNvGraphicFramePr>
            <a:graphicFrameLocks noChangeAspect="1"/>
          </p:cNvGraphicFramePr>
          <p:nvPr userDrawn="1">
            <p:custDataLst>
              <p:tags r:id="rId36"/>
            </p:custDataLst>
            <p:extLst>
              <p:ext uri="{D42A27DB-BD31-4B8C-83A1-F6EECF244321}">
                <p14:modId xmlns:p14="http://schemas.microsoft.com/office/powerpoint/2010/main" val="1230034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7" imgW="7772400" imgH="10058400" progId="TCLayout.ActiveDocument.1">
                  <p:embed/>
                </p:oleObj>
              </mc:Choice>
              <mc:Fallback>
                <p:oleObj name="think-cell Slide" r:id="rId37" imgW="7772400" imgH="10058400" progId="TCLayout.ActiveDocument.1">
                  <p:embed/>
                  <p:pic>
                    <p:nvPicPr>
                      <p:cNvPr id="6" name="Object 5" hidden="1">
                        <a:extLst>
                          <a:ext uri="{FF2B5EF4-FFF2-40B4-BE49-F238E27FC236}">
                            <a16:creationId xmlns:a16="http://schemas.microsoft.com/office/drawing/2014/main" id="{48E8F618-A80F-0031-6335-1A0C9D180811}"/>
                          </a:ext>
                        </a:extLst>
                      </p:cNvPr>
                      <p:cNvPicPr/>
                      <p:nvPr/>
                    </p:nvPicPr>
                    <p:blipFill>
                      <a:blip r:embed="rId38"/>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bwMode="auto">
          <a:xfrm>
            <a:off x="380999" y="366213"/>
            <a:ext cx="11430000" cy="769207"/>
          </a:xfrm>
          <a:prstGeom prst="rect">
            <a:avLst/>
          </a:prstGeom>
        </p:spPr>
        <p:txBody>
          <a:bodyPr vert="horz" lIns="0" tIns="0" rIns="0" bIns="0" rtlCol="0" anchor="t">
            <a:noAutofit/>
          </a:bodyPr>
          <a:lstStyle/>
          <a:p>
            <a:r>
              <a:rPr lang="en-US"/>
              <a:t>Place headline here (36pt, min 28pt)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bwMode="auto">
          <a:xfrm>
            <a:off x="380999"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82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Rectangle 4">
            <a:extLst>
              <a:ext uri="{FF2B5EF4-FFF2-40B4-BE49-F238E27FC236}">
                <a16:creationId xmlns:a16="http://schemas.microsoft.com/office/drawing/2014/main" id="{115D0B52-4B9B-B732-40A3-5A3DDC88C90D}"/>
              </a:ext>
            </a:extLst>
          </p:cNvPr>
          <p:cNvSpPr/>
          <p:nvPr userDrawn="1"/>
        </p:nvSpPr>
        <p:spPr bwMode="auto">
          <a:xfrm>
            <a:off x="7315200" y="6489700"/>
            <a:ext cx="4114800" cy="198318"/>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2"/>
                </a:solidFill>
                <a:effectLst/>
                <a:uLnTx/>
                <a:uFillTx/>
                <a:latin typeface="Graphik"/>
                <a:ea typeface="+mn-ea"/>
                <a:cs typeface="+mn-cs"/>
              </a:rPr>
              <a:t>Copyright © 2024 Accenture. All rights reserved</a:t>
            </a:r>
            <a:endParaRPr kumimoji="0" lang="en-US" sz="1800" b="0" i="0" u="none" strike="noStrike" kern="1200" cap="none" spc="0" normalizeH="0" baseline="0" noProof="0">
              <a:ln>
                <a:noFill/>
              </a:ln>
              <a:solidFill>
                <a:schemeClr val="tx2"/>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FD3D8E4E-3D53-4493-256F-FE8F19F6BD82}"/>
              </a:ext>
            </a:extLst>
          </p:cNvPr>
          <p:cNvSpPr/>
          <p:nvPr userDrawn="1"/>
        </p:nvSpPr>
        <p:spPr bwMode="auto">
          <a:xfrm>
            <a:off x="11480800" y="6489700"/>
            <a:ext cx="363894" cy="198318"/>
          </a:xfrm>
          <a:prstGeom prst="rect">
            <a:avLst/>
          </a:prstGeom>
        </p:spPr>
        <p:txBody>
          <a:bodyPr vert="horz" wrap="none" lIns="0" tIns="0" rIns="0" bIns="0" rtlCol="0" anchor="ctr"/>
          <a:lstStyle/>
          <a:p>
            <a:pPr lvl="0" algn="r"/>
            <a:fld id="{B9D534C1-53C4-46D6-A533-3B9A7F30A365}" type="slidenum">
              <a:rPr lang="en-US" sz="800" smtClean="0">
                <a:solidFill>
                  <a:schemeClr val="tx2"/>
                </a:solidFill>
              </a:rPr>
              <a:t>‹#›</a:t>
            </a:fld>
            <a:endParaRPr lang="en-US" sz="800">
              <a:solidFill>
                <a:schemeClr val="tx2"/>
              </a:solidFill>
            </a:endParaRPr>
          </a:p>
        </p:txBody>
      </p:sp>
      <p:sp>
        <p:nvSpPr>
          <p:cNvPr id="7" name="Rectangle 6">
            <a:extLst>
              <a:ext uri="{FF2B5EF4-FFF2-40B4-BE49-F238E27FC236}">
                <a16:creationId xmlns:a16="http://schemas.microsoft.com/office/drawing/2014/main" id="{714A6005-68F8-60AB-32DE-A3CD7D39ED2A}"/>
              </a:ext>
            </a:extLst>
          </p:cNvPr>
          <p:cNvSpPr/>
          <p:nvPr userDrawn="1"/>
        </p:nvSpPr>
        <p:spPr bwMode="auto">
          <a:xfrm>
            <a:off x="0" y="0"/>
            <a:ext cx="12192000" cy="201168"/>
          </a:xfrm>
          <a:prstGeom prst="rect">
            <a:avLst/>
          </a:prstGeom>
          <a:gradFill>
            <a:gsLst>
              <a:gs pos="0">
                <a:srgbClr val="82F5D3"/>
              </a:gs>
              <a:gs pos="25000">
                <a:srgbClr val="87D1DA"/>
              </a:gs>
              <a:gs pos="75000">
                <a:srgbClr val="917CE8"/>
              </a:gs>
              <a:gs pos="49000">
                <a:srgbClr val="8DA5E2"/>
              </a:gs>
              <a:gs pos="100000">
                <a:srgbClr val="9C25F9"/>
              </a:gs>
            </a:gsLst>
            <a:lin ang="3000000" scaled="0"/>
          </a:gradFill>
        </p:spPr>
        <p:txBody>
          <a:bodyPr vert="horz" lIns="0" tIns="0" rIns="0" bIns="0" rtlCol="0" anchor="t">
            <a:noAutofit/>
          </a:bodyPr>
          <a:lstStyle/>
          <a:p>
            <a:pPr>
              <a:lnSpc>
                <a:spcPct val="80000"/>
              </a:lnSpc>
              <a:spcBef>
                <a:spcPct val="0"/>
              </a:spcBef>
            </a:pPr>
            <a:endParaRPr lang="en-US" sz="3600" b="1">
              <a:noFill/>
              <a:latin typeface="Graphik-Semibold" panose="020B0503030202060203" pitchFamily="34" charset="77"/>
              <a:ea typeface="+mj-ea"/>
              <a:cs typeface="+mj-cs"/>
            </a:endParaRPr>
          </a:p>
        </p:txBody>
      </p:sp>
    </p:spTree>
    <p:extLst>
      <p:ext uri="{BB962C8B-B14F-4D97-AF65-F5344CB8AC3E}">
        <p14:creationId xmlns:p14="http://schemas.microsoft.com/office/powerpoint/2010/main" val="38942707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ftr="0" dt="0"/>
  <p:txStyles>
    <p:titleStyle>
      <a:lvl1pPr algn="l" defTabSz="914400" rtl="0" eaLnBrk="1" latinLnBrk="0" hangingPunct="1">
        <a:lnSpc>
          <a:spcPct val="80000"/>
        </a:lnSpc>
        <a:spcBef>
          <a:spcPct val="0"/>
        </a:spcBef>
        <a:buNone/>
        <a:defRPr sz="2800" b="0" kern="1200">
          <a:solidFill>
            <a:schemeClr val="tx1"/>
          </a:solidFill>
          <a:latin typeface="Graphik Semibold" panose="020B0703030202060203" pitchFamily="34" charset="0"/>
          <a:ea typeface="+mj-ea"/>
          <a:cs typeface="+mj-cs"/>
        </a:defRPr>
      </a:lvl1pPr>
    </p:titleStyle>
    <p:body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13.emf"/><Relationship Id="rId4" Type="http://schemas.openxmlformats.org/officeDocument/2006/relationships/oleObject" Target="../embeddings/oleObject3.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F0893-F777-8F7C-E33E-5BA87B83419C}"/>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EE79293-9620-C76C-A66C-0E98AF7458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3" imgH="503" progId="TCLayout.ActiveDocument.1">
                  <p:embed/>
                </p:oleObj>
              </mc:Choice>
              <mc:Fallback>
                <p:oleObj name="think-cell Slide" r:id="rId4" imgW="503" imgH="503" progId="TCLayout.ActiveDocument.1">
                  <p:embed/>
                  <p:pic>
                    <p:nvPicPr>
                      <p:cNvPr id="7" name="Object 6" hidden="1">
                        <a:extLst>
                          <a:ext uri="{FF2B5EF4-FFF2-40B4-BE49-F238E27FC236}">
                            <a16:creationId xmlns:a16="http://schemas.microsoft.com/office/drawing/2014/main" id="{AEE79293-9620-C76C-A66C-0E98AF7458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73C9AA2-E891-E59C-10EC-C255834579AC}"/>
              </a:ext>
            </a:extLst>
          </p:cNvPr>
          <p:cNvSpPr>
            <a:spLocks noGrp="1"/>
          </p:cNvSpPr>
          <p:nvPr>
            <p:ph type="title"/>
          </p:nvPr>
        </p:nvSpPr>
        <p:spPr>
          <a:xfrm>
            <a:off x="479033" y="1768546"/>
            <a:ext cx="6838949" cy="2190750"/>
          </a:xfrm>
        </p:spPr>
        <p:txBody>
          <a:bodyPr vert="horz">
            <a:normAutofit/>
          </a:bodyPr>
          <a:lstStyle/>
          <a:p>
            <a:pPr>
              <a:lnSpc>
                <a:spcPct val="100000"/>
              </a:lnSpc>
            </a:pPr>
            <a:r>
              <a:rPr lang="en-US" dirty="0"/>
              <a:t>BMW Global IAM -Agentic Solution</a:t>
            </a:r>
            <a:endParaRPr lang="en-US" sz="2800" dirty="0"/>
          </a:p>
        </p:txBody>
      </p:sp>
      <p:sp>
        <p:nvSpPr>
          <p:cNvPr id="3" name="Title 1">
            <a:extLst>
              <a:ext uri="{FF2B5EF4-FFF2-40B4-BE49-F238E27FC236}">
                <a16:creationId xmlns:a16="http://schemas.microsoft.com/office/drawing/2014/main" id="{D19D48FA-431A-0A84-EEF4-FD27DE094807}"/>
              </a:ext>
            </a:extLst>
          </p:cNvPr>
          <p:cNvSpPr txBox="1">
            <a:spLocks/>
          </p:cNvSpPr>
          <p:nvPr/>
        </p:nvSpPr>
        <p:spPr>
          <a:xfrm>
            <a:off x="579346" y="4224088"/>
            <a:ext cx="1133951" cy="376788"/>
          </a:xfrm>
          <a:prstGeom prst="rect">
            <a:avLst/>
          </a:prstGeom>
        </p:spPr>
        <p:txBody>
          <a:bodyPr vert="horz" wrap="square" lIns="0" tIns="0" rIns="0" bIns="0" rtlCol="0" anchor="t"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FFFFFF"/>
                </a:solidFill>
                <a:effectLst/>
                <a:uLnTx/>
                <a:uFillTx/>
                <a:latin typeface="Graphik" panose="020B0503030202060203" pitchFamily="34" charset="0"/>
                <a:ea typeface="+mj-ea"/>
                <a:cs typeface="Arial" pitchFamily="34" charset="0"/>
              </a:rPr>
              <a:t>23</a:t>
            </a:r>
            <a:r>
              <a:rPr kumimoji="0" lang="en-US" sz="1800" b="0" i="1" u="none" strike="noStrike" kern="1200" cap="none" spc="0" normalizeH="0" baseline="30000" noProof="0" dirty="0">
                <a:ln>
                  <a:noFill/>
                </a:ln>
                <a:solidFill>
                  <a:srgbClr val="FFFFFF"/>
                </a:solidFill>
                <a:effectLst/>
                <a:uLnTx/>
                <a:uFillTx/>
                <a:latin typeface="Graphik" panose="020B0503030202060203" pitchFamily="34" charset="0"/>
                <a:ea typeface="+mj-ea"/>
                <a:cs typeface="Arial" pitchFamily="34" charset="0"/>
              </a:rPr>
              <a:t>rd</a:t>
            </a:r>
            <a:r>
              <a:rPr kumimoji="0" lang="en-US" sz="1800" b="0" i="1" u="none" strike="noStrike" kern="1200" cap="none" spc="0" normalizeH="0" baseline="0" noProof="0" dirty="0">
                <a:ln>
                  <a:noFill/>
                </a:ln>
                <a:solidFill>
                  <a:srgbClr val="FFFFFF"/>
                </a:solidFill>
                <a:effectLst/>
                <a:uLnTx/>
                <a:uFillTx/>
                <a:latin typeface="Graphik" panose="020B0503030202060203" pitchFamily="34" charset="0"/>
                <a:ea typeface="+mj-ea"/>
                <a:cs typeface="Arial" pitchFamily="34" charset="0"/>
              </a:rPr>
              <a:t> April</a:t>
            </a:r>
          </a:p>
        </p:txBody>
      </p:sp>
    </p:spTree>
    <p:extLst>
      <p:ext uri="{BB962C8B-B14F-4D97-AF65-F5344CB8AC3E}">
        <p14:creationId xmlns:p14="http://schemas.microsoft.com/office/powerpoint/2010/main" val="3762730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EE29-7480-F9B9-4C45-DB5359800A4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A8A1A5-ACF6-B5C8-9344-B86BD4167AA2}"/>
              </a:ext>
            </a:extLst>
          </p:cNvPr>
          <p:cNvSpPr>
            <a:spLocks noGrp="1"/>
          </p:cNvSpPr>
          <p:nvPr>
            <p:ph type="sldNum" sz="quarter" idx="10"/>
          </p:nvPr>
        </p:nvSpPr>
        <p:spPr/>
        <p:txBody>
          <a:bodyPr/>
          <a:lstStyle/>
          <a:p>
            <a:pPr marL="0" marR="0" lvl="0" indent="0" algn="r" defTabSz="228326" rtl="0" eaLnBrk="1" fontAlgn="base" latinLnBrk="0" hangingPunct="1">
              <a:lnSpc>
                <a:spcPct val="100000"/>
              </a:lnSpc>
              <a:spcBef>
                <a:spcPct val="0"/>
              </a:spcBef>
              <a:spcAft>
                <a:spcPts val="12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n-ea"/>
                <a:cs typeface="Arial" charset="0"/>
              </a:rPr>
              <a:t> </a:t>
            </a:r>
          </a:p>
        </p:txBody>
      </p:sp>
      <p:sp>
        <p:nvSpPr>
          <p:cNvPr id="5" name="TextBox 4">
            <a:extLst>
              <a:ext uri="{FF2B5EF4-FFF2-40B4-BE49-F238E27FC236}">
                <a16:creationId xmlns:a16="http://schemas.microsoft.com/office/drawing/2014/main" id="{B4FFEE96-395A-FDB5-E7B9-1697909C63AF}"/>
              </a:ext>
            </a:extLst>
          </p:cNvPr>
          <p:cNvSpPr txBox="1"/>
          <p:nvPr/>
        </p:nvSpPr>
        <p:spPr>
          <a:xfrm>
            <a:off x="308707" y="736690"/>
            <a:ext cx="11733000" cy="1205757"/>
          </a:xfrm>
          <a:prstGeom prst="rect">
            <a:avLst/>
          </a:prstGeom>
          <a:noFill/>
        </p:spPr>
        <p:txBody>
          <a:bodyPr wrap="square">
            <a:spAutoFit/>
          </a:bodyPr>
          <a:lstStyle/>
          <a:p>
            <a:pPr marL="0" marR="0" lvl="0" indent="0" algn="l" defTabSz="914217" rtl="0" eaLnBrk="1" fontAlgn="base" latinLnBrk="0" hangingPunct="1">
              <a:lnSpc>
                <a:spcPct val="150000"/>
              </a:lnSpc>
              <a:spcBef>
                <a:spcPct val="0"/>
              </a:spcBef>
              <a:spcAft>
                <a:spcPct val="0"/>
              </a:spcAft>
              <a:buClrTx/>
              <a:buSzTx/>
              <a:buFontTx/>
              <a:buNone/>
              <a:tabLst/>
              <a:defRPr/>
            </a:pP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The solution leverages Data and Agentic AI to transform IAM field operations into an intelligent, insight‑driven engagement model - enhancing dealer/IR engagement and accelerating genuine spare parts growth</a:t>
            </a:r>
          </a:p>
          <a:p>
            <a:pPr marL="0" marR="0" lvl="0" indent="0" algn="l" defTabSz="914217" rtl="0" eaLnBrk="1" fontAlgn="base" latinLnBrk="0" hangingPunct="1">
              <a:lnSpc>
                <a:spcPct val="1500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charset="0"/>
              <a:ea typeface="+mn-ea"/>
              <a:cs typeface="Arial" charset="0"/>
            </a:endParaRPr>
          </a:p>
          <a:p>
            <a:pPr marL="0" marR="0" lvl="0" indent="0" algn="l" defTabSz="914217" rtl="0" eaLnBrk="1" fontAlgn="base" latinLnBrk="0" hangingPunct="1">
              <a:lnSpc>
                <a:spcPct val="150000"/>
              </a:lnSpc>
              <a:spcBef>
                <a:spcPct val="0"/>
              </a:spcBef>
              <a:spcAft>
                <a:spcPct val="0"/>
              </a:spcAft>
              <a:buClrTx/>
              <a:buSzTx/>
              <a:buFontTx/>
              <a:buNone/>
              <a:tabLst/>
              <a:defRPr/>
            </a:pPr>
            <a:r>
              <a:rPr kumimoji="0" lang="en-US" sz="1399" b="1" i="0" u="none" strike="noStrike" kern="1200" cap="none" spc="0" normalizeH="0" baseline="0" noProof="0" dirty="0">
                <a:ln>
                  <a:noFill/>
                </a:ln>
                <a:solidFill>
                  <a:srgbClr val="000000"/>
                </a:solidFill>
                <a:effectLst/>
                <a:uLnTx/>
                <a:uFillTx/>
                <a:latin typeface="Arial" charset="0"/>
                <a:ea typeface="+mn-ea"/>
                <a:cs typeface="Arial" charset="0"/>
              </a:rPr>
              <a:t>The transformation is enabled through three tightly integrated components:</a:t>
            </a:r>
          </a:p>
        </p:txBody>
      </p:sp>
      <p:sp>
        <p:nvSpPr>
          <p:cNvPr id="9" name="TextBox 8">
            <a:extLst>
              <a:ext uri="{FF2B5EF4-FFF2-40B4-BE49-F238E27FC236}">
                <a16:creationId xmlns:a16="http://schemas.microsoft.com/office/drawing/2014/main" id="{DE3607DD-69D4-B5EE-D3E6-37FA6213A0BB}"/>
              </a:ext>
            </a:extLst>
          </p:cNvPr>
          <p:cNvSpPr txBox="1"/>
          <p:nvPr/>
        </p:nvSpPr>
        <p:spPr>
          <a:xfrm>
            <a:off x="384554" y="3791109"/>
            <a:ext cx="11733000" cy="2568335"/>
          </a:xfrm>
          <a:prstGeom prst="rect">
            <a:avLst/>
          </a:prstGeom>
          <a:noFill/>
        </p:spPr>
        <p:txBody>
          <a:bodyPr wrap="square">
            <a:spAutoFit/>
          </a:bodyP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The overall Agentic AI systems act as </a:t>
            </a:r>
            <a:r>
              <a:rPr kumimoji="0" lang="en-US" sz="1399" b="1" i="0" u="none" strike="noStrike" kern="1200" cap="none" spc="0" normalizeH="0" baseline="0" noProof="0" dirty="0">
                <a:ln>
                  <a:noFill/>
                </a:ln>
                <a:solidFill>
                  <a:srgbClr val="000000"/>
                </a:solidFill>
                <a:effectLst/>
                <a:uLnTx/>
                <a:uFillTx/>
                <a:latin typeface="Arial" charset="0"/>
                <a:ea typeface="+mn-ea"/>
                <a:cs typeface="Arial" charset="0"/>
              </a:rPr>
              <a:t>digital companions and orchestration engines</a:t>
            </a: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 capable of:</a:t>
            </a:r>
          </a:p>
          <a:p>
            <a:pPr marL="285579" marR="0" lvl="0" indent="-285579" algn="l" defTabSz="914217"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399" b="0" i="0" u="none" strike="noStrike" kern="1200" cap="none" spc="0" normalizeH="0" baseline="0" noProof="0" dirty="0">
              <a:ln>
                <a:noFill/>
              </a:ln>
              <a:solidFill>
                <a:srgbClr val="000000"/>
              </a:solidFill>
              <a:effectLst/>
              <a:uLnTx/>
              <a:uFillTx/>
              <a:latin typeface="Arial" charset="0"/>
              <a:ea typeface="+mn-ea"/>
              <a:cs typeface="Arial" charset="0"/>
            </a:endParaRPr>
          </a:p>
          <a:p>
            <a:pPr marL="285579" marR="0" lvl="0" indent="-285579" algn="l" defTabSz="914217"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Intelligent planning of field visits</a:t>
            </a:r>
          </a:p>
          <a:p>
            <a:pPr marL="285579" marR="0" lvl="0" indent="-285579" algn="l" defTabSz="914217"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AI-assisted dealer/IR engagement</a:t>
            </a:r>
          </a:p>
          <a:p>
            <a:pPr marL="285579" marR="0" lvl="0" indent="-285579" algn="l" defTabSz="914217"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Automated reporting and knowledge capture</a:t>
            </a:r>
          </a:p>
          <a:p>
            <a:pPr marL="285579" marR="0" lvl="0" indent="-285579" algn="l" defTabSz="914217"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Field force orchestration for management</a:t>
            </a:r>
          </a:p>
          <a:p>
            <a:pPr marL="285579" marR="0" lvl="0" indent="-285579" algn="l" defTabSz="914217"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Travel optimization through route planning</a:t>
            </a:r>
          </a:p>
          <a:p>
            <a:pPr marL="0" marR="0" lvl="0" indent="0" algn="l" defTabSz="914217" rtl="0" eaLnBrk="1" fontAlgn="base" latinLnBrk="0" hangingPunct="1">
              <a:lnSpc>
                <a:spcPct val="100000"/>
              </a:lnSpc>
              <a:spcBef>
                <a:spcPct val="0"/>
              </a:spcBef>
              <a:spcAft>
                <a:spcPct val="0"/>
              </a:spcAft>
              <a:buClrTx/>
              <a:buSzTx/>
              <a:buFontTx/>
              <a:buNone/>
              <a:tabLst/>
              <a:defRPr/>
            </a:pPr>
            <a:endParaRPr kumimoji="0" lang="en-US" sz="1399" b="0" i="0" u="none" strike="noStrike" kern="1200" cap="none" spc="0" normalizeH="0" baseline="0" noProof="0" dirty="0">
              <a:ln>
                <a:noFill/>
              </a:ln>
              <a:solidFill>
                <a:srgbClr val="000000"/>
              </a:solidFill>
              <a:effectLst/>
              <a:uLnTx/>
              <a:uFillTx/>
              <a:latin typeface="Arial" charset="0"/>
              <a:ea typeface="+mn-ea"/>
              <a:cs typeface="Arial" charset="0"/>
            </a:endParaRPr>
          </a:p>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399" b="1" i="0" u="none" strike="noStrike" kern="1200" cap="none" spc="0" normalizeH="0" baseline="0" noProof="0" dirty="0">
                <a:ln>
                  <a:noFill/>
                </a:ln>
                <a:solidFill>
                  <a:srgbClr val="000000"/>
                </a:solidFill>
                <a:effectLst/>
                <a:uLnTx/>
                <a:uFillTx/>
                <a:latin typeface="Arial" charset="0"/>
                <a:ea typeface="+mn-ea"/>
                <a:cs typeface="Arial" charset="0"/>
              </a:rPr>
              <a:t>This enables BMW to shift from manual field execution to intelligent, agent‑driven IAM orchestration</a:t>
            </a: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a:t>
            </a:r>
          </a:p>
        </p:txBody>
      </p:sp>
      <p:grpSp>
        <p:nvGrpSpPr>
          <p:cNvPr id="13" name="Group 12">
            <a:extLst>
              <a:ext uri="{FF2B5EF4-FFF2-40B4-BE49-F238E27FC236}">
                <a16:creationId xmlns:a16="http://schemas.microsoft.com/office/drawing/2014/main" id="{7B8CE7AF-B289-F680-175A-C6EEEF304A94}"/>
              </a:ext>
            </a:extLst>
          </p:cNvPr>
          <p:cNvGrpSpPr/>
          <p:nvPr/>
        </p:nvGrpSpPr>
        <p:grpSpPr>
          <a:xfrm>
            <a:off x="384555" y="2159720"/>
            <a:ext cx="3695085" cy="1388403"/>
            <a:chOff x="906994" y="1455104"/>
            <a:chExt cx="9210131" cy="4980831"/>
          </a:xfrm>
        </p:grpSpPr>
        <p:sp>
          <p:nvSpPr>
            <p:cNvPr id="14" name="Rectangle 13">
              <a:extLst>
                <a:ext uri="{FF2B5EF4-FFF2-40B4-BE49-F238E27FC236}">
                  <a16:creationId xmlns:a16="http://schemas.microsoft.com/office/drawing/2014/main" id="{77831E14-5755-E6C4-E3A5-40C5D1276317}"/>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3851" rtl="0" eaLnBrk="1" fontAlgn="auto" latinLnBrk="0" hangingPunct="1">
                <a:lnSpc>
                  <a:spcPct val="100000"/>
                </a:lnSpc>
                <a:spcBef>
                  <a:spcPct val="0"/>
                </a:spcBef>
                <a:spcAft>
                  <a:spcPts val="0"/>
                </a:spcAft>
                <a:buClrTx/>
                <a:buSzTx/>
                <a:buFontTx/>
                <a:buNone/>
                <a:tabLst/>
                <a:defRPr/>
              </a:pPr>
              <a:endParaRPr kumimoji="0" lang="en-US" sz="3598" b="1" i="0" u="none" strike="noStrike" kern="1200" cap="none" spc="0" normalizeH="0" baseline="0" noProof="0">
                <a:ln>
                  <a:noFill/>
                </a:ln>
                <a:solidFill>
                  <a:prstClr val="white"/>
                </a:solidFill>
                <a:effectLst/>
                <a:uLnTx/>
                <a:uFillTx/>
                <a:latin typeface="Graphik Semibold" panose="020B0503030202060203" pitchFamily="34" charset="77"/>
                <a:ea typeface="+mn-ea"/>
                <a:cs typeface="Arial" charset="0"/>
              </a:endParaRPr>
            </a:p>
          </p:txBody>
        </p:sp>
        <p:sp>
          <p:nvSpPr>
            <p:cNvPr id="15" name="Rectangle 14">
              <a:extLst>
                <a:ext uri="{FF2B5EF4-FFF2-40B4-BE49-F238E27FC236}">
                  <a16:creationId xmlns:a16="http://schemas.microsoft.com/office/drawing/2014/main" id="{BB982C9F-DF8B-91BF-CA32-2A049FFC99CA}"/>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 name="Group 15">
            <a:extLst>
              <a:ext uri="{FF2B5EF4-FFF2-40B4-BE49-F238E27FC236}">
                <a16:creationId xmlns:a16="http://schemas.microsoft.com/office/drawing/2014/main" id="{A40FC970-0F3E-12CF-BE35-CBA9016E6BC3}"/>
              </a:ext>
            </a:extLst>
          </p:cNvPr>
          <p:cNvGrpSpPr/>
          <p:nvPr/>
        </p:nvGrpSpPr>
        <p:grpSpPr>
          <a:xfrm>
            <a:off x="4233409" y="2159720"/>
            <a:ext cx="3695086" cy="1388403"/>
            <a:chOff x="906994" y="1455104"/>
            <a:chExt cx="9210131" cy="4980831"/>
          </a:xfrm>
        </p:grpSpPr>
        <p:sp>
          <p:nvSpPr>
            <p:cNvPr id="17" name="Rectangle 16">
              <a:extLst>
                <a:ext uri="{FF2B5EF4-FFF2-40B4-BE49-F238E27FC236}">
                  <a16:creationId xmlns:a16="http://schemas.microsoft.com/office/drawing/2014/main" id="{A971F48F-C3C7-9006-82A0-E482998295F7}"/>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3851" rtl="0" eaLnBrk="1" fontAlgn="auto" latinLnBrk="0" hangingPunct="1">
                <a:lnSpc>
                  <a:spcPct val="100000"/>
                </a:lnSpc>
                <a:spcBef>
                  <a:spcPct val="0"/>
                </a:spcBef>
                <a:spcAft>
                  <a:spcPts val="0"/>
                </a:spcAft>
                <a:buClrTx/>
                <a:buSzTx/>
                <a:buFontTx/>
                <a:buNone/>
                <a:tabLst/>
                <a:defRPr/>
              </a:pPr>
              <a:endParaRPr kumimoji="0" lang="en-US" sz="3598" b="1" i="0" u="none" strike="noStrike" kern="1200" cap="none" spc="0" normalizeH="0" baseline="0" noProof="0">
                <a:ln>
                  <a:noFill/>
                </a:ln>
                <a:solidFill>
                  <a:prstClr val="white"/>
                </a:solidFill>
                <a:effectLst/>
                <a:uLnTx/>
                <a:uFillTx/>
                <a:latin typeface="Graphik Semibold" panose="020B0503030202060203" pitchFamily="34" charset="77"/>
                <a:ea typeface="+mn-ea"/>
                <a:cs typeface="Arial" charset="0"/>
              </a:endParaRPr>
            </a:p>
          </p:txBody>
        </p:sp>
        <p:sp>
          <p:nvSpPr>
            <p:cNvPr id="18" name="Rectangle 17">
              <a:extLst>
                <a:ext uri="{FF2B5EF4-FFF2-40B4-BE49-F238E27FC236}">
                  <a16:creationId xmlns:a16="http://schemas.microsoft.com/office/drawing/2014/main" id="{41447198-8919-0331-4E79-52ED87709555}"/>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 name="Group 18">
            <a:extLst>
              <a:ext uri="{FF2B5EF4-FFF2-40B4-BE49-F238E27FC236}">
                <a16:creationId xmlns:a16="http://schemas.microsoft.com/office/drawing/2014/main" id="{3344C926-41E1-45D5-4F50-1D6B987AC1CA}"/>
              </a:ext>
            </a:extLst>
          </p:cNvPr>
          <p:cNvGrpSpPr/>
          <p:nvPr/>
        </p:nvGrpSpPr>
        <p:grpSpPr>
          <a:xfrm>
            <a:off x="8072091" y="2169992"/>
            <a:ext cx="3695087" cy="1388403"/>
            <a:chOff x="906994" y="1455104"/>
            <a:chExt cx="9210131" cy="4980831"/>
          </a:xfrm>
        </p:grpSpPr>
        <p:sp>
          <p:nvSpPr>
            <p:cNvPr id="20" name="Rectangle 19">
              <a:extLst>
                <a:ext uri="{FF2B5EF4-FFF2-40B4-BE49-F238E27FC236}">
                  <a16:creationId xmlns:a16="http://schemas.microsoft.com/office/drawing/2014/main" id="{E67D9685-51A7-4786-777B-D80FD0531B8D}"/>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3851" rtl="0" eaLnBrk="1" fontAlgn="auto" latinLnBrk="0" hangingPunct="1">
                <a:lnSpc>
                  <a:spcPct val="100000"/>
                </a:lnSpc>
                <a:spcBef>
                  <a:spcPct val="0"/>
                </a:spcBef>
                <a:spcAft>
                  <a:spcPts val="0"/>
                </a:spcAft>
                <a:buClrTx/>
                <a:buSzTx/>
                <a:buFontTx/>
                <a:buNone/>
                <a:tabLst/>
                <a:defRPr/>
              </a:pPr>
              <a:endParaRPr kumimoji="0" lang="en-US" sz="3598" b="1" i="0" u="none" strike="noStrike" kern="1200" cap="none" spc="0" normalizeH="0" baseline="0" noProof="0">
                <a:ln>
                  <a:noFill/>
                </a:ln>
                <a:solidFill>
                  <a:prstClr val="white"/>
                </a:solidFill>
                <a:effectLst/>
                <a:uLnTx/>
                <a:uFillTx/>
                <a:latin typeface="Graphik Semibold" panose="020B0503030202060203" pitchFamily="34" charset="77"/>
                <a:ea typeface="+mn-ea"/>
                <a:cs typeface="Arial" charset="0"/>
              </a:endParaRPr>
            </a:p>
          </p:txBody>
        </p:sp>
        <p:sp>
          <p:nvSpPr>
            <p:cNvPr id="21" name="Rectangle 20">
              <a:extLst>
                <a:ext uri="{FF2B5EF4-FFF2-40B4-BE49-F238E27FC236}">
                  <a16:creationId xmlns:a16="http://schemas.microsoft.com/office/drawing/2014/main" id="{D16ABCC7-E8A1-494E-AC0F-2CE0DF270779}"/>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2" name="Title 1">
            <a:extLst>
              <a:ext uri="{FF2B5EF4-FFF2-40B4-BE49-F238E27FC236}">
                <a16:creationId xmlns:a16="http://schemas.microsoft.com/office/drawing/2014/main" id="{3F40AACD-9079-F15B-BFAC-10AB4A7EB892}"/>
              </a:ext>
            </a:extLst>
          </p:cNvPr>
          <p:cNvSpPr txBox="1">
            <a:spLocks/>
          </p:cNvSpPr>
          <p:nvPr/>
        </p:nvSpPr>
        <p:spPr>
          <a:xfrm>
            <a:off x="384555" y="2296619"/>
            <a:ext cx="3655679" cy="248144"/>
          </a:xfrm>
          <a:prstGeom prst="rect">
            <a:avLst/>
          </a:prstGeom>
        </p:spPr>
        <p:txBody>
          <a:bodyPr vert="horz" wrap="square" lIns="0" tIns="0" rIns="0" bIns="0" rtlCol="0" anchor="t"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3851" rtl="0" eaLnBrk="1" fontAlgn="auto" latinLnBrk="0" hangingPunct="1">
              <a:lnSpc>
                <a:spcPct val="100000"/>
              </a:lnSpc>
              <a:spcBef>
                <a:spcPct val="0"/>
              </a:spcBef>
              <a:spcAft>
                <a:spcPts val="0"/>
              </a:spcAft>
              <a:buClrTx/>
              <a:buSzTx/>
              <a:buFontTx/>
              <a:buNone/>
              <a:tabLst/>
              <a:defRPr/>
            </a:pPr>
            <a:r>
              <a:rPr kumimoji="0" lang="en-US" sz="1599" b="1" i="1" u="none" strike="noStrike" kern="1200" cap="none" spc="0" normalizeH="0" baseline="0" noProof="0" dirty="0">
                <a:ln>
                  <a:noFill/>
                </a:ln>
                <a:solidFill>
                  <a:srgbClr val="000000"/>
                </a:solidFill>
                <a:effectLst/>
                <a:uLnTx/>
                <a:uFillTx/>
                <a:latin typeface="Graphik" panose="020B0503030202060203" pitchFamily="34" charset="0"/>
                <a:ea typeface="+mj-ea"/>
                <a:cs typeface="Arial" pitchFamily="34" charset="0"/>
              </a:rPr>
              <a:t>1. Agentic Sales Companion</a:t>
            </a:r>
          </a:p>
        </p:txBody>
      </p:sp>
      <p:sp>
        <p:nvSpPr>
          <p:cNvPr id="23" name="TextBox 22">
            <a:extLst>
              <a:ext uri="{FF2B5EF4-FFF2-40B4-BE49-F238E27FC236}">
                <a16:creationId xmlns:a16="http://schemas.microsoft.com/office/drawing/2014/main" id="{410A03E6-6AB4-6111-DABD-B78EC081B0C3}"/>
              </a:ext>
            </a:extLst>
          </p:cNvPr>
          <p:cNvSpPr txBox="1"/>
          <p:nvPr/>
        </p:nvSpPr>
        <p:spPr>
          <a:xfrm>
            <a:off x="507541" y="2783077"/>
            <a:ext cx="3449115" cy="522895"/>
          </a:xfrm>
          <a:prstGeom prst="rect">
            <a:avLst/>
          </a:prstGeom>
          <a:noFill/>
        </p:spPr>
        <p:txBody>
          <a:bodyPr wrap="square">
            <a:spAutoFit/>
          </a:bodyP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0" i="0" u="none" strike="noStrike" kern="1200" cap="none" spc="0" normalizeH="0" baseline="0" noProof="0">
                <a:ln>
                  <a:noFill/>
                </a:ln>
                <a:solidFill>
                  <a:srgbClr val="000000"/>
                </a:solidFill>
                <a:effectLst/>
                <a:uLnTx/>
                <a:uFillTx/>
                <a:latin typeface="Arial" charset="0"/>
                <a:ea typeface="+mn-ea"/>
                <a:cs typeface="Arial" charset="0"/>
              </a:rPr>
              <a:t>Enhancing the effectiveness of individual field representatives</a:t>
            </a:r>
          </a:p>
        </p:txBody>
      </p:sp>
      <p:sp>
        <p:nvSpPr>
          <p:cNvPr id="24" name="Title 1">
            <a:extLst>
              <a:ext uri="{FF2B5EF4-FFF2-40B4-BE49-F238E27FC236}">
                <a16:creationId xmlns:a16="http://schemas.microsoft.com/office/drawing/2014/main" id="{D757643A-754C-F4AB-C2A7-31FD7E8449BA}"/>
              </a:ext>
            </a:extLst>
          </p:cNvPr>
          <p:cNvSpPr txBox="1">
            <a:spLocks/>
          </p:cNvSpPr>
          <p:nvPr/>
        </p:nvSpPr>
        <p:spPr>
          <a:xfrm>
            <a:off x="4223237" y="2288375"/>
            <a:ext cx="3655679" cy="248144"/>
          </a:xfrm>
          <a:prstGeom prst="rect">
            <a:avLst/>
          </a:prstGeom>
        </p:spPr>
        <p:txBody>
          <a:bodyPr vert="horz" wrap="square" lIns="0" tIns="0" rIns="0" bIns="0" rtlCol="0" anchor="t"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3851" rtl="0" eaLnBrk="1" fontAlgn="auto" latinLnBrk="0" hangingPunct="1">
              <a:lnSpc>
                <a:spcPct val="100000"/>
              </a:lnSpc>
              <a:spcBef>
                <a:spcPct val="0"/>
              </a:spcBef>
              <a:spcAft>
                <a:spcPts val="0"/>
              </a:spcAft>
              <a:buClrTx/>
              <a:buSzTx/>
              <a:buFontTx/>
              <a:buNone/>
              <a:tabLst/>
              <a:defRPr/>
            </a:pPr>
            <a:r>
              <a:rPr kumimoji="0" lang="en-US" sz="1599" b="1" i="1" u="none" strike="noStrike" kern="1200" cap="none" spc="0" normalizeH="0" baseline="0" noProof="0">
                <a:ln>
                  <a:noFill/>
                </a:ln>
                <a:solidFill>
                  <a:srgbClr val="000000"/>
                </a:solidFill>
                <a:effectLst/>
                <a:uLnTx/>
                <a:uFillTx/>
                <a:latin typeface="Graphik" panose="020B0503030202060203" pitchFamily="34" charset="0"/>
                <a:ea typeface="+mj-ea"/>
                <a:cs typeface="Arial" pitchFamily="34" charset="0"/>
              </a:rPr>
              <a:t>2. Field Force Orchestration</a:t>
            </a:r>
          </a:p>
        </p:txBody>
      </p:sp>
      <p:sp>
        <p:nvSpPr>
          <p:cNvPr id="25" name="TextBox 24">
            <a:extLst>
              <a:ext uri="{FF2B5EF4-FFF2-40B4-BE49-F238E27FC236}">
                <a16:creationId xmlns:a16="http://schemas.microsoft.com/office/drawing/2014/main" id="{C56A174F-D2BA-4E1A-FF19-D5788D81C6AF}"/>
              </a:ext>
            </a:extLst>
          </p:cNvPr>
          <p:cNvSpPr txBox="1"/>
          <p:nvPr/>
        </p:nvSpPr>
        <p:spPr>
          <a:xfrm>
            <a:off x="4346221" y="2783077"/>
            <a:ext cx="3449115" cy="522895"/>
          </a:xfrm>
          <a:prstGeom prst="rect">
            <a:avLst/>
          </a:prstGeom>
          <a:noFill/>
        </p:spPr>
        <p:txBody>
          <a:bodyPr wrap="square">
            <a:spAutoFit/>
          </a:bodyP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0" i="0" u="none" strike="noStrike" kern="1200" cap="none" spc="0" normalizeH="0" baseline="0" noProof="0">
                <a:ln>
                  <a:noFill/>
                </a:ln>
                <a:solidFill>
                  <a:srgbClr val="000000"/>
                </a:solidFill>
                <a:effectLst/>
                <a:uLnTx/>
                <a:uFillTx/>
                <a:latin typeface="Arial" charset="0"/>
                <a:ea typeface="+mn-ea"/>
                <a:cs typeface="Arial" charset="0"/>
              </a:rPr>
              <a:t>Providing management oversight, coordination, and control</a:t>
            </a:r>
          </a:p>
        </p:txBody>
      </p:sp>
      <p:sp>
        <p:nvSpPr>
          <p:cNvPr id="26" name="Title 1">
            <a:extLst>
              <a:ext uri="{FF2B5EF4-FFF2-40B4-BE49-F238E27FC236}">
                <a16:creationId xmlns:a16="http://schemas.microsoft.com/office/drawing/2014/main" id="{5631A648-D965-BD3E-896F-8767980F62AE}"/>
              </a:ext>
            </a:extLst>
          </p:cNvPr>
          <p:cNvSpPr txBox="1">
            <a:spLocks/>
          </p:cNvSpPr>
          <p:nvPr/>
        </p:nvSpPr>
        <p:spPr>
          <a:xfrm>
            <a:off x="8151767" y="2305170"/>
            <a:ext cx="3655679" cy="248144"/>
          </a:xfrm>
          <a:prstGeom prst="rect">
            <a:avLst/>
          </a:prstGeom>
        </p:spPr>
        <p:txBody>
          <a:bodyPr vert="horz" wrap="square" lIns="0" tIns="0" rIns="0" bIns="0" rtlCol="0" anchor="t"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3851" rtl="0" eaLnBrk="1" fontAlgn="auto" latinLnBrk="0" hangingPunct="1">
              <a:lnSpc>
                <a:spcPct val="100000"/>
              </a:lnSpc>
              <a:spcBef>
                <a:spcPct val="0"/>
              </a:spcBef>
              <a:spcAft>
                <a:spcPts val="0"/>
              </a:spcAft>
              <a:buClrTx/>
              <a:buSzTx/>
              <a:buFontTx/>
              <a:buNone/>
              <a:tabLst/>
              <a:defRPr/>
            </a:pPr>
            <a:r>
              <a:rPr kumimoji="0" lang="en-US" sz="1599" b="1" i="1" u="none" strike="noStrike" kern="1200" cap="none" spc="0" normalizeH="0" baseline="0" noProof="0">
                <a:ln>
                  <a:noFill/>
                </a:ln>
                <a:solidFill>
                  <a:srgbClr val="000000"/>
                </a:solidFill>
                <a:effectLst/>
                <a:uLnTx/>
                <a:uFillTx/>
                <a:latin typeface="Graphik" panose="020B0503030202060203" pitchFamily="34" charset="0"/>
                <a:ea typeface="+mj-ea"/>
                <a:cs typeface="Arial" pitchFamily="34" charset="0"/>
              </a:rPr>
              <a:t>3. Intelligent Route Planning</a:t>
            </a:r>
          </a:p>
        </p:txBody>
      </p:sp>
      <p:sp>
        <p:nvSpPr>
          <p:cNvPr id="27" name="TextBox 26">
            <a:extLst>
              <a:ext uri="{FF2B5EF4-FFF2-40B4-BE49-F238E27FC236}">
                <a16:creationId xmlns:a16="http://schemas.microsoft.com/office/drawing/2014/main" id="{B326A8F7-879D-4EAE-D992-98A1B54E1933}"/>
              </a:ext>
            </a:extLst>
          </p:cNvPr>
          <p:cNvSpPr txBox="1"/>
          <p:nvPr/>
        </p:nvSpPr>
        <p:spPr>
          <a:xfrm>
            <a:off x="8274751" y="2783077"/>
            <a:ext cx="3449115" cy="522895"/>
          </a:xfrm>
          <a:prstGeom prst="rect">
            <a:avLst/>
          </a:prstGeom>
          <a:noFill/>
        </p:spPr>
        <p:txBody>
          <a:bodyPr wrap="square">
            <a:spAutoFit/>
          </a:bodyP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0" i="0" u="none" strike="noStrike" kern="1200" cap="none" spc="0" normalizeH="0" baseline="0" noProof="0">
                <a:ln>
                  <a:noFill/>
                </a:ln>
                <a:solidFill>
                  <a:srgbClr val="000000"/>
                </a:solidFill>
                <a:effectLst/>
                <a:uLnTx/>
                <a:uFillTx/>
                <a:latin typeface="Arial" charset="0"/>
                <a:ea typeface="+mn-ea"/>
                <a:cs typeface="Arial" charset="0"/>
              </a:rPr>
              <a:t>Minimizing travel time while maximizing visit coverage</a:t>
            </a:r>
          </a:p>
        </p:txBody>
      </p:sp>
      <p:sp>
        <p:nvSpPr>
          <p:cNvPr id="4" name="Title 1">
            <a:extLst>
              <a:ext uri="{FF2B5EF4-FFF2-40B4-BE49-F238E27FC236}">
                <a16:creationId xmlns:a16="http://schemas.microsoft.com/office/drawing/2014/main" id="{AD7953AF-830F-77ED-E3AA-E405D3891DA5}"/>
              </a:ext>
            </a:extLst>
          </p:cNvPr>
          <p:cNvSpPr txBox="1">
            <a:spLocks/>
          </p:cNvSpPr>
          <p:nvPr/>
        </p:nvSpPr>
        <p:spPr>
          <a:xfrm>
            <a:off x="3010789" y="5219112"/>
            <a:ext cx="11422892" cy="471541"/>
          </a:xfrm>
          <a:prstGeom prst="rect">
            <a:avLst/>
          </a:prstGeom>
        </p:spPr>
        <p:txBody>
          <a:bodyPr vert="horz" lIns="0" tIns="0" rIns="0" bIns="0" rtlCol="0" anchor="t">
            <a:noAutofit/>
          </a:bodyPr>
          <a:lstStyle>
            <a:lvl1pPr algn="l" defTabSz="914034" rtl="0" eaLnBrk="1" latinLnBrk="0" hangingPunct="1">
              <a:lnSpc>
                <a:spcPct val="80000"/>
              </a:lnSpc>
              <a:spcBef>
                <a:spcPct val="0"/>
              </a:spcBef>
              <a:buNone/>
              <a:defRPr sz="3599" b="1" kern="1200">
                <a:solidFill>
                  <a:schemeClr val="tx1"/>
                </a:solidFill>
                <a:latin typeface="+mj-lt"/>
                <a:ea typeface="+mj-ea"/>
                <a:cs typeface="+mj-cs"/>
              </a:defRPr>
            </a:lvl1pPr>
          </a:lstStyle>
          <a:p>
            <a:pPr marL="0" marR="0" lvl="0" indent="0" algn="l" defTabSz="913851" rtl="0" eaLnBrk="1" fontAlgn="auto" latinLnBrk="0" hangingPunct="1">
              <a:lnSpc>
                <a:spcPct val="80000"/>
              </a:lnSpc>
              <a:spcBef>
                <a:spcPct val="0"/>
              </a:spcBef>
              <a:spcAft>
                <a:spcPts val="0"/>
              </a:spcAft>
              <a:buClrTx/>
              <a:buSzTx/>
              <a:buFontTx/>
              <a:buNone/>
              <a:tabLst/>
              <a:defRPr/>
            </a:pPr>
            <a:endParaRPr kumimoji="0" lang="en-US" sz="2000" b="1" i="0" u="none" strike="noStrike" kern="1200" cap="none" spc="0" normalizeH="0" baseline="0" noProof="0" dirty="0">
              <a:ln>
                <a:noFill/>
              </a:ln>
              <a:solidFill>
                <a:srgbClr val="000000"/>
              </a:solidFill>
              <a:effectLst/>
              <a:uLnTx/>
              <a:uFillTx/>
              <a:latin typeface="Graphik"/>
              <a:ea typeface="+mj-ea"/>
              <a:cs typeface="+mj-cs"/>
            </a:endParaRPr>
          </a:p>
        </p:txBody>
      </p:sp>
      <p:sp>
        <p:nvSpPr>
          <p:cNvPr id="7" name="Title 6">
            <a:extLst>
              <a:ext uri="{FF2B5EF4-FFF2-40B4-BE49-F238E27FC236}">
                <a16:creationId xmlns:a16="http://schemas.microsoft.com/office/drawing/2014/main" id="{1FDD2A5C-7C7A-F2DF-A0BA-DB1046FDFFFE}"/>
              </a:ext>
            </a:extLst>
          </p:cNvPr>
          <p:cNvSpPr>
            <a:spLocks noGrp="1"/>
          </p:cNvSpPr>
          <p:nvPr>
            <p:ph type="title"/>
          </p:nvPr>
        </p:nvSpPr>
        <p:spPr/>
        <p:txBody>
          <a:bodyPr/>
          <a:lstStyle/>
          <a:p>
            <a:r>
              <a:rPr lang="en-US" sz="2397" dirty="0"/>
              <a:t>Enabling the IAM Transformation through Agentic AI</a:t>
            </a:r>
            <a:br>
              <a:rPr lang="en-US" sz="2397" dirty="0"/>
            </a:br>
            <a:endParaRPr lang="en-US" sz="2397" dirty="0"/>
          </a:p>
        </p:txBody>
      </p:sp>
    </p:spTree>
    <p:extLst>
      <p:ext uri="{BB962C8B-B14F-4D97-AF65-F5344CB8AC3E}">
        <p14:creationId xmlns:p14="http://schemas.microsoft.com/office/powerpoint/2010/main" val="3319103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21F56-2CB8-ACB5-FDF3-709A3850FE2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ABEE8D5-9B80-BD00-7866-A3A956F737AC}"/>
              </a:ext>
            </a:extLst>
          </p:cNvPr>
          <p:cNvSpPr>
            <a:spLocks noGrp="1"/>
          </p:cNvSpPr>
          <p:nvPr>
            <p:ph type="title"/>
          </p:nvPr>
        </p:nvSpPr>
        <p:spPr>
          <a:xfrm>
            <a:off x="381000" y="441325"/>
            <a:ext cx="10755314" cy="443198"/>
          </a:xfrm>
        </p:spPr>
        <p:txBody>
          <a:bodyPr/>
          <a:lstStyle/>
          <a:p>
            <a:r>
              <a:rPr lang="en-US" sz="2397" b="0" dirty="0">
                <a:latin typeface="Graphik Semibold" panose="020B0703030202060203" pitchFamily="34" charset="0"/>
              </a:rPr>
              <a:t>Modules included in Agentic Sales Companion </a:t>
            </a:r>
          </a:p>
        </p:txBody>
      </p:sp>
      <p:grpSp>
        <p:nvGrpSpPr>
          <p:cNvPr id="17" name="Group 16">
            <a:extLst>
              <a:ext uri="{FF2B5EF4-FFF2-40B4-BE49-F238E27FC236}">
                <a16:creationId xmlns:a16="http://schemas.microsoft.com/office/drawing/2014/main" id="{201B2624-AE83-02F4-50F4-146765CE98A6}"/>
              </a:ext>
            </a:extLst>
          </p:cNvPr>
          <p:cNvGrpSpPr/>
          <p:nvPr/>
        </p:nvGrpSpPr>
        <p:grpSpPr>
          <a:xfrm>
            <a:off x="279401" y="1086806"/>
            <a:ext cx="11484509" cy="1070768"/>
            <a:chOff x="906994" y="1455104"/>
            <a:chExt cx="9210131" cy="4980831"/>
          </a:xfrm>
        </p:grpSpPr>
        <p:sp>
          <p:nvSpPr>
            <p:cNvPr id="18" name="Rectangle 17">
              <a:extLst>
                <a:ext uri="{FF2B5EF4-FFF2-40B4-BE49-F238E27FC236}">
                  <a16:creationId xmlns:a16="http://schemas.microsoft.com/office/drawing/2014/main" id="{6251A357-F6DF-1316-A604-954BD8835509}"/>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3600" b="1" i="0" u="none" strike="noStrike" kern="1200" cap="none" spc="0" normalizeH="0" baseline="0" noProof="0">
                <a:ln>
                  <a:noFill/>
                </a:ln>
                <a:solidFill>
                  <a:prstClr val="white"/>
                </a:solidFill>
                <a:effectLst/>
                <a:uLnTx/>
                <a:uFillTx/>
                <a:latin typeface="Graphik Semibold" panose="020B0503030202060203" pitchFamily="34" charset="77"/>
                <a:ea typeface="+mn-ea"/>
                <a:cs typeface="+mn-cs"/>
              </a:endParaRPr>
            </a:p>
          </p:txBody>
        </p:sp>
        <p:sp>
          <p:nvSpPr>
            <p:cNvPr id="38" name="Rectangle 37">
              <a:extLst>
                <a:ext uri="{FF2B5EF4-FFF2-40B4-BE49-F238E27FC236}">
                  <a16:creationId xmlns:a16="http://schemas.microsoft.com/office/drawing/2014/main" id="{CB8BBB43-1268-BE93-31E8-ED4AA72E0E8E}"/>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1" name="Title 1">
            <a:extLst>
              <a:ext uri="{FF2B5EF4-FFF2-40B4-BE49-F238E27FC236}">
                <a16:creationId xmlns:a16="http://schemas.microsoft.com/office/drawing/2014/main" id="{54C6A773-DAE7-1005-73DF-DA69B48411E0}"/>
              </a:ext>
            </a:extLst>
          </p:cNvPr>
          <p:cNvSpPr txBox="1">
            <a:spLocks/>
          </p:cNvSpPr>
          <p:nvPr/>
        </p:nvSpPr>
        <p:spPr>
          <a:xfrm>
            <a:off x="371686" y="1289897"/>
            <a:ext cx="2075562" cy="597384"/>
          </a:xfrm>
          <a:prstGeom prst="rect">
            <a:avLst/>
          </a:prstGeom>
        </p:spPr>
        <p:txBody>
          <a:bodyPr vert="horz" wrap="square" lIns="0" tIns="0" rIns="0" bIns="0" rtlCol="0" anchor="ctr"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Graphik" panose="020B0503030202060203" pitchFamily="34" charset="0"/>
                <a:ea typeface="+mj-ea"/>
                <a:cs typeface="Arial" pitchFamily="34" charset="0"/>
              </a:rPr>
              <a:t>Intelligent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Graphik" panose="020B0503030202060203" pitchFamily="34" charset="0"/>
                <a:ea typeface="+mj-ea"/>
                <a:cs typeface="Arial" pitchFamily="34" charset="0"/>
              </a:rPr>
              <a:t>Planner</a:t>
            </a:r>
          </a:p>
        </p:txBody>
      </p:sp>
      <p:sp>
        <p:nvSpPr>
          <p:cNvPr id="42" name="TextBox 41">
            <a:extLst>
              <a:ext uri="{FF2B5EF4-FFF2-40B4-BE49-F238E27FC236}">
                <a16:creationId xmlns:a16="http://schemas.microsoft.com/office/drawing/2014/main" id="{E5217D73-7798-D2CC-0ACE-DF804A35F435}"/>
              </a:ext>
            </a:extLst>
          </p:cNvPr>
          <p:cNvSpPr txBox="1"/>
          <p:nvPr/>
        </p:nvSpPr>
        <p:spPr>
          <a:xfrm>
            <a:off x="2601358" y="1254351"/>
            <a:ext cx="8689066" cy="632930"/>
          </a:xfrm>
          <a:prstGeom prst="rect">
            <a:avLst/>
          </a:prstGeom>
          <a:noFill/>
        </p:spPr>
        <p:txBody>
          <a:bodyPr wrap="square"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uLnTx/>
                <a:uFillTx/>
                <a:latin typeface="Graphik"/>
                <a:ea typeface="+mn-ea"/>
                <a:cs typeface="+mn-cs"/>
              </a:rPr>
              <a:t>Activity planner to prioritizes dealer and IR visits based on performance insights, past interactions, and recommended actions for the day or week</a:t>
            </a:r>
          </a:p>
        </p:txBody>
      </p:sp>
      <p:grpSp>
        <p:nvGrpSpPr>
          <p:cNvPr id="44" name="Group 43">
            <a:extLst>
              <a:ext uri="{FF2B5EF4-FFF2-40B4-BE49-F238E27FC236}">
                <a16:creationId xmlns:a16="http://schemas.microsoft.com/office/drawing/2014/main" id="{843B31DA-D431-A83B-DC27-CB2E12F3406D}"/>
              </a:ext>
            </a:extLst>
          </p:cNvPr>
          <p:cNvGrpSpPr/>
          <p:nvPr/>
        </p:nvGrpSpPr>
        <p:grpSpPr>
          <a:xfrm>
            <a:off x="279401" y="2359857"/>
            <a:ext cx="11484509" cy="1070768"/>
            <a:chOff x="906994" y="1455104"/>
            <a:chExt cx="9210131" cy="4980831"/>
          </a:xfrm>
        </p:grpSpPr>
        <p:sp>
          <p:nvSpPr>
            <p:cNvPr id="45" name="Rectangle 44">
              <a:extLst>
                <a:ext uri="{FF2B5EF4-FFF2-40B4-BE49-F238E27FC236}">
                  <a16:creationId xmlns:a16="http://schemas.microsoft.com/office/drawing/2014/main" id="{EF484127-2E44-16CF-6267-E20E186ED431}"/>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3600" b="1" i="0" u="none" strike="noStrike" kern="1200" cap="none" spc="0" normalizeH="0" baseline="0" noProof="0">
                <a:ln>
                  <a:noFill/>
                </a:ln>
                <a:solidFill>
                  <a:prstClr val="white"/>
                </a:solidFill>
                <a:effectLst/>
                <a:uLnTx/>
                <a:uFillTx/>
                <a:latin typeface="Graphik Semibold" panose="020B0503030202060203" pitchFamily="34" charset="77"/>
                <a:ea typeface="+mn-ea"/>
                <a:cs typeface="+mn-cs"/>
              </a:endParaRPr>
            </a:p>
          </p:txBody>
        </p:sp>
        <p:sp>
          <p:nvSpPr>
            <p:cNvPr id="46" name="Rectangle 45">
              <a:extLst>
                <a:ext uri="{FF2B5EF4-FFF2-40B4-BE49-F238E27FC236}">
                  <a16:creationId xmlns:a16="http://schemas.microsoft.com/office/drawing/2014/main" id="{35D740C4-7893-C11C-DB76-320A3E494BF2}"/>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7" name="Title 1">
            <a:extLst>
              <a:ext uri="{FF2B5EF4-FFF2-40B4-BE49-F238E27FC236}">
                <a16:creationId xmlns:a16="http://schemas.microsoft.com/office/drawing/2014/main" id="{55153A59-6D12-A354-F5EA-20417D693322}"/>
              </a:ext>
            </a:extLst>
          </p:cNvPr>
          <p:cNvSpPr txBox="1">
            <a:spLocks/>
          </p:cNvSpPr>
          <p:nvPr/>
        </p:nvSpPr>
        <p:spPr>
          <a:xfrm>
            <a:off x="371686" y="2562948"/>
            <a:ext cx="2075562" cy="597384"/>
          </a:xfrm>
          <a:prstGeom prst="rect">
            <a:avLst/>
          </a:prstGeom>
        </p:spPr>
        <p:txBody>
          <a:bodyPr vert="horz" wrap="square" lIns="0" tIns="0" rIns="0" bIns="0" rtlCol="0" anchor="ctr"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Graphik" panose="020B0503030202060203" pitchFamily="34" charset="0"/>
                <a:ea typeface="+mj-ea"/>
                <a:cs typeface="Arial" pitchFamily="34" charset="0"/>
              </a:rPr>
              <a:t>Structured Visit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Graphik" panose="020B0503030202060203" pitchFamily="34" charset="0"/>
                <a:ea typeface="+mj-ea"/>
                <a:cs typeface="Arial" pitchFamily="34" charset="0"/>
              </a:rPr>
              <a:t>Capture &amp; Reporting </a:t>
            </a:r>
          </a:p>
        </p:txBody>
      </p:sp>
      <p:sp>
        <p:nvSpPr>
          <p:cNvPr id="48" name="TextBox 47">
            <a:extLst>
              <a:ext uri="{FF2B5EF4-FFF2-40B4-BE49-F238E27FC236}">
                <a16:creationId xmlns:a16="http://schemas.microsoft.com/office/drawing/2014/main" id="{D224B602-0259-29A0-24FC-93EBEDE6F7EC}"/>
              </a:ext>
            </a:extLst>
          </p:cNvPr>
          <p:cNvSpPr txBox="1"/>
          <p:nvPr/>
        </p:nvSpPr>
        <p:spPr>
          <a:xfrm>
            <a:off x="2601358" y="2527402"/>
            <a:ext cx="8689066" cy="632930"/>
          </a:xfrm>
          <a:prstGeom prst="rect">
            <a:avLst/>
          </a:prstGeom>
          <a:noFill/>
        </p:spPr>
        <p:txBody>
          <a:bodyPr wrap="square"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uLnTx/>
                <a:uFillTx/>
                <a:latin typeface="Graphik"/>
                <a:ea typeface="+mn-ea"/>
                <a:cs typeface="+mn-cs"/>
              </a:rPr>
              <a:t>Structured report template to capture the visit discussions and a tool to automatically converts inputs into clean, NSC-ready reports and follow-up summaries</a:t>
            </a:r>
          </a:p>
        </p:txBody>
      </p:sp>
      <p:grpSp>
        <p:nvGrpSpPr>
          <p:cNvPr id="49" name="Group 48">
            <a:extLst>
              <a:ext uri="{FF2B5EF4-FFF2-40B4-BE49-F238E27FC236}">
                <a16:creationId xmlns:a16="http://schemas.microsoft.com/office/drawing/2014/main" id="{D0F3E84B-9063-5E34-DF6B-F87BABE7FEB1}"/>
              </a:ext>
            </a:extLst>
          </p:cNvPr>
          <p:cNvGrpSpPr/>
          <p:nvPr/>
        </p:nvGrpSpPr>
        <p:grpSpPr>
          <a:xfrm>
            <a:off x="279401" y="3632908"/>
            <a:ext cx="11484509" cy="1070768"/>
            <a:chOff x="906994" y="1455104"/>
            <a:chExt cx="9210131" cy="4980831"/>
          </a:xfrm>
        </p:grpSpPr>
        <p:sp>
          <p:nvSpPr>
            <p:cNvPr id="50" name="Rectangle 49">
              <a:extLst>
                <a:ext uri="{FF2B5EF4-FFF2-40B4-BE49-F238E27FC236}">
                  <a16:creationId xmlns:a16="http://schemas.microsoft.com/office/drawing/2014/main" id="{D14F9774-5CA0-E823-20E6-8418496C49F8}"/>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3600" b="1" i="0" u="none" strike="noStrike" kern="1200" cap="none" spc="0" normalizeH="0" baseline="0" noProof="0">
                <a:ln>
                  <a:noFill/>
                </a:ln>
                <a:solidFill>
                  <a:prstClr val="white"/>
                </a:solidFill>
                <a:effectLst/>
                <a:uLnTx/>
                <a:uFillTx/>
                <a:latin typeface="Graphik Semibold" panose="020B0503030202060203" pitchFamily="34" charset="77"/>
                <a:ea typeface="+mn-ea"/>
                <a:cs typeface="+mn-cs"/>
              </a:endParaRPr>
            </a:p>
          </p:txBody>
        </p:sp>
        <p:sp>
          <p:nvSpPr>
            <p:cNvPr id="51" name="Rectangle 50">
              <a:extLst>
                <a:ext uri="{FF2B5EF4-FFF2-40B4-BE49-F238E27FC236}">
                  <a16:creationId xmlns:a16="http://schemas.microsoft.com/office/drawing/2014/main" id="{9B117163-1E13-4B55-1B50-DAB815DA1D18}"/>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2" name="Title 1">
            <a:extLst>
              <a:ext uri="{FF2B5EF4-FFF2-40B4-BE49-F238E27FC236}">
                <a16:creationId xmlns:a16="http://schemas.microsoft.com/office/drawing/2014/main" id="{EE5996D4-D36D-1B1C-BA86-816F04C616D3}"/>
              </a:ext>
            </a:extLst>
          </p:cNvPr>
          <p:cNvSpPr txBox="1">
            <a:spLocks/>
          </p:cNvSpPr>
          <p:nvPr/>
        </p:nvSpPr>
        <p:spPr>
          <a:xfrm>
            <a:off x="371686" y="3835999"/>
            <a:ext cx="2075562" cy="597384"/>
          </a:xfrm>
          <a:prstGeom prst="rect">
            <a:avLst/>
          </a:prstGeom>
        </p:spPr>
        <p:txBody>
          <a:bodyPr vert="horz" wrap="square" lIns="0" tIns="0" rIns="0" bIns="0" rtlCol="0" anchor="ctr"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Graphik" panose="020B0503030202060203" pitchFamily="34" charset="0"/>
                <a:ea typeface="+mj-ea"/>
                <a:cs typeface="Arial" pitchFamily="34" charset="0"/>
              </a:rPr>
              <a:t>Dynamic Knowledge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Graphik" panose="020B0503030202060203" pitchFamily="34" charset="0"/>
                <a:ea typeface="+mj-ea"/>
                <a:cs typeface="Arial" pitchFamily="34" charset="0"/>
              </a:rPr>
              <a:t> Assistant </a:t>
            </a:r>
          </a:p>
        </p:txBody>
      </p:sp>
      <p:sp>
        <p:nvSpPr>
          <p:cNvPr id="53" name="TextBox 52">
            <a:extLst>
              <a:ext uri="{FF2B5EF4-FFF2-40B4-BE49-F238E27FC236}">
                <a16:creationId xmlns:a16="http://schemas.microsoft.com/office/drawing/2014/main" id="{53D930FC-EBEE-33ED-CB57-8C54AE77C684}"/>
              </a:ext>
            </a:extLst>
          </p:cNvPr>
          <p:cNvSpPr txBox="1"/>
          <p:nvPr/>
        </p:nvSpPr>
        <p:spPr>
          <a:xfrm>
            <a:off x="2601358" y="3800453"/>
            <a:ext cx="8689066" cy="632930"/>
          </a:xfrm>
          <a:prstGeom prst="rect">
            <a:avLst/>
          </a:prstGeom>
          <a:noFill/>
        </p:spPr>
        <p:txBody>
          <a:bodyPr wrap="square"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uLnTx/>
                <a:uFillTx/>
                <a:latin typeface="Graphik"/>
                <a:ea typeface="+mn-ea"/>
                <a:cs typeface="+mn-cs"/>
              </a:rPr>
              <a:t>A knowledge assistant to provides instant answers on products, policies, tools, and processes using a RAG-based knowledge repository</a:t>
            </a:r>
          </a:p>
        </p:txBody>
      </p:sp>
      <p:grpSp>
        <p:nvGrpSpPr>
          <p:cNvPr id="54" name="Group 53">
            <a:extLst>
              <a:ext uri="{FF2B5EF4-FFF2-40B4-BE49-F238E27FC236}">
                <a16:creationId xmlns:a16="http://schemas.microsoft.com/office/drawing/2014/main" id="{B8849F13-8DDB-BE1A-10FB-9E50EB418F28}"/>
              </a:ext>
            </a:extLst>
          </p:cNvPr>
          <p:cNvGrpSpPr/>
          <p:nvPr/>
        </p:nvGrpSpPr>
        <p:grpSpPr>
          <a:xfrm>
            <a:off x="279401" y="4905958"/>
            <a:ext cx="11484509" cy="1070768"/>
            <a:chOff x="906994" y="1455104"/>
            <a:chExt cx="9210131" cy="4980831"/>
          </a:xfrm>
        </p:grpSpPr>
        <p:sp>
          <p:nvSpPr>
            <p:cNvPr id="55" name="Rectangle 54">
              <a:extLst>
                <a:ext uri="{FF2B5EF4-FFF2-40B4-BE49-F238E27FC236}">
                  <a16:creationId xmlns:a16="http://schemas.microsoft.com/office/drawing/2014/main" id="{92658A37-8BC0-0D24-3D0B-F007A88D3510}"/>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3600" b="1" i="0" u="none" strike="noStrike" kern="1200" cap="none" spc="0" normalizeH="0" baseline="0" noProof="0">
                <a:ln>
                  <a:noFill/>
                </a:ln>
                <a:solidFill>
                  <a:prstClr val="white"/>
                </a:solidFill>
                <a:effectLst/>
                <a:uLnTx/>
                <a:uFillTx/>
                <a:latin typeface="Graphik Semibold" panose="020B0503030202060203" pitchFamily="34" charset="77"/>
                <a:ea typeface="+mn-ea"/>
                <a:cs typeface="+mn-cs"/>
              </a:endParaRPr>
            </a:p>
          </p:txBody>
        </p:sp>
        <p:sp>
          <p:nvSpPr>
            <p:cNvPr id="56" name="Rectangle 55">
              <a:extLst>
                <a:ext uri="{FF2B5EF4-FFF2-40B4-BE49-F238E27FC236}">
                  <a16:creationId xmlns:a16="http://schemas.microsoft.com/office/drawing/2014/main" id="{D60991BC-BE9C-8CE0-D220-314ECF70EE8E}"/>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7" name="Title 1">
            <a:extLst>
              <a:ext uri="{FF2B5EF4-FFF2-40B4-BE49-F238E27FC236}">
                <a16:creationId xmlns:a16="http://schemas.microsoft.com/office/drawing/2014/main" id="{D438C9D7-B064-4434-BA38-E4BF87B10F28}"/>
              </a:ext>
            </a:extLst>
          </p:cNvPr>
          <p:cNvSpPr txBox="1">
            <a:spLocks/>
          </p:cNvSpPr>
          <p:nvPr/>
        </p:nvSpPr>
        <p:spPr>
          <a:xfrm>
            <a:off x="371686" y="5109049"/>
            <a:ext cx="2075562" cy="597384"/>
          </a:xfrm>
          <a:prstGeom prst="rect">
            <a:avLst/>
          </a:prstGeom>
        </p:spPr>
        <p:txBody>
          <a:bodyPr vert="horz" wrap="square" lIns="0" tIns="0" rIns="0" bIns="0" rtlCol="0" anchor="ctr"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Graphik" panose="020B0503030202060203" pitchFamily="34" charset="0"/>
                <a:ea typeface="+mj-ea"/>
                <a:cs typeface="Arial" pitchFamily="34" charset="0"/>
              </a:rPr>
              <a:t>Supporting Operational Activities</a:t>
            </a:r>
          </a:p>
        </p:txBody>
      </p:sp>
      <p:sp>
        <p:nvSpPr>
          <p:cNvPr id="58" name="TextBox 57">
            <a:extLst>
              <a:ext uri="{FF2B5EF4-FFF2-40B4-BE49-F238E27FC236}">
                <a16:creationId xmlns:a16="http://schemas.microsoft.com/office/drawing/2014/main" id="{CC33B9CE-123D-315E-DEED-6CE461A5E09D}"/>
              </a:ext>
            </a:extLst>
          </p:cNvPr>
          <p:cNvSpPr txBox="1"/>
          <p:nvPr/>
        </p:nvSpPr>
        <p:spPr>
          <a:xfrm>
            <a:off x="2601358" y="5073503"/>
            <a:ext cx="8689066" cy="632930"/>
          </a:xfrm>
          <a:prstGeom prst="rect">
            <a:avLst/>
          </a:prstGeom>
          <a:noFill/>
        </p:spPr>
        <p:txBody>
          <a:bodyPr wrap="square"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uLnTx/>
                <a:uFillTx/>
                <a:latin typeface="Graphik"/>
                <a:ea typeface="+mn-ea"/>
                <a:cs typeface="+mn-cs"/>
              </a:rPr>
              <a:t>Tool to automate the routine operational activities - follow-up emails, sharing materials, providing technical assistance, and nudging for timely responses</a:t>
            </a:r>
          </a:p>
        </p:txBody>
      </p:sp>
    </p:spTree>
    <p:extLst>
      <p:ext uri="{BB962C8B-B14F-4D97-AF65-F5344CB8AC3E}">
        <p14:creationId xmlns:p14="http://schemas.microsoft.com/office/powerpoint/2010/main" val="2897560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914FA-A912-7849-93E9-2F13A0968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8BF6C-EC4E-A5BA-F104-3304005C1601}"/>
              </a:ext>
            </a:extLst>
          </p:cNvPr>
          <p:cNvSpPr>
            <a:spLocks noGrp="1"/>
          </p:cNvSpPr>
          <p:nvPr>
            <p:ph type="title"/>
          </p:nvPr>
        </p:nvSpPr>
        <p:spPr/>
        <p:txBody>
          <a:bodyPr/>
          <a:lstStyle/>
          <a:p>
            <a:r>
              <a:rPr lang="en-US" sz="2397" dirty="0"/>
              <a:t>The Agentic Solution Delivers IAM Value Across Key Dimensions</a:t>
            </a:r>
          </a:p>
        </p:txBody>
      </p:sp>
      <p:sp>
        <p:nvSpPr>
          <p:cNvPr id="4" name="TextBox 3">
            <a:extLst>
              <a:ext uri="{FF2B5EF4-FFF2-40B4-BE49-F238E27FC236}">
                <a16:creationId xmlns:a16="http://schemas.microsoft.com/office/drawing/2014/main" id="{30816C72-FF6A-7510-C95A-E5E30FE9F86B}"/>
              </a:ext>
            </a:extLst>
          </p:cNvPr>
          <p:cNvSpPr txBox="1"/>
          <p:nvPr/>
        </p:nvSpPr>
        <p:spPr>
          <a:xfrm>
            <a:off x="325941" y="693882"/>
            <a:ext cx="11733000" cy="697386"/>
          </a:xfrm>
          <a:prstGeom prst="rect">
            <a:avLst/>
          </a:prstGeom>
          <a:noFill/>
        </p:spPr>
        <p:txBody>
          <a:bodyPr wrap="square">
            <a:spAutoFit/>
          </a:bodyPr>
          <a:lstStyle/>
          <a:p>
            <a:pPr marL="0" marR="0" lvl="0" indent="0" algn="l" defTabSz="914217" rtl="0" eaLnBrk="1" fontAlgn="base" latinLnBrk="0" hangingPunct="1">
              <a:lnSpc>
                <a:spcPct val="150000"/>
              </a:lnSpc>
              <a:spcBef>
                <a:spcPct val="0"/>
              </a:spcBef>
              <a:spcAft>
                <a:spcPct val="0"/>
              </a:spcAft>
              <a:buClrTx/>
              <a:buSzTx/>
              <a:buFontTx/>
              <a:buNone/>
              <a:tabLst/>
              <a:defRPr/>
            </a:pPr>
            <a:r>
              <a:rPr kumimoji="0" lang="en-US" sz="1399" b="0" i="0" u="none" strike="noStrike" kern="1200" cap="none" spc="0" normalizeH="0" baseline="0" noProof="0">
                <a:ln>
                  <a:noFill/>
                </a:ln>
                <a:solidFill>
                  <a:srgbClr val="000000"/>
                </a:solidFill>
                <a:effectLst/>
                <a:uLnTx/>
                <a:uFillTx/>
                <a:latin typeface="Arial" charset="0"/>
                <a:ea typeface="+mn-ea"/>
                <a:cs typeface="Arial" charset="0"/>
              </a:rPr>
              <a:t>The agentic solution translates core capabilities into measurable gains across efficiency, field productivity, dealer engagement, and management visibility- directly supporting aftermarket growth.</a:t>
            </a:r>
          </a:p>
        </p:txBody>
      </p:sp>
      <p:graphicFrame>
        <p:nvGraphicFramePr>
          <p:cNvPr id="6" name="Table 5">
            <a:extLst>
              <a:ext uri="{FF2B5EF4-FFF2-40B4-BE49-F238E27FC236}">
                <a16:creationId xmlns:a16="http://schemas.microsoft.com/office/drawing/2014/main" id="{45C01552-5BB7-17DB-2A23-CBFA67774D82}"/>
              </a:ext>
            </a:extLst>
          </p:cNvPr>
          <p:cNvGraphicFramePr>
            <a:graphicFrameLocks noGrp="1"/>
          </p:cNvGraphicFramePr>
          <p:nvPr/>
        </p:nvGraphicFramePr>
        <p:xfrm>
          <a:off x="384555" y="1670645"/>
          <a:ext cx="11447706" cy="4019749"/>
        </p:xfrm>
        <a:graphic>
          <a:graphicData uri="http://schemas.openxmlformats.org/drawingml/2006/table">
            <a:tbl>
              <a:tblPr/>
              <a:tblGrid>
                <a:gridCol w="1395561">
                  <a:extLst>
                    <a:ext uri="{9D8B030D-6E8A-4147-A177-3AD203B41FA5}">
                      <a16:colId xmlns:a16="http://schemas.microsoft.com/office/drawing/2014/main" val="856640041"/>
                    </a:ext>
                  </a:extLst>
                </a:gridCol>
                <a:gridCol w="2010429">
                  <a:extLst>
                    <a:ext uri="{9D8B030D-6E8A-4147-A177-3AD203B41FA5}">
                      <a16:colId xmlns:a16="http://schemas.microsoft.com/office/drawing/2014/main" val="528688130"/>
                    </a:ext>
                  </a:extLst>
                </a:gridCol>
                <a:gridCol w="2010429">
                  <a:extLst>
                    <a:ext uri="{9D8B030D-6E8A-4147-A177-3AD203B41FA5}">
                      <a16:colId xmlns:a16="http://schemas.microsoft.com/office/drawing/2014/main" val="1485175068"/>
                    </a:ext>
                  </a:extLst>
                </a:gridCol>
                <a:gridCol w="2010429">
                  <a:extLst>
                    <a:ext uri="{9D8B030D-6E8A-4147-A177-3AD203B41FA5}">
                      <a16:colId xmlns:a16="http://schemas.microsoft.com/office/drawing/2014/main" val="3086185279"/>
                    </a:ext>
                  </a:extLst>
                </a:gridCol>
                <a:gridCol w="2010429">
                  <a:extLst>
                    <a:ext uri="{9D8B030D-6E8A-4147-A177-3AD203B41FA5}">
                      <a16:colId xmlns:a16="http://schemas.microsoft.com/office/drawing/2014/main" val="2778267932"/>
                    </a:ext>
                  </a:extLst>
                </a:gridCol>
                <a:gridCol w="2010429">
                  <a:extLst>
                    <a:ext uri="{9D8B030D-6E8A-4147-A177-3AD203B41FA5}">
                      <a16:colId xmlns:a16="http://schemas.microsoft.com/office/drawing/2014/main" val="3795826018"/>
                    </a:ext>
                  </a:extLst>
                </a:gridCol>
              </a:tblGrid>
              <a:tr h="362016">
                <a:tc>
                  <a:txBody>
                    <a:bodyPr/>
                    <a:lstStyle/>
                    <a:p>
                      <a:pPr>
                        <a:buNone/>
                      </a:pPr>
                      <a:r>
                        <a:rPr lang="en-US" sz="1000" b="1">
                          <a:solidFill>
                            <a:schemeClr val="bg1"/>
                          </a:solidFill>
                        </a:rPr>
                        <a:t>Solution Component</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US" sz="1000" b="1">
                          <a:solidFill>
                            <a:schemeClr val="bg1"/>
                          </a:solidFill>
                        </a:rPr>
                        <a:t>Key Solution Capability</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US" sz="1000" b="1">
                          <a:solidFill>
                            <a:schemeClr val="bg1"/>
                          </a:solidFill>
                        </a:rPr>
                        <a:t>Efficiency Gains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US" sz="1000" b="1">
                          <a:solidFill>
                            <a:schemeClr val="bg1"/>
                          </a:solidFill>
                        </a:rPr>
                        <a:t>Higher Productivity &amp; Sales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US" sz="1000" b="1">
                          <a:solidFill>
                            <a:schemeClr val="bg1"/>
                          </a:solidFill>
                        </a:rPr>
                        <a:t>Better Dealer / IR Engagement</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US" sz="1000" b="1">
                          <a:solidFill>
                            <a:schemeClr val="bg1"/>
                          </a:solidFill>
                        </a:rPr>
                        <a:t>Improved Management Visibility</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893410451"/>
                  </a:ext>
                </a:extLst>
              </a:tr>
              <a:tr h="845418">
                <a:tc rowSpan="3">
                  <a:txBody>
                    <a:bodyPr/>
                    <a:lstStyle/>
                    <a:p>
                      <a:pPr>
                        <a:buNone/>
                      </a:pPr>
                      <a:r>
                        <a:rPr lang="en-US" sz="1000" b="1"/>
                        <a:t>1. Agentic Sales Companion </a:t>
                      </a:r>
                    </a:p>
                    <a:p>
                      <a:pPr>
                        <a:buNone/>
                      </a:pPr>
                      <a:endParaRPr lang="en-US" sz="1000" b="1"/>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0"/>
                        <a:t>Intelligent planning of field visits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Reduces manual time spent reviewing dealer data </a:t>
                      </a:r>
                    </a:p>
                    <a:p>
                      <a:pPr marL="171450" indent="-171450">
                        <a:buFont typeface="Arial" panose="020B0604020202020204" pitchFamily="34" charset="0"/>
                        <a:buChar char="•"/>
                      </a:pPr>
                      <a:r>
                        <a:rPr lang="en-US" sz="1000"/>
                        <a:t>AI prioritizes high-potential garages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Focus on high-opportunity dealers/IR</a:t>
                      </a:r>
                    </a:p>
                    <a:p>
                      <a:pPr marL="171450" indent="-171450">
                        <a:buFont typeface="Arial" panose="020B0604020202020204" pitchFamily="34" charset="0"/>
                        <a:buChar char="•"/>
                      </a:pPr>
                      <a:r>
                        <a:rPr lang="en-US" sz="1000"/>
                        <a:t>Improves visit effectiveness and conversion</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Ensures regular engagement with key IAM dealers/IR</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Enables analysis of visit coverage and planning effectiveness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6451240"/>
                  </a:ext>
                </a:extLst>
              </a:tr>
              <a:tr h="845418">
                <a:tc vMerge="1">
                  <a:txBody>
                    <a:bodyPr/>
                    <a:lstStyle/>
                    <a:p>
                      <a:pPr>
                        <a:buNone/>
                      </a:pPr>
                      <a:endParaRPr lang="en-US" sz="1050"/>
                    </a:p>
                  </a:txBody>
                  <a:tcPr marL="42203" marR="42203" marT="21101" marB="21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0"/>
                        <a:t>AI-assisted dealer / IR engagement</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Reduces preparation time for sales discussions </a:t>
                      </a:r>
                    </a:p>
                    <a:p>
                      <a:pPr marL="171450" indent="-171450">
                        <a:buFont typeface="Arial" panose="020B0604020202020204" pitchFamily="34" charset="0"/>
                        <a:buChar char="•"/>
                      </a:pPr>
                      <a:r>
                        <a:rPr lang="en-US" sz="1000"/>
                        <a:t>AI generates contextual talking points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Improves conversion of visits into genuine parts orders </a:t>
                      </a:r>
                    </a:p>
                    <a:p>
                      <a:pPr marL="171450" indent="-171450">
                        <a:buFont typeface="Arial" panose="020B0604020202020204" pitchFamily="34" charset="0"/>
                        <a:buChar char="•"/>
                      </a:pPr>
                      <a:r>
                        <a:rPr lang="en-US" sz="1000"/>
                        <a:t>Enhances effectiveness of each visit</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Tailored conversations aligned to dealer/IR needs </a:t>
                      </a:r>
                    </a:p>
                    <a:p>
                      <a:pPr marL="171450" indent="-171450">
                        <a:buFont typeface="Arial" panose="020B0604020202020204" pitchFamily="34" charset="0"/>
                        <a:buChar char="•"/>
                      </a:pPr>
                      <a:r>
                        <a:rPr lang="en-US" sz="1000"/>
                        <a:t>Builds stronger dealer relationships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Captures dealer feedback and interaction insights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4537876"/>
                  </a:ext>
                </a:extLst>
              </a:tr>
              <a:tr h="681857">
                <a:tc vMerge="1">
                  <a:txBody>
                    <a:bodyPr/>
                    <a:lstStyle/>
                    <a:p>
                      <a:pPr>
                        <a:buNone/>
                      </a:pPr>
                      <a:endParaRPr lang="en-US" sz="1050"/>
                    </a:p>
                  </a:txBody>
                  <a:tcPr marL="42203" marR="42203" marT="21101" marB="21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0"/>
                        <a:t>Automated reporting and knowledge capture</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Eliminates manual report preparation </a:t>
                      </a:r>
                    </a:p>
                    <a:p>
                      <a:pPr marL="171450" indent="-171450">
                        <a:buFont typeface="Arial" panose="020B0604020202020204" pitchFamily="34" charset="0"/>
                        <a:buChar char="•"/>
                      </a:pPr>
                      <a:r>
                        <a:rPr lang="en-US" sz="1000"/>
                        <a:t>Reduces reporting time significantly</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Frees time for additional field visits </a:t>
                      </a:r>
                    </a:p>
                    <a:p>
                      <a:pPr marL="171450" indent="-171450">
                        <a:buFont typeface="Arial" panose="020B0604020202020204" pitchFamily="34" charset="0"/>
                        <a:buChar char="•"/>
                      </a:pPr>
                      <a:r>
                        <a:rPr lang="en-US" sz="1000"/>
                        <a:t>Improves sales rep productivity</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Ensures structured documentation of dealer interactions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Real-time field insights captured for central analysis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9762339"/>
                  </a:ext>
                </a:extLst>
              </a:tr>
              <a:tr h="642520">
                <a:tc>
                  <a:txBody>
                    <a:bodyPr/>
                    <a:lstStyle/>
                    <a:p>
                      <a:pPr>
                        <a:buNone/>
                      </a:pPr>
                      <a:r>
                        <a:rPr lang="en-US" sz="1000" b="1"/>
                        <a:t>2. Field Force Orchestration</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0"/>
                        <a:t>Field force orchestration for management</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Reduces manual coordination of field activities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Enables optimized allocation of reps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Ensures balanced dealer engagement across territories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Real-time dashboards on field performance, coverage, and activity. </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6618367"/>
                  </a:ext>
                </a:extLst>
              </a:tr>
              <a:tr h="642520">
                <a:tc>
                  <a:txBody>
                    <a:bodyPr/>
                    <a:lstStyle/>
                    <a:p>
                      <a:pPr>
                        <a:buNone/>
                      </a:pPr>
                      <a:r>
                        <a:rPr lang="en-US" sz="1000" b="1"/>
                        <a:t>3. Route Optimization</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0"/>
                        <a:t>Travel optimization through route planning</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Reduces travel time between visits</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Enables more dealer visits per day</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Increases frequency of dealer engagement</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t>Provides insights into territory coverage and travel efficiency</a:t>
                      </a:r>
                    </a:p>
                  </a:txBody>
                  <a:tcPr marL="42177" marR="42177" marT="21088" marB="210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8745390"/>
                  </a:ext>
                </a:extLst>
              </a:tr>
            </a:tbl>
          </a:graphicData>
        </a:graphic>
      </p:graphicFrame>
      <p:sp>
        <p:nvSpPr>
          <p:cNvPr id="10" name="TextBox 9">
            <a:extLst>
              <a:ext uri="{FF2B5EF4-FFF2-40B4-BE49-F238E27FC236}">
                <a16:creationId xmlns:a16="http://schemas.microsoft.com/office/drawing/2014/main" id="{D0A772EB-141A-62F5-5109-7215C527F7E4}"/>
              </a:ext>
            </a:extLst>
          </p:cNvPr>
          <p:cNvSpPr txBox="1"/>
          <p:nvPr/>
        </p:nvSpPr>
        <p:spPr>
          <a:xfrm>
            <a:off x="325941" y="5777717"/>
            <a:ext cx="11733000" cy="577716"/>
          </a:xfrm>
          <a:prstGeom prst="rect">
            <a:avLst/>
          </a:prstGeom>
          <a:noFill/>
        </p:spPr>
        <p:txBody>
          <a:bodyPr wrap="square">
            <a:spAutoFit/>
          </a:bodyPr>
          <a:lstStyle/>
          <a:p>
            <a:pPr marL="0" marR="0" lvl="0" indent="0" algn="l" defTabSz="914217" rtl="0" eaLnBrk="1" fontAlgn="base" latinLnBrk="0" hangingPunct="1">
              <a:lnSpc>
                <a:spcPct val="150000"/>
              </a:lnSpc>
              <a:spcBef>
                <a:spcPct val="0"/>
              </a:spcBef>
              <a:spcAft>
                <a:spcPct val="0"/>
              </a:spcAft>
              <a:buClrTx/>
              <a:buSzTx/>
              <a:buFontTx/>
              <a:buNone/>
              <a:tabLst/>
              <a:defRPr/>
            </a:pPr>
            <a:r>
              <a:rPr kumimoji="0" lang="en-US" sz="1399" b="1" i="0" u="none" strike="noStrike" kern="1200" cap="none" spc="0" normalizeH="0" baseline="0" noProof="0" dirty="0">
                <a:ln>
                  <a:noFill/>
                </a:ln>
                <a:solidFill>
                  <a:srgbClr val="000000"/>
                </a:solidFill>
                <a:effectLst/>
                <a:uLnTx/>
                <a:uFillTx/>
                <a:latin typeface="Arial" charset="0"/>
                <a:ea typeface="+mn-ea"/>
                <a:cs typeface="Arial" charset="0"/>
              </a:rPr>
              <a:t>The expected efficiency gain (</a:t>
            </a:r>
            <a:r>
              <a:rPr kumimoji="0" lang="en-US" sz="1399" b="1" i="0" u="none" strike="noStrike" kern="1200" cap="none" spc="0" normalizeH="0" baseline="0" noProof="0" dirty="0">
                <a:ln>
                  <a:noFill/>
                </a:ln>
                <a:solidFill>
                  <a:srgbClr val="7500C0"/>
                </a:solidFill>
                <a:effectLst/>
                <a:uLnTx/>
                <a:uFillTx/>
                <a:latin typeface="Arial" charset="0"/>
                <a:ea typeface="+mn-ea"/>
                <a:cs typeface="Arial" charset="0"/>
              </a:rPr>
              <a:t>reduced work effort</a:t>
            </a:r>
            <a:r>
              <a:rPr kumimoji="0" lang="en-US" sz="1399" b="1" i="0" u="none" strike="noStrike" kern="1200" cap="none" spc="0" normalizeH="0" baseline="0" noProof="0" dirty="0">
                <a:ln>
                  <a:noFill/>
                </a:ln>
                <a:solidFill>
                  <a:srgbClr val="000000"/>
                </a:solidFill>
                <a:effectLst/>
                <a:uLnTx/>
                <a:uFillTx/>
                <a:latin typeface="Arial" charset="0"/>
                <a:ea typeface="+mn-ea"/>
                <a:cs typeface="Arial" charset="0"/>
              </a:rPr>
              <a:t>) approximately </a:t>
            </a:r>
            <a:r>
              <a:rPr kumimoji="0" lang="en-US" sz="2400" b="1" i="0" u="none" strike="noStrike" kern="1200" cap="none" spc="0" normalizeH="0" baseline="0" noProof="0" dirty="0">
                <a:ln>
                  <a:noFill/>
                </a:ln>
                <a:solidFill>
                  <a:srgbClr val="A100FF"/>
                </a:solidFill>
                <a:effectLst/>
                <a:uLnTx/>
                <a:uFillTx/>
                <a:latin typeface="Arial" charset="0"/>
                <a:ea typeface="+mn-ea"/>
                <a:cs typeface="Arial" charset="0"/>
              </a:rPr>
              <a:t>~ 40</a:t>
            </a:r>
            <a:r>
              <a:rPr kumimoji="0" lang="en-US" sz="2400" b="0" i="0" u="none" strike="noStrike" kern="1200" cap="none" spc="0" normalizeH="0" baseline="0" noProof="0" dirty="0">
                <a:ln>
                  <a:noFill/>
                </a:ln>
                <a:solidFill>
                  <a:srgbClr val="A100FF"/>
                </a:solidFill>
                <a:effectLst/>
                <a:uLnTx/>
                <a:uFillTx/>
                <a:latin typeface="Arial" charset="0"/>
                <a:ea typeface="+mn-ea"/>
                <a:cs typeface="Arial" charset="0"/>
              </a:rPr>
              <a:t>%</a:t>
            </a:r>
            <a:r>
              <a:rPr kumimoji="0" lang="en-US" sz="1399" b="0" i="0" u="none" strike="noStrike" kern="1200" cap="none" spc="0" normalizeH="0" baseline="0" noProof="0" dirty="0">
                <a:ln>
                  <a:noFill/>
                </a:ln>
                <a:solidFill>
                  <a:srgbClr val="000000"/>
                </a:solidFill>
                <a:effectLst/>
                <a:uLnTx/>
                <a:uFillTx/>
                <a:latin typeface="Arial" charset="0"/>
                <a:ea typeface="+mn-ea"/>
                <a:cs typeface="Arial" charset="0"/>
              </a:rPr>
              <a:t>. A detailed analysis of work packages 13-18 can be found </a:t>
            </a:r>
            <a:r>
              <a:rPr kumimoji="0" lang="en-US" sz="1399" b="0" i="0" u="none" strike="noStrike" kern="1200" cap="none" spc="0" normalizeH="0" baseline="0" noProof="0" dirty="0">
                <a:ln>
                  <a:noFill/>
                </a:ln>
                <a:solidFill>
                  <a:srgbClr val="A100FF"/>
                </a:solidFill>
                <a:effectLst/>
                <a:uLnTx/>
                <a:uFillTx/>
                <a:latin typeface="Arial" charset="0"/>
                <a:ea typeface="+mn-ea"/>
                <a:cs typeface="Arial" charset="0"/>
                <a:hlinkClick r:id="rId2" action="ppaction://hlinksldjump"/>
              </a:rPr>
              <a:t>here</a:t>
            </a:r>
            <a:endParaRPr kumimoji="0" lang="en-US" sz="1399" b="0" i="0" u="none" strike="noStrike" kern="1200" cap="none" spc="0" normalizeH="0" baseline="0" noProof="0" dirty="0">
              <a:ln>
                <a:noFill/>
              </a:ln>
              <a:solidFill>
                <a:srgbClr val="A100FF"/>
              </a:solidFill>
              <a:effectLst/>
              <a:uLnTx/>
              <a:uFillTx/>
              <a:latin typeface="Arial" charset="0"/>
              <a:ea typeface="+mn-ea"/>
              <a:cs typeface="Arial" charset="0"/>
            </a:endParaRPr>
          </a:p>
        </p:txBody>
      </p:sp>
      <p:sp>
        <p:nvSpPr>
          <p:cNvPr id="3" name="Rectangle 2">
            <a:extLst>
              <a:ext uri="{FF2B5EF4-FFF2-40B4-BE49-F238E27FC236}">
                <a16:creationId xmlns:a16="http://schemas.microsoft.com/office/drawing/2014/main" id="{695BE3A7-B5B3-1AD3-2A5A-585F6EB4DE4A}"/>
              </a:ext>
            </a:extLst>
          </p:cNvPr>
          <p:cNvSpPr/>
          <p:nvPr/>
        </p:nvSpPr>
        <p:spPr>
          <a:xfrm>
            <a:off x="3794984" y="1434929"/>
            <a:ext cx="8037274" cy="202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19" bIns="91419"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Graphik"/>
                <a:ea typeface="+mn-ea"/>
                <a:cs typeface="+mn-cs"/>
              </a:rPr>
              <a:t>Key Dimensions</a:t>
            </a:r>
          </a:p>
        </p:txBody>
      </p:sp>
    </p:spTree>
    <p:extLst>
      <p:ext uri="{BB962C8B-B14F-4D97-AF65-F5344CB8AC3E}">
        <p14:creationId xmlns:p14="http://schemas.microsoft.com/office/powerpoint/2010/main" val="292584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91A1E-CA68-2D72-9861-3B444575AA32}"/>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30E1EE5F-C57C-9F75-3A34-E071B3F55C28}"/>
              </a:ext>
            </a:extLst>
          </p:cNvPr>
          <p:cNvSpPr/>
          <p:nvPr/>
        </p:nvSpPr>
        <p:spPr>
          <a:xfrm>
            <a:off x="188735" y="1275761"/>
            <a:ext cx="11814532" cy="1702211"/>
          </a:xfrm>
          <a:prstGeom prst="rect">
            <a:avLst/>
          </a:prstGeom>
          <a:solidFill>
            <a:schemeClr val="accent2">
              <a:alpha val="7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tIns="91383" bIns="91383"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err="1">
              <a:ln>
                <a:noFill/>
              </a:ln>
              <a:solidFill>
                <a:srgbClr val="FFFFFF"/>
              </a:solidFill>
              <a:effectLst/>
              <a:uLnTx/>
              <a:uFillTx/>
              <a:latin typeface="Graphik"/>
              <a:ea typeface="+mn-ea"/>
              <a:cs typeface="+mn-cs"/>
            </a:endParaRPr>
          </a:p>
        </p:txBody>
      </p:sp>
      <p:sp>
        <p:nvSpPr>
          <p:cNvPr id="2" name="Title 1">
            <a:extLst>
              <a:ext uri="{FF2B5EF4-FFF2-40B4-BE49-F238E27FC236}">
                <a16:creationId xmlns:a16="http://schemas.microsoft.com/office/drawing/2014/main" id="{B7046D22-F1CE-0A00-9073-545D139B6E83}"/>
              </a:ext>
            </a:extLst>
          </p:cNvPr>
          <p:cNvSpPr>
            <a:spLocks noGrp="1"/>
          </p:cNvSpPr>
          <p:nvPr>
            <p:ph type="title"/>
          </p:nvPr>
        </p:nvSpPr>
        <p:spPr>
          <a:xfrm>
            <a:off x="384554" y="381001"/>
            <a:ext cx="11422892" cy="402747"/>
          </a:xfrm>
        </p:spPr>
        <p:txBody>
          <a:bodyPr/>
          <a:lstStyle/>
          <a:p>
            <a:r>
              <a:rPr lang="en-US" sz="2397" dirty="0"/>
              <a:t>Costing</a:t>
            </a:r>
          </a:p>
        </p:txBody>
      </p:sp>
      <p:grpSp>
        <p:nvGrpSpPr>
          <p:cNvPr id="5" name="Group 4">
            <a:extLst>
              <a:ext uri="{FF2B5EF4-FFF2-40B4-BE49-F238E27FC236}">
                <a16:creationId xmlns:a16="http://schemas.microsoft.com/office/drawing/2014/main" id="{75355770-B9B2-367C-22CB-302E71CCCE85}"/>
              </a:ext>
            </a:extLst>
          </p:cNvPr>
          <p:cNvGrpSpPr/>
          <p:nvPr/>
        </p:nvGrpSpPr>
        <p:grpSpPr>
          <a:xfrm>
            <a:off x="384927" y="1410614"/>
            <a:ext cx="3690491" cy="548513"/>
            <a:chOff x="906994" y="1455104"/>
            <a:chExt cx="9210131" cy="4980831"/>
          </a:xfrm>
        </p:grpSpPr>
        <p:sp>
          <p:nvSpPr>
            <p:cNvPr id="7" name="Rectangle 6">
              <a:extLst>
                <a:ext uri="{FF2B5EF4-FFF2-40B4-BE49-F238E27FC236}">
                  <a16:creationId xmlns:a16="http://schemas.microsoft.com/office/drawing/2014/main" id="{9A875012-755E-0963-6356-3AAB7451D3F4}"/>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2754" rtl="0" eaLnBrk="1" fontAlgn="base" latinLnBrk="0" hangingPunct="1">
                <a:lnSpc>
                  <a:spcPct val="100000"/>
                </a:lnSpc>
                <a:spcBef>
                  <a:spcPct val="0"/>
                </a:spcBef>
                <a:spcAft>
                  <a:spcPct val="0"/>
                </a:spcAft>
                <a:buClrTx/>
                <a:buSzTx/>
                <a:buFontTx/>
                <a:buNone/>
                <a:tabLst/>
                <a:defRPr/>
              </a:pPr>
              <a:endParaRPr kumimoji="0" lang="en-US" sz="3594" b="1" i="0" u="none" strike="noStrike" kern="1200" cap="none" spc="0" normalizeH="0" baseline="0" noProof="0">
                <a:ln>
                  <a:noFill/>
                </a:ln>
                <a:solidFill>
                  <a:prstClr val="white"/>
                </a:solidFill>
                <a:effectLst/>
                <a:uLnTx/>
                <a:uFillTx/>
                <a:latin typeface="Graphik Semibold" panose="020B0503030202060203" pitchFamily="34" charset="77"/>
                <a:ea typeface="+mn-ea"/>
                <a:cs typeface="Arial" charset="0"/>
              </a:endParaRPr>
            </a:p>
          </p:txBody>
        </p:sp>
        <p:sp>
          <p:nvSpPr>
            <p:cNvPr id="8" name="Rectangle 7">
              <a:extLst>
                <a:ext uri="{FF2B5EF4-FFF2-40B4-BE49-F238E27FC236}">
                  <a16:creationId xmlns:a16="http://schemas.microsoft.com/office/drawing/2014/main" id="{770048D1-D8BB-DD79-62F9-EE1BE051F742}"/>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754" rtl="0" eaLnBrk="1" fontAlgn="base" latinLnBrk="0" hangingPunct="1">
                <a:lnSpc>
                  <a:spcPct val="100000"/>
                </a:lnSpc>
                <a:spcBef>
                  <a:spcPct val="0"/>
                </a:spcBef>
                <a:spcAft>
                  <a:spcPct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8">
            <a:extLst>
              <a:ext uri="{FF2B5EF4-FFF2-40B4-BE49-F238E27FC236}">
                <a16:creationId xmlns:a16="http://schemas.microsoft.com/office/drawing/2014/main" id="{F580592C-D05A-9B38-AF86-EC10B0999943}"/>
              </a:ext>
            </a:extLst>
          </p:cNvPr>
          <p:cNvGrpSpPr/>
          <p:nvPr/>
        </p:nvGrpSpPr>
        <p:grpSpPr>
          <a:xfrm>
            <a:off x="4228996" y="1410614"/>
            <a:ext cx="3690492" cy="548513"/>
            <a:chOff x="906994" y="1455104"/>
            <a:chExt cx="9210131" cy="4980831"/>
          </a:xfrm>
        </p:grpSpPr>
        <p:sp>
          <p:nvSpPr>
            <p:cNvPr id="10" name="Rectangle 9">
              <a:extLst>
                <a:ext uri="{FF2B5EF4-FFF2-40B4-BE49-F238E27FC236}">
                  <a16:creationId xmlns:a16="http://schemas.microsoft.com/office/drawing/2014/main" id="{337F41F0-E223-94EF-C55C-9F6BA8FBBFA1}"/>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2754" rtl="0" eaLnBrk="1" fontAlgn="base" latinLnBrk="0" hangingPunct="1">
                <a:lnSpc>
                  <a:spcPct val="100000"/>
                </a:lnSpc>
                <a:spcBef>
                  <a:spcPct val="0"/>
                </a:spcBef>
                <a:spcAft>
                  <a:spcPct val="0"/>
                </a:spcAft>
                <a:buClrTx/>
                <a:buSzTx/>
                <a:buFontTx/>
                <a:buNone/>
                <a:tabLst/>
                <a:defRPr/>
              </a:pPr>
              <a:endParaRPr kumimoji="0" lang="en-US" sz="3594" b="1" i="0" u="none" strike="noStrike" kern="1200" cap="none" spc="0" normalizeH="0" baseline="0" noProof="0">
                <a:ln>
                  <a:noFill/>
                </a:ln>
                <a:solidFill>
                  <a:prstClr val="white"/>
                </a:solidFill>
                <a:effectLst/>
                <a:uLnTx/>
                <a:uFillTx/>
                <a:latin typeface="Graphik Semibold" panose="020B0503030202060203" pitchFamily="34" charset="77"/>
                <a:ea typeface="+mn-ea"/>
                <a:cs typeface="Arial" charset="0"/>
              </a:endParaRPr>
            </a:p>
          </p:txBody>
        </p:sp>
        <p:sp>
          <p:nvSpPr>
            <p:cNvPr id="11" name="Rectangle 10">
              <a:extLst>
                <a:ext uri="{FF2B5EF4-FFF2-40B4-BE49-F238E27FC236}">
                  <a16:creationId xmlns:a16="http://schemas.microsoft.com/office/drawing/2014/main" id="{07A4B370-E93B-9857-2DC0-631EB8EC952D}"/>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754" rtl="0" eaLnBrk="1" fontAlgn="base" latinLnBrk="0" hangingPunct="1">
                <a:lnSpc>
                  <a:spcPct val="100000"/>
                </a:lnSpc>
                <a:spcBef>
                  <a:spcPct val="0"/>
                </a:spcBef>
                <a:spcAft>
                  <a:spcPct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1">
            <a:extLst>
              <a:ext uri="{FF2B5EF4-FFF2-40B4-BE49-F238E27FC236}">
                <a16:creationId xmlns:a16="http://schemas.microsoft.com/office/drawing/2014/main" id="{5123F9EA-106A-4F7F-1486-79F94AA110E6}"/>
              </a:ext>
            </a:extLst>
          </p:cNvPr>
          <p:cNvGrpSpPr/>
          <p:nvPr/>
        </p:nvGrpSpPr>
        <p:grpSpPr>
          <a:xfrm>
            <a:off x="8062905" y="1410614"/>
            <a:ext cx="3690493" cy="548513"/>
            <a:chOff x="906994" y="1455104"/>
            <a:chExt cx="9210131" cy="4980831"/>
          </a:xfrm>
        </p:grpSpPr>
        <p:sp>
          <p:nvSpPr>
            <p:cNvPr id="13" name="Rectangle 12">
              <a:extLst>
                <a:ext uri="{FF2B5EF4-FFF2-40B4-BE49-F238E27FC236}">
                  <a16:creationId xmlns:a16="http://schemas.microsoft.com/office/drawing/2014/main" id="{3AEEB726-E87D-ABC1-22D9-1DD1ABB8D4C0}"/>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2754" rtl="0" eaLnBrk="1" fontAlgn="base" latinLnBrk="0" hangingPunct="1">
                <a:lnSpc>
                  <a:spcPct val="100000"/>
                </a:lnSpc>
                <a:spcBef>
                  <a:spcPct val="0"/>
                </a:spcBef>
                <a:spcAft>
                  <a:spcPct val="0"/>
                </a:spcAft>
                <a:buClrTx/>
                <a:buSzTx/>
                <a:buFontTx/>
                <a:buNone/>
                <a:tabLst/>
                <a:defRPr/>
              </a:pPr>
              <a:endParaRPr kumimoji="0" lang="en-US" sz="3594" b="1" i="0" u="none" strike="noStrike" kern="1200" cap="none" spc="0" normalizeH="0" baseline="0" noProof="0">
                <a:ln>
                  <a:noFill/>
                </a:ln>
                <a:solidFill>
                  <a:prstClr val="white"/>
                </a:solidFill>
                <a:effectLst/>
                <a:uLnTx/>
                <a:uFillTx/>
                <a:latin typeface="Graphik Semibold" panose="020B0503030202060203" pitchFamily="34" charset="77"/>
                <a:ea typeface="+mn-ea"/>
                <a:cs typeface="Arial" charset="0"/>
              </a:endParaRPr>
            </a:p>
          </p:txBody>
        </p:sp>
        <p:sp>
          <p:nvSpPr>
            <p:cNvPr id="14" name="Rectangle 13">
              <a:extLst>
                <a:ext uri="{FF2B5EF4-FFF2-40B4-BE49-F238E27FC236}">
                  <a16:creationId xmlns:a16="http://schemas.microsoft.com/office/drawing/2014/main" id="{ECAF7F14-76C0-3F60-84D9-B0BC743EE5E0}"/>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754" rtl="0" eaLnBrk="1" fontAlgn="base" latinLnBrk="0" hangingPunct="1">
                <a:lnSpc>
                  <a:spcPct val="100000"/>
                </a:lnSpc>
                <a:spcBef>
                  <a:spcPct val="0"/>
                </a:spcBef>
                <a:spcAft>
                  <a:spcPct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5" name="Title 1">
            <a:extLst>
              <a:ext uri="{FF2B5EF4-FFF2-40B4-BE49-F238E27FC236}">
                <a16:creationId xmlns:a16="http://schemas.microsoft.com/office/drawing/2014/main" id="{4C7263DF-5299-1A0F-EC67-33990A3049B4}"/>
              </a:ext>
            </a:extLst>
          </p:cNvPr>
          <p:cNvSpPr txBox="1">
            <a:spLocks/>
          </p:cNvSpPr>
          <p:nvPr/>
        </p:nvSpPr>
        <p:spPr>
          <a:xfrm>
            <a:off x="384930" y="1465051"/>
            <a:ext cx="3651133" cy="247836"/>
          </a:xfrm>
          <a:prstGeom prst="rect">
            <a:avLst/>
          </a:prstGeom>
        </p:spPr>
        <p:txBody>
          <a:bodyPr vert="horz" wrap="square" lIns="0" tIns="0" rIns="0" bIns="0" rtlCol="0" anchor="t"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2754" rtl="0" eaLnBrk="1" fontAlgn="base" latinLnBrk="0" hangingPunct="1">
              <a:lnSpc>
                <a:spcPct val="100000"/>
              </a:lnSpc>
              <a:spcBef>
                <a:spcPct val="0"/>
              </a:spcBef>
              <a:spcAft>
                <a:spcPct val="0"/>
              </a:spcAft>
              <a:buClrTx/>
              <a:buSzTx/>
              <a:buFontTx/>
              <a:buNone/>
              <a:tabLst/>
              <a:defRPr/>
            </a:pPr>
            <a:r>
              <a:rPr kumimoji="0" lang="en-US" sz="1400" b="1" i="1" u="none" strike="noStrike" kern="1200" cap="none" spc="0" normalizeH="0" baseline="0" noProof="0">
                <a:ln>
                  <a:noFill/>
                </a:ln>
                <a:solidFill>
                  <a:srgbClr val="000000"/>
                </a:solidFill>
                <a:effectLst/>
                <a:uLnTx/>
                <a:uFillTx/>
                <a:latin typeface="Graphik" panose="020B0503030202060203" pitchFamily="34" charset="0"/>
                <a:ea typeface="+mj-ea"/>
                <a:cs typeface="Arial" pitchFamily="34" charset="0"/>
              </a:rPr>
              <a:t>Agentic Sales Companion </a:t>
            </a:r>
          </a:p>
          <a:p>
            <a:pPr marL="0" marR="0" lvl="0" indent="0" algn="ctr" defTabSz="912754" rtl="0" eaLnBrk="1" fontAlgn="base" latinLnBrk="0" hangingPunct="1">
              <a:lnSpc>
                <a:spcPct val="100000"/>
              </a:lnSpc>
              <a:spcBef>
                <a:spcPct val="0"/>
              </a:spcBef>
              <a:spcAft>
                <a:spcPct val="0"/>
              </a:spcAft>
              <a:buClrTx/>
              <a:buSzTx/>
              <a:buFontTx/>
              <a:buNone/>
              <a:tabLst/>
              <a:defRPr/>
            </a:pPr>
            <a:r>
              <a:rPr kumimoji="0" lang="en-US" sz="1400" b="1" i="1" u="none" strike="noStrike" kern="1200" cap="none" spc="0" normalizeH="0" baseline="0" noProof="0">
                <a:ln>
                  <a:noFill/>
                </a:ln>
                <a:solidFill>
                  <a:srgbClr val="000000"/>
                </a:solidFill>
                <a:effectLst/>
                <a:uLnTx/>
                <a:uFillTx/>
                <a:latin typeface="Graphik" panose="020B0503030202060203" pitchFamily="34" charset="0"/>
                <a:ea typeface="+mj-ea"/>
                <a:cs typeface="Arial" pitchFamily="34" charset="0"/>
              </a:rPr>
              <a:t>(6 Months)</a:t>
            </a:r>
          </a:p>
        </p:txBody>
      </p:sp>
      <p:sp>
        <p:nvSpPr>
          <p:cNvPr id="17" name="Title 1">
            <a:extLst>
              <a:ext uri="{FF2B5EF4-FFF2-40B4-BE49-F238E27FC236}">
                <a16:creationId xmlns:a16="http://schemas.microsoft.com/office/drawing/2014/main" id="{13D38DE6-3150-2964-3108-E0A99717FC61}"/>
              </a:ext>
            </a:extLst>
          </p:cNvPr>
          <p:cNvSpPr txBox="1">
            <a:spLocks/>
          </p:cNvSpPr>
          <p:nvPr/>
        </p:nvSpPr>
        <p:spPr>
          <a:xfrm>
            <a:off x="4218835" y="1456818"/>
            <a:ext cx="3651133" cy="247836"/>
          </a:xfrm>
          <a:prstGeom prst="rect">
            <a:avLst/>
          </a:prstGeom>
        </p:spPr>
        <p:txBody>
          <a:bodyPr vert="horz" wrap="square" lIns="0" tIns="0" rIns="0" bIns="0" rtlCol="0" anchor="t"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2754" rtl="0" eaLnBrk="1" fontAlgn="base" latinLnBrk="0" hangingPunct="1">
              <a:lnSpc>
                <a:spcPct val="100000"/>
              </a:lnSpc>
              <a:spcBef>
                <a:spcPct val="0"/>
              </a:spcBef>
              <a:spcAft>
                <a:spcPct val="0"/>
              </a:spcAft>
              <a:buClrTx/>
              <a:buSzTx/>
              <a:buFontTx/>
              <a:buNone/>
              <a:tabLst/>
              <a:defRPr/>
            </a:pPr>
            <a:r>
              <a:rPr kumimoji="0" lang="en-US" sz="1400" b="1" i="1" u="none" strike="noStrike" kern="1200" cap="none" spc="0" normalizeH="0" baseline="0" noProof="0">
                <a:ln>
                  <a:noFill/>
                </a:ln>
                <a:solidFill>
                  <a:srgbClr val="000000"/>
                </a:solidFill>
                <a:effectLst/>
                <a:uLnTx/>
                <a:uFillTx/>
                <a:latin typeface="Graphik" panose="020B0503030202060203" pitchFamily="34" charset="0"/>
                <a:ea typeface="+mj-ea"/>
                <a:cs typeface="Arial" pitchFamily="34" charset="0"/>
              </a:rPr>
              <a:t>Field Force Orchestration</a:t>
            </a:r>
          </a:p>
          <a:p>
            <a:pPr marL="0" marR="0" lvl="0" indent="0" algn="ctr" defTabSz="912754" rtl="0" eaLnBrk="1" fontAlgn="base" latinLnBrk="0" hangingPunct="1">
              <a:lnSpc>
                <a:spcPct val="100000"/>
              </a:lnSpc>
              <a:spcBef>
                <a:spcPct val="0"/>
              </a:spcBef>
              <a:spcAft>
                <a:spcPct val="0"/>
              </a:spcAft>
              <a:buClrTx/>
              <a:buSzTx/>
              <a:buFontTx/>
              <a:buNone/>
              <a:tabLst/>
              <a:defRPr/>
            </a:pPr>
            <a:r>
              <a:rPr kumimoji="0" lang="en-US" sz="1400" b="1" i="1" u="none" strike="noStrike" kern="1200" cap="none" spc="0" normalizeH="0" baseline="0" noProof="0">
                <a:ln>
                  <a:noFill/>
                </a:ln>
                <a:solidFill>
                  <a:srgbClr val="000000"/>
                </a:solidFill>
                <a:effectLst/>
                <a:uLnTx/>
                <a:uFillTx/>
                <a:latin typeface="Graphik" panose="020B0503030202060203" pitchFamily="34" charset="0"/>
                <a:ea typeface="+mj-ea"/>
                <a:cs typeface="Arial" pitchFamily="34" charset="0"/>
              </a:rPr>
              <a:t>(3 Months)</a:t>
            </a:r>
          </a:p>
        </p:txBody>
      </p:sp>
      <p:sp>
        <p:nvSpPr>
          <p:cNvPr id="19" name="Title 1">
            <a:extLst>
              <a:ext uri="{FF2B5EF4-FFF2-40B4-BE49-F238E27FC236}">
                <a16:creationId xmlns:a16="http://schemas.microsoft.com/office/drawing/2014/main" id="{89A3A596-460F-93EA-76D2-5A99AD59A9B0}"/>
              </a:ext>
            </a:extLst>
          </p:cNvPr>
          <p:cNvSpPr txBox="1">
            <a:spLocks/>
          </p:cNvSpPr>
          <p:nvPr/>
        </p:nvSpPr>
        <p:spPr>
          <a:xfrm>
            <a:off x="8142482" y="1473591"/>
            <a:ext cx="3651133" cy="247836"/>
          </a:xfrm>
          <a:prstGeom prst="rect">
            <a:avLst/>
          </a:prstGeom>
        </p:spPr>
        <p:txBody>
          <a:bodyPr vert="horz" wrap="square" lIns="0" tIns="0" rIns="0" bIns="0" rtlCol="0" anchor="t"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2754" rtl="0" eaLnBrk="1" fontAlgn="base" latinLnBrk="0" hangingPunct="1">
              <a:lnSpc>
                <a:spcPct val="100000"/>
              </a:lnSpc>
              <a:spcBef>
                <a:spcPct val="0"/>
              </a:spcBef>
              <a:spcAft>
                <a:spcPct val="0"/>
              </a:spcAft>
              <a:buClrTx/>
              <a:buSzTx/>
              <a:buFontTx/>
              <a:buNone/>
              <a:tabLst/>
              <a:defRPr/>
            </a:pPr>
            <a:r>
              <a:rPr kumimoji="0" lang="en-US" sz="1400" b="1" i="1" u="none" strike="noStrike" kern="1200" cap="none" spc="0" normalizeH="0" baseline="0" noProof="0">
                <a:ln>
                  <a:noFill/>
                </a:ln>
                <a:solidFill>
                  <a:srgbClr val="000000"/>
                </a:solidFill>
                <a:effectLst/>
                <a:uLnTx/>
                <a:uFillTx/>
                <a:latin typeface="Graphik" panose="020B0503030202060203" pitchFamily="34" charset="0"/>
                <a:ea typeface="+mj-ea"/>
                <a:cs typeface="Arial" pitchFamily="34" charset="0"/>
              </a:rPr>
              <a:t>Intelligent Route Planning</a:t>
            </a:r>
          </a:p>
          <a:p>
            <a:pPr marL="0" marR="0" lvl="0" indent="0" algn="ctr" defTabSz="912754" rtl="0" eaLnBrk="1" fontAlgn="base" latinLnBrk="0" hangingPunct="1">
              <a:lnSpc>
                <a:spcPct val="100000"/>
              </a:lnSpc>
              <a:spcBef>
                <a:spcPct val="0"/>
              </a:spcBef>
              <a:spcAft>
                <a:spcPct val="0"/>
              </a:spcAft>
              <a:buClrTx/>
              <a:buSzTx/>
              <a:buFontTx/>
              <a:buNone/>
              <a:tabLst/>
              <a:defRPr/>
            </a:pPr>
            <a:r>
              <a:rPr kumimoji="0" lang="en-US" sz="1400" b="1" i="1" u="none" strike="noStrike" kern="1200" cap="none" spc="0" normalizeH="0" baseline="0" noProof="0">
                <a:ln>
                  <a:noFill/>
                </a:ln>
                <a:solidFill>
                  <a:srgbClr val="000000"/>
                </a:solidFill>
                <a:effectLst/>
                <a:uLnTx/>
                <a:uFillTx/>
                <a:latin typeface="Graphik" panose="020B0503030202060203" pitchFamily="34" charset="0"/>
                <a:ea typeface="+mj-ea"/>
                <a:cs typeface="Arial" pitchFamily="34" charset="0"/>
              </a:rPr>
              <a:t>(1.5 - 2 Months)</a:t>
            </a:r>
          </a:p>
        </p:txBody>
      </p:sp>
      <p:sp>
        <p:nvSpPr>
          <p:cNvPr id="21" name="TextBox 20">
            <a:extLst>
              <a:ext uri="{FF2B5EF4-FFF2-40B4-BE49-F238E27FC236}">
                <a16:creationId xmlns:a16="http://schemas.microsoft.com/office/drawing/2014/main" id="{E5724F05-B426-1530-939D-34D00DB46129}"/>
              </a:ext>
            </a:extLst>
          </p:cNvPr>
          <p:cNvSpPr txBox="1"/>
          <p:nvPr/>
        </p:nvSpPr>
        <p:spPr>
          <a:xfrm>
            <a:off x="369897" y="1978752"/>
            <a:ext cx="3715681" cy="979595"/>
          </a:xfrm>
          <a:prstGeom prst="rect">
            <a:avLst/>
          </a:prstGeom>
          <a:noFill/>
        </p:spPr>
        <p:txBody>
          <a:bodyPr wrap="square">
            <a:spAutoFit/>
          </a:bodyPr>
          <a:lstStyle/>
          <a:p>
            <a:pPr marL="0" marR="0" lvl="0" indent="0" algn="ctr" defTabSz="912754" rtl="0" eaLnBrk="1" fontAlgn="base" latinLnBrk="0" hangingPunct="1">
              <a:lnSpc>
                <a:spcPct val="150000"/>
              </a:lnSpc>
              <a:spcBef>
                <a:spcPct val="0"/>
              </a:spcBef>
              <a:spcAft>
                <a:spcPct val="0"/>
              </a:spcAft>
              <a:buClrTx/>
              <a:buSzTx/>
              <a:buFontTx/>
              <a:buNone/>
              <a:tabLst/>
              <a:defRPr/>
            </a:pPr>
            <a:r>
              <a:rPr kumimoji="0" lang="en-US" sz="1397" b="1" i="0" u="none" strike="noStrike" kern="1200" cap="none" spc="0" normalizeH="0" baseline="0" noProof="0">
                <a:ln>
                  <a:noFill/>
                </a:ln>
                <a:solidFill>
                  <a:srgbClr val="000000"/>
                </a:solidFill>
                <a:effectLst/>
                <a:uLnTx/>
                <a:uFillTx/>
                <a:latin typeface="Graphik"/>
                <a:ea typeface="+mn-ea"/>
                <a:cs typeface="Arial" charset="0"/>
              </a:rPr>
              <a:t>$ 400 K</a:t>
            </a:r>
          </a:p>
          <a:p>
            <a:pPr marL="0" marR="0" lvl="0" indent="0" algn="ctr" defTabSz="912754" rtl="0" eaLnBrk="1" fontAlgn="base" latinLnBrk="0" hangingPunct="1">
              <a:lnSpc>
                <a:spcPct val="150000"/>
              </a:lnSpc>
              <a:spcBef>
                <a:spcPct val="0"/>
              </a:spcBef>
              <a:spcAft>
                <a:spcPct val="0"/>
              </a:spcAft>
              <a:buClrTx/>
              <a:buSzTx/>
              <a:buFontTx/>
              <a:buNone/>
              <a:tabLst/>
              <a:defRPr/>
            </a:pPr>
            <a:r>
              <a:rPr kumimoji="0" lang="en-US" sz="1399" b="1" i="0" u="none" strike="noStrike" kern="1200" cap="none" spc="0" normalizeH="0" baseline="0" noProof="0">
                <a:ln>
                  <a:noFill/>
                </a:ln>
                <a:solidFill>
                  <a:srgbClr val="000000"/>
                </a:solidFill>
                <a:effectLst/>
                <a:uLnTx/>
                <a:uFillTx/>
                <a:latin typeface="Graphik"/>
                <a:ea typeface="+mn-ea"/>
                <a:cs typeface="Arial" charset="0"/>
              </a:rPr>
              <a:t>~1400 </a:t>
            </a:r>
            <a:r>
              <a:rPr kumimoji="0" lang="en-US" sz="1200" b="0" i="0" u="none" strike="noStrike" kern="1200" cap="none" spc="0" normalizeH="0" baseline="0" noProof="0">
                <a:ln>
                  <a:noFill/>
                </a:ln>
                <a:solidFill>
                  <a:srgbClr val="000000"/>
                </a:solidFill>
                <a:effectLst/>
                <a:uLnTx/>
                <a:uFillTx/>
                <a:latin typeface="Graphik"/>
                <a:ea typeface="+mn-ea"/>
                <a:cs typeface="Arial" charset="0"/>
              </a:rPr>
              <a:t>Man days at an Average blended daily cost rate of $300</a:t>
            </a:r>
          </a:p>
        </p:txBody>
      </p:sp>
      <p:sp>
        <p:nvSpPr>
          <p:cNvPr id="22" name="TextBox 21">
            <a:extLst>
              <a:ext uri="{FF2B5EF4-FFF2-40B4-BE49-F238E27FC236}">
                <a16:creationId xmlns:a16="http://schemas.microsoft.com/office/drawing/2014/main" id="{C8A189D2-4423-E9AC-30D7-3C7FB71EBFFC}"/>
              </a:ext>
            </a:extLst>
          </p:cNvPr>
          <p:cNvSpPr txBox="1"/>
          <p:nvPr/>
        </p:nvSpPr>
        <p:spPr>
          <a:xfrm>
            <a:off x="4218835" y="1978753"/>
            <a:ext cx="3651133" cy="979595"/>
          </a:xfrm>
          <a:prstGeom prst="rect">
            <a:avLst/>
          </a:prstGeom>
          <a:noFill/>
        </p:spPr>
        <p:txBody>
          <a:bodyPr wrap="square">
            <a:spAutoFit/>
          </a:bodyPr>
          <a:lstStyle/>
          <a:p>
            <a:pPr marL="0" marR="0" lvl="0" indent="0" algn="ctr" defTabSz="912754" rtl="0" eaLnBrk="1" fontAlgn="base" latinLnBrk="0" hangingPunct="1">
              <a:lnSpc>
                <a:spcPct val="150000"/>
              </a:lnSpc>
              <a:spcBef>
                <a:spcPct val="0"/>
              </a:spcBef>
              <a:spcAft>
                <a:spcPct val="0"/>
              </a:spcAft>
              <a:buClrTx/>
              <a:buSzTx/>
              <a:buFontTx/>
              <a:buNone/>
              <a:tabLst/>
              <a:defRPr/>
            </a:pPr>
            <a:r>
              <a:rPr kumimoji="0" lang="en-US" sz="1397" b="1" i="0" u="none" strike="noStrike" kern="1200" cap="none" spc="0" normalizeH="0" baseline="0" noProof="0">
                <a:ln>
                  <a:noFill/>
                </a:ln>
                <a:solidFill>
                  <a:srgbClr val="000000"/>
                </a:solidFill>
                <a:effectLst/>
                <a:uLnTx/>
                <a:uFillTx/>
                <a:latin typeface="Graphik"/>
                <a:ea typeface="+mn-ea"/>
                <a:cs typeface="Arial" charset="0"/>
              </a:rPr>
              <a:t>$ 150 K</a:t>
            </a:r>
          </a:p>
          <a:p>
            <a:pPr marL="0" marR="0" lvl="0" indent="0" algn="ctr" defTabSz="912754" rtl="0" eaLnBrk="1" fontAlgn="base" latinLnBrk="0" hangingPunct="1">
              <a:lnSpc>
                <a:spcPct val="150000"/>
              </a:lnSpc>
              <a:spcBef>
                <a:spcPct val="0"/>
              </a:spcBef>
              <a:spcAft>
                <a:spcPct val="0"/>
              </a:spcAft>
              <a:buClrTx/>
              <a:buSzTx/>
              <a:buFontTx/>
              <a:buNone/>
              <a:tabLst/>
              <a:defRPr/>
            </a:pPr>
            <a:r>
              <a:rPr kumimoji="0" lang="en-US" sz="1399" b="1" i="0" u="none" strike="noStrike" kern="1200" cap="none" spc="0" normalizeH="0" baseline="0" noProof="0">
                <a:ln>
                  <a:noFill/>
                </a:ln>
                <a:solidFill>
                  <a:srgbClr val="000000"/>
                </a:solidFill>
                <a:effectLst/>
                <a:uLnTx/>
                <a:uFillTx/>
                <a:latin typeface="Graphik"/>
                <a:ea typeface="+mn-ea"/>
                <a:cs typeface="Arial" charset="0"/>
              </a:rPr>
              <a:t>~500 </a:t>
            </a:r>
            <a:r>
              <a:rPr kumimoji="0" lang="en-US" sz="1200" b="0" i="0" u="none" strike="noStrike" kern="1200" cap="none" spc="0" normalizeH="0" baseline="0" noProof="0">
                <a:ln>
                  <a:noFill/>
                </a:ln>
                <a:solidFill>
                  <a:srgbClr val="000000"/>
                </a:solidFill>
                <a:effectLst/>
                <a:uLnTx/>
                <a:uFillTx/>
                <a:latin typeface="Graphik"/>
                <a:ea typeface="+mn-ea"/>
                <a:cs typeface="Arial" charset="0"/>
              </a:rPr>
              <a:t>Man days at an Average daily rate of $300</a:t>
            </a:r>
          </a:p>
        </p:txBody>
      </p:sp>
      <p:sp>
        <p:nvSpPr>
          <p:cNvPr id="23" name="TextBox 22">
            <a:extLst>
              <a:ext uri="{FF2B5EF4-FFF2-40B4-BE49-F238E27FC236}">
                <a16:creationId xmlns:a16="http://schemas.microsoft.com/office/drawing/2014/main" id="{D0DFC9DE-2930-2A8E-1770-5FA9A65B7F2D}"/>
              </a:ext>
            </a:extLst>
          </p:cNvPr>
          <p:cNvSpPr txBox="1"/>
          <p:nvPr/>
        </p:nvSpPr>
        <p:spPr>
          <a:xfrm>
            <a:off x="8062907" y="1978753"/>
            <a:ext cx="3651133" cy="979595"/>
          </a:xfrm>
          <a:prstGeom prst="rect">
            <a:avLst/>
          </a:prstGeom>
          <a:noFill/>
        </p:spPr>
        <p:txBody>
          <a:bodyPr wrap="square">
            <a:spAutoFit/>
          </a:bodyPr>
          <a:lstStyle/>
          <a:p>
            <a:pPr marL="0" marR="0" lvl="0" indent="0" algn="ctr" defTabSz="912754" rtl="0" eaLnBrk="1" fontAlgn="base" latinLnBrk="0" hangingPunct="1">
              <a:lnSpc>
                <a:spcPct val="150000"/>
              </a:lnSpc>
              <a:spcBef>
                <a:spcPct val="0"/>
              </a:spcBef>
              <a:spcAft>
                <a:spcPct val="0"/>
              </a:spcAft>
              <a:buClrTx/>
              <a:buSzTx/>
              <a:buFontTx/>
              <a:buNone/>
              <a:tabLst/>
              <a:defRPr/>
            </a:pPr>
            <a:r>
              <a:rPr kumimoji="0" lang="en-US" sz="1397" b="1" i="0" u="none" strike="noStrike" kern="1200" cap="none" spc="0" normalizeH="0" baseline="0" noProof="0">
                <a:ln>
                  <a:noFill/>
                </a:ln>
                <a:solidFill>
                  <a:srgbClr val="000000"/>
                </a:solidFill>
                <a:effectLst/>
                <a:uLnTx/>
                <a:uFillTx/>
                <a:latin typeface="Graphik"/>
                <a:ea typeface="+mn-ea"/>
                <a:cs typeface="Arial" charset="0"/>
              </a:rPr>
              <a:t>$ 100 K</a:t>
            </a:r>
          </a:p>
          <a:p>
            <a:pPr marL="0" marR="0" lvl="0" indent="0" algn="ctr" defTabSz="912754" rtl="0" eaLnBrk="1" fontAlgn="base" latinLnBrk="0" hangingPunct="1">
              <a:lnSpc>
                <a:spcPct val="150000"/>
              </a:lnSpc>
              <a:spcBef>
                <a:spcPct val="0"/>
              </a:spcBef>
              <a:spcAft>
                <a:spcPct val="0"/>
              </a:spcAft>
              <a:buClrTx/>
              <a:buSzTx/>
              <a:buFontTx/>
              <a:buNone/>
              <a:tabLst/>
              <a:defRPr/>
            </a:pPr>
            <a:r>
              <a:rPr kumimoji="0" lang="en-US" sz="1399" b="1" i="0" u="none" strike="noStrike" kern="1200" cap="none" spc="0" normalizeH="0" baseline="0" noProof="0">
                <a:ln>
                  <a:noFill/>
                </a:ln>
                <a:solidFill>
                  <a:srgbClr val="000000"/>
                </a:solidFill>
                <a:effectLst/>
                <a:uLnTx/>
                <a:uFillTx/>
                <a:latin typeface="Graphik"/>
                <a:ea typeface="+mn-ea"/>
                <a:cs typeface="Arial" charset="0"/>
              </a:rPr>
              <a:t>~300 </a:t>
            </a:r>
            <a:r>
              <a:rPr kumimoji="0" lang="en-US" sz="1200" b="0" i="0" u="none" strike="noStrike" kern="1200" cap="none" spc="0" normalizeH="0" baseline="0" noProof="0">
                <a:ln>
                  <a:noFill/>
                </a:ln>
                <a:solidFill>
                  <a:srgbClr val="000000"/>
                </a:solidFill>
                <a:effectLst/>
                <a:uLnTx/>
                <a:uFillTx/>
                <a:latin typeface="Graphik"/>
                <a:ea typeface="+mn-ea"/>
                <a:cs typeface="Arial" charset="0"/>
              </a:rPr>
              <a:t>Man days at an Average daily rate of $300</a:t>
            </a:r>
          </a:p>
        </p:txBody>
      </p:sp>
      <p:grpSp>
        <p:nvGrpSpPr>
          <p:cNvPr id="4" name="Group 3">
            <a:extLst>
              <a:ext uri="{FF2B5EF4-FFF2-40B4-BE49-F238E27FC236}">
                <a16:creationId xmlns:a16="http://schemas.microsoft.com/office/drawing/2014/main" id="{EDF25E83-DCFC-8F3F-8A71-70B23F7AC6CB}"/>
              </a:ext>
            </a:extLst>
          </p:cNvPr>
          <p:cNvGrpSpPr/>
          <p:nvPr/>
        </p:nvGrpSpPr>
        <p:grpSpPr>
          <a:xfrm>
            <a:off x="4265785" y="3037190"/>
            <a:ext cx="3690491" cy="548513"/>
            <a:chOff x="906994" y="1455104"/>
            <a:chExt cx="9210131" cy="4980831"/>
          </a:xfrm>
        </p:grpSpPr>
        <p:sp>
          <p:nvSpPr>
            <p:cNvPr id="6" name="Rectangle 5">
              <a:extLst>
                <a:ext uri="{FF2B5EF4-FFF2-40B4-BE49-F238E27FC236}">
                  <a16:creationId xmlns:a16="http://schemas.microsoft.com/office/drawing/2014/main" id="{681FD934-97BA-05D7-79B3-77B424FE055F}"/>
                </a:ext>
              </a:extLst>
            </p:cNvPr>
            <p:cNvSpPr/>
            <p:nvPr/>
          </p:nvSpPr>
          <p:spPr>
            <a:xfrm rot="5400000">
              <a:off x="2972533" y="-610435"/>
              <a:ext cx="4980831" cy="9111909"/>
            </a:xfrm>
            <a:prstGeom prst="rect">
              <a:avLst/>
            </a:prstGeom>
            <a:gradFill>
              <a:gsLst>
                <a:gs pos="0">
                  <a:srgbClr val="82F5D3"/>
                </a:gs>
                <a:gs pos="25000">
                  <a:srgbClr val="87D1DA"/>
                </a:gs>
                <a:gs pos="75000">
                  <a:srgbClr val="917CE8"/>
                </a:gs>
                <a:gs pos="49000">
                  <a:srgbClr val="8DA5E2"/>
                </a:gs>
                <a:gs pos="100000">
                  <a:srgbClr val="9C25F9"/>
                </a:gs>
              </a:gsLst>
              <a:lin ang="3000000" scaled="0"/>
            </a:gradFill>
            <a:ln>
              <a:noFill/>
            </a:ln>
          </p:spPr>
          <p:txBody>
            <a:bodyPr vert="horz" lIns="0" tIns="0" rIns="0" bIns="0" rtlCol="0" anchor="t">
              <a:noAutofit/>
            </a:bodyPr>
            <a:lstStyle/>
            <a:p>
              <a:pPr marL="0" marR="0" lvl="0" indent="0" algn="l" defTabSz="912754" rtl="0" eaLnBrk="1" fontAlgn="base" latinLnBrk="0" hangingPunct="1">
                <a:lnSpc>
                  <a:spcPct val="100000"/>
                </a:lnSpc>
                <a:spcBef>
                  <a:spcPct val="0"/>
                </a:spcBef>
                <a:spcAft>
                  <a:spcPct val="0"/>
                </a:spcAft>
                <a:buClrTx/>
                <a:buSzTx/>
                <a:buFontTx/>
                <a:buNone/>
                <a:tabLst/>
                <a:defRPr/>
              </a:pPr>
              <a:endParaRPr kumimoji="0" lang="en-US" sz="3594" b="1" i="0" u="none" strike="noStrike" kern="1200" cap="none" spc="0" normalizeH="0" baseline="0" noProof="0">
                <a:ln>
                  <a:noFill/>
                </a:ln>
                <a:solidFill>
                  <a:prstClr val="white"/>
                </a:solidFill>
                <a:effectLst/>
                <a:uLnTx/>
                <a:uFillTx/>
                <a:latin typeface="Graphik Semibold" panose="020B0503030202060203" pitchFamily="34" charset="77"/>
                <a:ea typeface="+mn-ea"/>
                <a:cs typeface="Arial" charset="0"/>
              </a:endParaRPr>
            </a:p>
          </p:txBody>
        </p:sp>
        <p:sp>
          <p:nvSpPr>
            <p:cNvPr id="16" name="Rectangle 15">
              <a:extLst>
                <a:ext uri="{FF2B5EF4-FFF2-40B4-BE49-F238E27FC236}">
                  <a16:creationId xmlns:a16="http://schemas.microsoft.com/office/drawing/2014/main" id="{A688B776-CC74-6BAB-22E6-74D59BF7C78B}"/>
                </a:ext>
              </a:extLst>
            </p:cNvPr>
            <p:cNvSpPr/>
            <p:nvPr/>
          </p:nvSpPr>
          <p:spPr>
            <a:xfrm>
              <a:off x="906994" y="1455104"/>
              <a:ext cx="9210131" cy="498083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754" rtl="0" eaLnBrk="1" fontAlgn="base" latinLnBrk="0" hangingPunct="1">
                <a:lnSpc>
                  <a:spcPct val="100000"/>
                </a:lnSpc>
                <a:spcBef>
                  <a:spcPct val="0"/>
                </a:spcBef>
                <a:spcAft>
                  <a:spcPct val="0"/>
                </a:spcAft>
                <a:buClrTx/>
                <a:buSzTx/>
                <a:buFontTx/>
                <a:buNone/>
                <a:tabLst/>
                <a:defRPr/>
              </a:pPr>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 name="Title 1">
            <a:extLst>
              <a:ext uri="{FF2B5EF4-FFF2-40B4-BE49-F238E27FC236}">
                <a16:creationId xmlns:a16="http://schemas.microsoft.com/office/drawing/2014/main" id="{1B69E77B-0F07-0431-F0BB-B4E4A611B1DC}"/>
              </a:ext>
            </a:extLst>
          </p:cNvPr>
          <p:cNvSpPr txBox="1">
            <a:spLocks/>
          </p:cNvSpPr>
          <p:nvPr/>
        </p:nvSpPr>
        <p:spPr>
          <a:xfrm>
            <a:off x="4265788" y="3112171"/>
            <a:ext cx="3651133" cy="247836"/>
          </a:xfrm>
          <a:prstGeom prst="rect">
            <a:avLst/>
          </a:prstGeom>
        </p:spPr>
        <p:txBody>
          <a:bodyPr vert="horz" wrap="square" lIns="0" tIns="0" rIns="0" bIns="0" rtlCol="0" anchor="t" anchorCtr="0">
            <a:noAutofit/>
          </a:bodyPr>
          <a:lstStyle>
            <a:lvl1pPr algn="l" defTabSz="914400" rtl="0" eaLnBrk="1" latinLnBrk="0" hangingPunct="1">
              <a:lnSpc>
                <a:spcPct val="80000"/>
              </a:lnSpc>
              <a:spcBef>
                <a:spcPct val="0"/>
              </a:spcBef>
              <a:buNone/>
              <a:defRPr lang="en-US" sz="2800" b="1" kern="1200" dirty="0">
                <a:solidFill>
                  <a:schemeClr val="tx1"/>
                </a:solidFill>
                <a:latin typeface="+mn-lt"/>
                <a:ea typeface="+mj-ea"/>
                <a:cs typeface="+mj-cs"/>
              </a:defRPr>
            </a:lvl1pPr>
          </a:lstStyle>
          <a:p>
            <a:pPr marL="0" marR="0" lvl="0" indent="0" algn="ctr" defTabSz="912754"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raphik"/>
                <a:ea typeface="+mj-ea"/>
                <a:cs typeface="+mj-cs"/>
              </a:rPr>
              <a:t>Additional Cluster Rollout</a:t>
            </a:r>
          </a:p>
          <a:p>
            <a:pPr marL="0" marR="0" lvl="0" indent="0" algn="ctr" defTabSz="912754" rtl="0" eaLnBrk="1" fontAlgn="base" latinLnBrk="0" hangingPunct="1">
              <a:lnSpc>
                <a:spcPct val="100000"/>
              </a:lnSpc>
              <a:spcBef>
                <a:spcPct val="0"/>
              </a:spcBef>
              <a:spcAft>
                <a:spcPct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Graphik" panose="020B0503030202060203" pitchFamily="34" charset="0"/>
                <a:ea typeface="+mj-ea"/>
                <a:cs typeface="Arial" pitchFamily="34" charset="0"/>
              </a:rPr>
              <a:t>(2-3 Months)</a:t>
            </a:r>
          </a:p>
        </p:txBody>
      </p:sp>
      <p:sp>
        <p:nvSpPr>
          <p:cNvPr id="20" name="TextBox 19">
            <a:extLst>
              <a:ext uri="{FF2B5EF4-FFF2-40B4-BE49-F238E27FC236}">
                <a16:creationId xmlns:a16="http://schemas.microsoft.com/office/drawing/2014/main" id="{17CDC3A4-6EAB-735C-E2D9-12A68E16508C}"/>
              </a:ext>
            </a:extLst>
          </p:cNvPr>
          <p:cNvSpPr txBox="1"/>
          <p:nvPr/>
        </p:nvSpPr>
        <p:spPr>
          <a:xfrm>
            <a:off x="2447521" y="3512881"/>
            <a:ext cx="7464667" cy="933457"/>
          </a:xfrm>
          <a:prstGeom prst="rect">
            <a:avLst/>
          </a:prstGeom>
          <a:noFill/>
        </p:spPr>
        <p:txBody>
          <a:bodyPr wrap="square">
            <a:spAutoFit/>
          </a:bodyPr>
          <a:lstStyle/>
          <a:p>
            <a:pPr marL="0" marR="0" lvl="0" indent="0" algn="ctr" defTabSz="912754" rtl="0" eaLnBrk="1" fontAlgn="base" latinLnBrk="0" hangingPunct="1">
              <a:lnSpc>
                <a:spcPct val="150000"/>
              </a:lnSpc>
              <a:spcBef>
                <a:spcPct val="0"/>
              </a:spcBef>
              <a:spcAft>
                <a:spcPct val="0"/>
              </a:spcAft>
              <a:buClrTx/>
              <a:buSzTx/>
              <a:buFontTx/>
              <a:buNone/>
              <a:tabLst/>
              <a:defRPr/>
            </a:pPr>
            <a:r>
              <a:rPr kumimoji="0" lang="en-US" sz="1397" b="1" i="0" u="none" strike="noStrike" kern="1200" cap="none" spc="0" normalizeH="0" baseline="0" noProof="0">
                <a:ln>
                  <a:noFill/>
                </a:ln>
                <a:solidFill>
                  <a:srgbClr val="000000"/>
                </a:solidFill>
                <a:effectLst/>
                <a:uLnTx/>
                <a:uFillTx/>
                <a:latin typeface="Graphik"/>
                <a:ea typeface="+mn-ea"/>
                <a:cs typeface="Arial" charset="0"/>
              </a:rPr>
              <a:t>$ 60 K **</a:t>
            </a:r>
          </a:p>
          <a:p>
            <a:pPr marL="0" marR="0" lvl="0" indent="0" algn="ctr" defTabSz="912754" rtl="0" eaLnBrk="1" fontAlgn="base" latinLnBrk="0" hangingPunct="1">
              <a:lnSpc>
                <a:spcPct val="15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raphik"/>
                <a:ea typeface="+mn-ea"/>
                <a:cs typeface="Arial" charset="0"/>
              </a:rPr>
              <a:t>Typically, 1 cluster covers 3-4 markets *. But we can add more markets within a cluster with minimal incremental cost, providing flexibility in rollout design</a:t>
            </a:r>
          </a:p>
        </p:txBody>
      </p:sp>
      <p:sp>
        <p:nvSpPr>
          <p:cNvPr id="3" name="TextBox 2">
            <a:extLst>
              <a:ext uri="{FF2B5EF4-FFF2-40B4-BE49-F238E27FC236}">
                <a16:creationId xmlns:a16="http://schemas.microsoft.com/office/drawing/2014/main" id="{B7BE79DE-6115-C81D-0EA5-C0C74CAEA85B}"/>
              </a:ext>
            </a:extLst>
          </p:cNvPr>
          <p:cNvSpPr txBox="1"/>
          <p:nvPr/>
        </p:nvSpPr>
        <p:spPr>
          <a:xfrm>
            <a:off x="107906" y="4489781"/>
            <a:ext cx="11895360" cy="1730987"/>
          </a:xfrm>
          <a:prstGeom prst="rect">
            <a:avLst/>
          </a:prstGeom>
          <a:noFill/>
        </p:spPr>
        <p:txBody>
          <a:bodyPr wrap="square">
            <a:spAutoFit/>
          </a:bodyPr>
          <a:lstStyle/>
          <a:p>
            <a:pPr marL="171347" marR="0" lvl="0" indent="-171347" algn="l" defTabSz="912754"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Arial" charset="0"/>
              </a:rPr>
              <a:t>Number of markets in a cluster depends on multiple factors including - size of the market, data system landscape, regulatory requirements, language, DMS system, NSC structure Geographic proximity etc.  </a:t>
            </a:r>
          </a:p>
          <a:p>
            <a:pPr marL="171347" marR="0" lvl="0" indent="-171347" algn="l" defTabSz="912754"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Arial" charset="0"/>
              </a:rPr>
              <a:t>Platform cost is not included in the above costing. It will be around 5K per month and may vary depending on storage, compute, foundational model usage, API request, concurrent users, market deployed etc.</a:t>
            </a:r>
          </a:p>
          <a:p>
            <a:pPr marL="171347" marR="0" lvl="0" indent="-171347" algn="l" defTabSz="912754"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Arial" charset="0"/>
              </a:rPr>
              <a:t>Maintenance and operations will be managed by the team during the build and rollout phase. After that period (approx. 2/3 years once all markets are deployed), there will be a monthly cost of $5K-$7K </a:t>
            </a:r>
          </a:p>
          <a:p>
            <a:pPr marL="171347" marR="0" lvl="0" indent="-171347" algn="l" defTabSz="912754"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Arial" charset="0"/>
              </a:rPr>
              <a:t>The solution is designed as a single unified platform across all markets. Where local legal, data sovereignty, or compliance requirements mandate for a market a separate localized build, additional setup effort and investment will apply</a:t>
            </a:r>
          </a:p>
          <a:p>
            <a:pPr marL="171347" marR="0" lvl="0" indent="-171347" algn="l" defTabSz="912754"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Arial" charset="0"/>
              </a:rPr>
              <a:t>** Additional cost will be added if there is a significant deviation on the data, cloud platforms, DMS system etc. </a:t>
            </a:r>
          </a:p>
          <a:p>
            <a:pPr marL="171347" marR="0" lvl="0" indent="-171347" algn="l" defTabSz="912754"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Arial" charset="0"/>
              </a:rPr>
              <a:t>Any capability additions beyond the agreed in-scope modules including AI pitch generation, training enablement, IR onboarding, continuous improvement or advanced analytics will be scoped, estimated, and priced separately as Phase 2 enhancements and are not reflected in the current cost model</a:t>
            </a:r>
          </a:p>
          <a:p>
            <a:pPr marL="171347" marR="0" lvl="0" indent="-171347" algn="l" defTabSz="912754"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Arial" charset="0"/>
              </a:rPr>
              <a:t>Penetration testing, security audits, and compliance assessments required by BMW IT or local regulators before launch are not part of the build cost and will be separately scoped and priced according to market needs and audit scope.</a:t>
            </a:r>
          </a:p>
          <a:p>
            <a:pPr marL="171347" marR="0" lvl="0" indent="-171347" algn="l" defTabSz="912754"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Graphik"/>
                <a:ea typeface="+mn-ea"/>
                <a:cs typeface="Arial" charset="0"/>
              </a:rPr>
              <a:t>The tool will be configured to NSC-defined KPIs, targets, and report formats confirmed at the start of deployment. Changes to KPI definitions, target thresholds, or report structures after build require reconfiguration at additional cost</a:t>
            </a:r>
          </a:p>
        </p:txBody>
      </p:sp>
      <p:sp>
        <p:nvSpPr>
          <p:cNvPr id="25" name="TextBox 24">
            <a:extLst>
              <a:ext uri="{FF2B5EF4-FFF2-40B4-BE49-F238E27FC236}">
                <a16:creationId xmlns:a16="http://schemas.microsoft.com/office/drawing/2014/main" id="{4CECE4B2-B1D9-69C7-984F-DB8125079F14}"/>
              </a:ext>
            </a:extLst>
          </p:cNvPr>
          <p:cNvSpPr txBox="1"/>
          <p:nvPr/>
        </p:nvSpPr>
        <p:spPr>
          <a:xfrm>
            <a:off x="188734" y="936623"/>
            <a:ext cx="3711885" cy="334187"/>
          </a:xfrm>
          <a:prstGeom prst="rect">
            <a:avLst/>
          </a:prstGeom>
          <a:solidFill>
            <a:schemeClr val="accent1"/>
          </a:solidFill>
        </p:spPr>
        <p:txBody>
          <a:bodyPr wrap="square" lIns="0" tIns="0" rIns="0" bIns="0" rtlCol="0" anchor="ctr">
            <a:noAutofit/>
          </a:bodyPr>
          <a:lstStyle/>
          <a:p>
            <a:pPr marL="0" marR="0" lvl="0" indent="0" algn="ctr" defTabSz="228463" rtl="0" eaLnBrk="1" fontAlgn="auto" latinLnBrk="0" hangingPunct="1">
              <a:lnSpc>
                <a:spcPct val="100000"/>
              </a:lnSpc>
              <a:spcBef>
                <a:spcPts val="0"/>
              </a:spcBef>
              <a:spcAft>
                <a:spcPts val="1200"/>
              </a:spcAft>
              <a:buClrTx/>
              <a:buSzTx/>
              <a:buFontTx/>
              <a:buNone/>
              <a:tabLst/>
              <a:defRPr/>
            </a:pPr>
            <a:r>
              <a:rPr kumimoji="0" lang="en-US" sz="1399" b="1" i="0" u="none" strike="noStrike" kern="1200" cap="none" spc="0" normalizeH="0" baseline="0" noProof="0">
                <a:ln>
                  <a:noFill/>
                </a:ln>
                <a:solidFill>
                  <a:srgbClr val="FFFFFF"/>
                </a:solidFill>
                <a:effectLst/>
                <a:uLnTx/>
                <a:uFillTx/>
                <a:latin typeface="Graphik"/>
                <a:ea typeface="+mn-ea"/>
                <a:cs typeface="Arial" charset="0"/>
              </a:rPr>
              <a:t>First Time build – one market/one cluster</a:t>
            </a:r>
          </a:p>
        </p:txBody>
      </p:sp>
    </p:spTree>
    <p:extLst>
      <p:ext uri="{BB962C8B-B14F-4D97-AF65-F5344CB8AC3E}">
        <p14:creationId xmlns:p14="http://schemas.microsoft.com/office/powerpoint/2010/main" val="176822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82656-CB42-2156-4BED-CC98FCA02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1C65F-D115-24C6-382F-2D4870638089}"/>
              </a:ext>
            </a:extLst>
          </p:cNvPr>
          <p:cNvSpPr>
            <a:spLocks noGrp="1"/>
          </p:cNvSpPr>
          <p:nvPr>
            <p:ph type="title"/>
          </p:nvPr>
        </p:nvSpPr>
        <p:spPr/>
        <p:txBody>
          <a:bodyPr/>
          <a:lstStyle/>
          <a:p>
            <a:r>
              <a:rPr lang="en-US" sz="2398" dirty="0"/>
              <a:t>Resource Plan</a:t>
            </a:r>
          </a:p>
        </p:txBody>
      </p:sp>
      <p:graphicFrame>
        <p:nvGraphicFramePr>
          <p:cNvPr id="4" name="Table 3">
            <a:extLst>
              <a:ext uri="{FF2B5EF4-FFF2-40B4-BE49-F238E27FC236}">
                <a16:creationId xmlns:a16="http://schemas.microsoft.com/office/drawing/2014/main" id="{27B38E4D-5809-3A13-12A2-93FE184AB0BE}"/>
              </a:ext>
            </a:extLst>
          </p:cNvPr>
          <p:cNvGraphicFramePr>
            <a:graphicFrameLocks noGrp="1"/>
          </p:cNvGraphicFramePr>
          <p:nvPr/>
        </p:nvGraphicFramePr>
        <p:xfrm>
          <a:off x="384702" y="991577"/>
          <a:ext cx="11470398" cy="4638665"/>
        </p:xfrm>
        <a:graphic>
          <a:graphicData uri="http://schemas.openxmlformats.org/drawingml/2006/table">
            <a:tbl>
              <a:tblPr firstRow="1" bandRow="1">
                <a:tableStyleId>{72833802-FEF1-4C79-8D5D-14CF1EAF98D9}</a:tableStyleId>
              </a:tblPr>
              <a:tblGrid>
                <a:gridCol w="2101128">
                  <a:extLst>
                    <a:ext uri="{9D8B030D-6E8A-4147-A177-3AD203B41FA5}">
                      <a16:colId xmlns:a16="http://schemas.microsoft.com/office/drawing/2014/main" val="2464979301"/>
                    </a:ext>
                  </a:extLst>
                </a:gridCol>
                <a:gridCol w="2544002">
                  <a:extLst>
                    <a:ext uri="{9D8B030D-6E8A-4147-A177-3AD203B41FA5}">
                      <a16:colId xmlns:a16="http://schemas.microsoft.com/office/drawing/2014/main" val="3450756442"/>
                    </a:ext>
                  </a:extLst>
                </a:gridCol>
                <a:gridCol w="1706317">
                  <a:extLst>
                    <a:ext uri="{9D8B030D-6E8A-4147-A177-3AD203B41FA5}">
                      <a16:colId xmlns:a16="http://schemas.microsoft.com/office/drawing/2014/main" val="479654585"/>
                    </a:ext>
                  </a:extLst>
                </a:gridCol>
                <a:gridCol w="1706317">
                  <a:extLst>
                    <a:ext uri="{9D8B030D-6E8A-4147-A177-3AD203B41FA5}">
                      <a16:colId xmlns:a16="http://schemas.microsoft.com/office/drawing/2014/main" val="2295330618"/>
                    </a:ext>
                  </a:extLst>
                </a:gridCol>
                <a:gridCol w="1706317">
                  <a:extLst>
                    <a:ext uri="{9D8B030D-6E8A-4147-A177-3AD203B41FA5}">
                      <a16:colId xmlns:a16="http://schemas.microsoft.com/office/drawing/2014/main" val="2669566465"/>
                    </a:ext>
                  </a:extLst>
                </a:gridCol>
                <a:gridCol w="1706317">
                  <a:extLst>
                    <a:ext uri="{9D8B030D-6E8A-4147-A177-3AD203B41FA5}">
                      <a16:colId xmlns:a16="http://schemas.microsoft.com/office/drawing/2014/main" val="3260064315"/>
                    </a:ext>
                  </a:extLst>
                </a:gridCol>
              </a:tblGrid>
              <a:tr h="472990">
                <a:tc>
                  <a:txBody>
                    <a:bodyPr/>
                    <a:lstStyle/>
                    <a:p>
                      <a:pPr algn="ctr"/>
                      <a:r>
                        <a:rPr lang="en-US" sz="1400" dirty="0"/>
                        <a:t>Roles</a:t>
                      </a:r>
                    </a:p>
                  </a:txBody>
                  <a:tcPr marL="91419" marR="91419" marT="45709" marB="45709" anchor="ctr"/>
                </a:tc>
                <a:tc>
                  <a:txBody>
                    <a:bodyPr/>
                    <a:lstStyle/>
                    <a:p>
                      <a:pPr algn="ctr"/>
                      <a:r>
                        <a:rPr lang="en-US" sz="1200"/>
                        <a:t>Level</a:t>
                      </a:r>
                    </a:p>
                  </a:txBody>
                  <a:tcPr marL="91419" marR="91419" marT="45709" marB="45709" anchor="ctr"/>
                </a:tc>
                <a:tc>
                  <a:txBody>
                    <a:bodyPr/>
                    <a:lstStyle/>
                    <a:p>
                      <a:pPr algn="ctr"/>
                      <a:r>
                        <a:rPr lang="en-US" sz="1200"/>
                        <a:t> Agentic Sales Companion (FTE)</a:t>
                      </a:r>
                    </a:p>
                  </a:txBody>
                  <a:tcPr marL="91419" marR="91419" marT="45709" marB="45709" anchor="ctr"/>
                </a:tc>
                <a:tc>
                  <a:txBody>
                    <a:bodyPr/>
                    <a:lstStyle/>
                    <a:p>
                      <a:pPr algn="ctr"/>
                      <a:r>
                        <a:rPr lang="en-US" sz="1200"/>
                        <a:t>Field Force Orchestration (FTE)</a:t>
                      </a:r>
                    </a:p>
                  </a:txBody>
                  <a:tcPr marL="91419" marR="91419" marT="45709" marB="45709" anchor="ctr"/>
                </a:tc>
                <a:tc>
                  <a:txBody>
                    <a:bodyPr/>
                    <a:lstStyle/>
                    <a:p>
                      <a:pPr algn="ctr"/>
                      <a:r>
                        <a:rPr lang="en-US" sz="1200"/>
                        <a:t>Intelligent Route Planning (FTE)</a:t>
                      </a:r>
                    </a:p>
                  </a:txBody>
                  <a:tcPr marL="91419" marR="91419" marT="45709" marB="45709" anchor="ctr"/>
                </a:tc>
                <a:tc>
                  <a:txBody>
                    <a:bodyPr/>
                    <a:lstStyle/>
                    <a:p>
                      <a:pPr algn="ctr"/>
                      <a:r>
                        <a:rPr lang="en-US" sz="1200" dirty="0"/>
                        <a:t>Market Rollout</a:t>
                      </a:r>
                    </a:p>
                    <a:p>
                      <a:pPr algn="ctr"/>
                      <a:r>
                        <a:rPr lang="en-US" sz="1200" dirty="0"/>
                        <a:t>(FTE)</a:t>
                      </a:r>
                    </a:p>
                  </a:txBody>
                  <a:tcPr marL="91419" marR="91419" marT="45709" marB="45709" anchor="ctr"/>
                </a:tc>
                <a:extLst>
                  <a:ext uri="{0D108BD9-81ED-4DB2-BD59-A6C34878D82A}">
                    <a16:rowId xmlns:a16="http://schemas.microsoft.com/office/drawing/2014/main" val="3875551751"/>
                  </a:ext>
                </a:extLst>
              </a:tr>
              <a:tr h="377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D&amp;A QA Lead/SMA</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Level 5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a:t>
                      </a:r>
                    </a:p>
                  </a:txBody>
                  <a:tcPr marL="91419" marR="91419" marT="45709" marB="457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0.5</a:t>
                      </a:r>
                    </a:p>
                  </a:txBody>
                  <a:tcPr marL="91419" marR="91419" marT="45709" marB="457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0.25</a:t>
                      </a:r>
                    </a:p>
                  </a:txBody>
                  <a:tcPr marL="91419" marR="91419" marT="45709" marB="457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0.2</a:t>
                      </a:r>
                    </a:p>
                  </a:txBody>
                  <a:tcPr marL="91419" marR="91419" marT="45709" marB="45709" anchor="ctr"/>
                </a:tc>
                <a:extLst>
                  <a:ext uri="{0D108BD9-81ED-4DB2-BD59-A6C34878D82A}">
                    <a16:rowId xmlns:a16="http://schemas.microsoft.com/office/drawing/2014/main" val="1967438688"/>
                  </a:ext>
                </a:extLst>
              </a:tr>
              <a:tr h="377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Delivery Lead</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Level 6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1</a:t>
                      </a:r>
                    </a:p>
                  </a:txBody>
                  <a:tcPr marL="91419" marR="91419" marT="45709" marB="457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1</a:t>
                      </a:r>
                    </a:p>
                  </a:txBody>
                  <a:tcPr marL="91419" marR="91419" marT="45709" marB="457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1</a:t>
                      </a:r>
                    </a:p>
                  </a:txBody>
                  <a:tcPr marL="91419" marR="91419" marT="45709" marB="457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1</a:t>
                      </a:r>
                    </a:p>
                  </a:txBody>
                  <a:tcPr marL="91419" marR="91419" marT="45709" marB="45709" anchor="ctr"/>
                </a:tc>
                <a:extLst>
                  <a:ext uri="{0D108BD9-81ED-4DB2-BD59-A6C34878D82A}">
                    <a16:rowId xmlns:a16="http://schemas.microsoft.com/office/drawing/2014/main" val="539741283"/>
                  </a:ext>
                </a:extLst>
              </a:tr>
              <a:tr h="377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Gen AI Architect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Level 6 or Level 7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a:t>
                      </a:r>
                    </a:p>
                  </a:txBody>
                  <a:tcPr marL="91419" marR="91419" marT="45709" marB="457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a:t>
                      </a:r>
                    </a:p>
                  </a:txBody>
                  <a:tcPr marL="91419" marR="91419" marT="45709" marB="457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0.1</a:t>
                      </a:r>
                    </a:p>
                  </a:txBody>
                  <a:tcPr marL="91419" marR="91419" marT="45709" marB="4570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0.1</a:t>
                      </a:r>
                    </a:p>
                  </a:txBody>
                  <a:tcPr marL="91419" marR="91419" marT="45709" marB="45709" anchor="ctr"/>
                </a:tc>
                <a:extLst>
                  <a:ext uri="{0D108BD9-81ED-4DB2-BD59-A6C34878D82A}">
                    <a16:rowId xmlns:a16="http://schemas.microsoft.com/office/drawing/2014/main" val="1202282798"/>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Gen AI Developer / Scientist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Level 8 or Level 9</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3</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2-3</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2-3</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1</a:t>
                      </a:r>
                    </a:p>
                  </a:txBody>
                  <a:tcPr marL="6349" marR="6349" marT="6349" marB="0" anchor="ctr"/>
                </a:tc>
                <a:extLst>
                  <a:ext uri="{0D108BD9-81ED-4DB2-BD59-A6C34878D82A}">
                    <a16:rowId xmlns:a16="http://schemas.microsoft.com/office/drawing/2014/main" val="2157915647"/>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Prompt Engineer</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Level 9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a:t>
                      </a:r>
                    </a:p>
                  </a:txBody>
                  <a:tcPr marL="6349" marR="6349" marT="6349" marB="0" anchor="ctr"/>
                </a:tc>
                <a:extLst>
                  <a:ext uri="{0D108BD9-81ED-4DB2-BD59-A6C34878D82A}">
                    <a16:rowId xmlns:a16="http://schemas.microsoft.com/office/drawing/2014/main" val="255679290"/>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IAM Business Consultant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Level 9 or Level 11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a:t>
                      </a:r>
                    </a:p>
                  </a:txBody>
                  <a:tcPr marL="6349" marR="6349" marT="6349" marB="0" anchor="ctr"/>
                </a:tc>
                <a:extLst>
                  <a:ext uri="{0D108BD9-81ED-4DB2-BD59-A6C34878D82A}">
                    <a16:rowId xmlns:a16="http://schemas.microsoft.com/office/drawing/2014/main" val="2295106040"/>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Full Stack Developer</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Level 8 or Level 9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0.5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a:t>
                      </a:r>
                    </a:p>
                  </a:txBody>
                  <a:tcPr marL="6349" marR="6349" marT="6349" marB="0" anchor="ctr"/>
                </a:tc>
                <a:extLst>
                  <a:ext uri="{0D108BD9-81ED-4DB2-BD59-A6C34878D82A}">
                    <a16:rowId xmlns:a16="http://schemas.microsoft.com/office/drawing/2014/main" val="335662479"/>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Dev Ops Engineer</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Level 8 or Level 9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2</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0.5-1</a:t>
                      </a:r>
                    </a:p>
                  </a:txBody>
                  <a:tcPr marL="6349" marR="6349" marT="6349" marB="0" anchor="ctr"/>
                </a:tc>
                <a:extLst>
                  <a:ext uri="{0D108BD9-81ED-4DB2-BD59-A6C34878D82A}">
                    <a16:rowId xmlns:a16="http://schemas.microsoft.com/office/drawing/2014/main" val="375878033"/>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Data Engineer</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Level 9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0.5-1</a:t>
                      </a:r>
                    </a:p>
                  </a:txBody>
                  <a:tcPr marL="6349" marR="6349" marT="6349" marB="0" anchor="ctr"/>
                </a:tc>
                <a:extLst>
                  <a:ext uri="{0D108BD9-81ED-4DB2-BD59-A6C34878D82A}">
                    <a16:rowId xmlns:a16="http://schemas.microsoft.com/office/drawing/2014/main" val="2487104339"/>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ML Engineer</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Level 9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0.5-1</a:t>
                      </a:r>
                    </a:p>
                  </a:txBody>
                  <a:tcPr marL="6349" marR="6349" marT="6349" marB="0" anchor="ctr"/>
                </a:tc>
                <a:extLst>
                  <a:ext uri="{0D108BD9-81ED-4DB2-BD59-A6C34878D82A}">
                    <a16:rowId xmlns:a16="http://schemas.microsoft.com/office/drawing/2014/main" val="45764241"/>
                  </a:ext>
                </a:extLst>
              </a:tr>
              <a:tr h="4978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Knowledge Graph / Embedding / Storage Developer</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Level 9</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0.25</a:t>
                      </a:r>
                    </a:p>
                  </a:txBody>
                  <a:tcPr marL="6349" marR="6349" marT="6349" marB="0" anchor="ctr"/>
                </a:tc>
                <a:extLst>
                  <a:ext uri="{0D108BD9-81ED-4DB2-BD59-A6C34878D82A}">
                    <a16:rowId xmlns:a16="http://schemas.microsoft.com/office/drawing/2014/main" val="2845391922"/>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Tester</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Level 10 or Level 11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0.25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0.25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0.25</a:t>
                      </a:r>
                    </a:p>
                  </a:txBody>
                  <a:tcPr marL="6349" marR="6349" marT="6349" marB="0" anchor="ctr"/>
                </a:tc>
                <a:extLst>
                  <a:ext uri="{0D108BD9-81ED-4DB2-BD59-A6C34878D82A}">
                    <a16:rowId xmlns:a16="http://schemas.microsoft.com/office/drawing/2014/main" val="3246933509"/>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UX Developer</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Level 9 </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2-3</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1-2</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1</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0.5</a:t>
                      </a:r>
                    </a:p>
                  </a:txBody>
                  <a:tcPr marL="6349" marR="6349" marT="6349" marB="0" anchor="ctr"/>
                </a:tc>
                <a:extLst>
                  <a:ext uri="{0D108BD9-81ED-4DB2-BD59-A6C34878D82A}">
                    <a16:rowId xmlns:a16="http://schemas.microsoft.com/office/drawing/2014/main" val="1196207149"/>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RAI Consultant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dirty="0">
                          <a:solidFill>
                            <a:schemeClr val="tx1"/>
                          </a:solidFill>
                          <a:effectLst/>
                          <a:latin typeface="Calibri" panose="020F0502020204030204" pitchFamily="34" charset="0"/>
                          <a:ea typeface="+mn-ea"/>
                          <a:cs typeface="+mn-cs"/>
                        </a:rPr>
                        <a:t>Level 9</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0.25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kern="1200">
                          <a:solidFill>
                            <a:schemeClr val="tx1"/>
                          </a:solidFill>
                          <a:effectLst/>
                          <a:latin typeface="Calibri" panose="020F0502020204030204" pitchFamily="34" charset="0"/>
                          <a:ea typeface="+mn-ea"/>
                          <a:cs typeface="+mn-cs"/>
                        </a:rPr>
                        <a:t>-</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0.25</a:t>
                      </a:r>
                    </a:p>
                  </a:txBody>
                  <a:tcPr marL="6349" marR="6349" marT="6349"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0.25</a:t>
                      </a:r>
                    </a:p>
                  </a:txBody>
                  <a:tcPr marL="6349" marR="6349" marT="6349" marB="0" anchor="ctr"/>
                </a:tc>
                <a:extLst>
                  <a:ext uri="{0D108BD9-81ED-4DB2-BD59-A6C34878D82A}">
                    <a16:rowId xmlns:a16="http://schemas.microsoft.com/office/drawing/2014/main" val="2202218168"/>
                  </a:ext>
                </a:extLst>
              </a:tr>
            </a:tbl>
          </a:graphicData>
        </a:graphic>
      </p:graphicFrame>
      <p:sp>
        <p:nvSpPr>
          <p:cNvPr id="6" name="Rectangle 5">
            <a:extLst>
              <a:ext uri="{FF2B5EF4-FFF2-40B4-BE49-F238E27FC236}">
                <a16:creationId xmlns:a16="http://schemas.microsoft.com/office/drawing/2014/main" id="{2135EB13-2EA7-692A-2738-A1AAE90FF073}"/>
              </a:ext>
            </a:extLst>
          </p:cNvPr>
          <p:cNvSpPr/>
          <p:nvPr/>
        </p:nvSpPr>
        <p:spPr>
          <a:xfrm>
            <a:off x="5206069" y="5793440"/>
            <a:ext cx="1407234" cy="5157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19" bIns="914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Graphik"/>
                <a:ea typeface="+mn-ea"/>
                <a:cs typeface="+mn-cs"/>
              </a:rPr>
              <a:t>1400 Man-Days</a:t>
            </a:r>
          </a:p>
        </p:txBody>
      </p:sp>
      <p:sp>
        <p:nvSpPr>
          <p:cNvPr id="16" name="Rectangle 15">
            <a:extLst>
              <a:ext uri="{FF2B5EF4-FFF2-40B4-BE49-F238E27FC236}">
                <a16:creationId xmlns:a16="http://schemas.microsoft.com/office/drawing/2014/main" id="{4E8C302E-59ED-5DB7-AEBB-5C6AC4ED5BBC}"/>
              </a:ext>
            </a:extLst>
          </p:cNvPr>
          <p:cNvSpPr/>
          <p:nvPr/>
        </p:nvSpPr>
        <p:spPr>
          <a:xfrm>
            <a:off x="6985932" y="5806064"/>
            <a:ext cx="1407850" cy="5157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19" bIns="914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Graphik"/>
                <a:ea typeface="+mn-ea"/>
                <a:cs typeface="+mn-cs"/>
              </a:rPr>
              <a:t>500 Man-Days</a:t>
            </a:r>
          </a:p>
        </p:txBody>
      </p:sp>
      <p:sp>
        <p:nvSpPr>
          <p:cNvPr id="18" name="Rectangle 17">
            <a:extLst>
              <a:ext uri="{FF2B5EF4-FFF2-40B4-BE49-F238E27FC236}">
                <a16:creationId xmlns:a16="http://schemas.microsoft.com/office/drawing/2014/main" id="{6AD90199-370B-A16D-2D57-1C42676200E8}"/>
              </a:ext>
            </a:extLst>
          </p:cNvPr>
          <p:cNvSpPr/>
          <p:nvPr/>
        </p:nvSpPr>
        <p:spPr>
          <a:xfrm>
            <a:off x="8681739" y="5806064"/>
            <a:ext cx="1407850" cy="5157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19" bIns="914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Graphik"/>
                <a:ea typeface="+mn-ea"/>
                <a:cs typeface="+mn-cs"/>
              </a:rPr>
              <a:t>300 Man-Days</a:t>
            </a:r>
          </a:p>
        </p:txBody>
      </p:sp>
      <p:sp>
        <p:nvSpPr>
          <p:cNvPr id="3" name="Rectangle 2">
            <a:extLst>
              <a:ext uri="{FF2B5EF4-FFF2-40B4-BE49-F238E27FC236}">
                <a16:creationId xmlns:a16="http://schemas.microsoft.com/office/drawing/2014/main" id="{08099393-AFBC-84BE-F748-25B3DDB0700D}"/>
              </a:ext>
            </a:extLst>
          </p:cNvPr>
          <p:cNvSpPr/>
          <p:nvPr/>
        </p:nvSpPr>
        <p:spPr>
          <a:xfrm>
            <a:off x="10322823" y="5793440"/>
            <a:ext cx="1407850" cy="5157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19" bIns="914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Graphik"/>
                <a:ea typeface="+mn-ea"/>
                <a:cs typeface="+mn-cs"/>
              </a:rPr>
              <a:t>200 Man-Days</a:t>
            </a:r>
          </a:p>
        </p:txBody>
      </p:sp>
      <p:graphicFrame>
        <p:nvGraphicFramePr>
          <p:cNvPr id="5" name="Table 4">
            <a:extLst>
              <a:ext uri="{FF2B5EF4-FFF2-40B4-BE49-F238E27FC236}">
                <a16:creationId xmlns:a16="http://schemas.microsoft.com/office/drawing/2014/main" id="{F68FE31B-FD06-60F6-55E0-00572B0E2E9B}"/>
              </a:ext>
            </a:extLst>
          </p:cNvPr>
          <p:cNvGraphicFramePr>
            <a:graphicFrameLocks noGrp="1"/>
          </p:cNvGraphicFramePr>
          <p:nvPr/>
        </p:nvGraphicFramePr>
        <p:xfrm>
          <a:off x="12315291" y="991577"/>
          <a:ext cx="876728" cy="4638665"/>
        </p:xfrm>
        <a:graphic>
          <a:graphicData uri="http://schemas.openxmlformats.org/drawingml/2006/table">
            <a:tbl>
              <a:tblPr firstRow="1" bandRow="1">
                <a:tableStyleId>{72833802-FEF1-4C79-8D5D-14CF1EAF98D9}</a:tableStyleId>
              </a:tblPr>
              <a:tblGrid>
                <a:gridCol w="876728">
                  <a:extLst>
                    <a:ext uri="{9D8B030D-6E8A-4147-A177-3AD203B41FA5}">
                      <a16:colId xmlns:a16="http://schemas.microsoft.com/office/drawing/2014/main" val="3260064315"/>
                    </a:ext>
                  </a:extLst>
                </a:gridCol>
              </a:tblGrid>
              <a:tr h="472990">
                <a:tc>
                  <a:txBody>
                    <a:bodyPr/>
                    <a:lstStyle/>
                    <a:p>
                      <a:pPr algn="ctr"/>
                      <a:r>
                        <a:rPr lang="en-US" sz="1200" dirty="0"/>
                        <a:t>LCR</a:t>
                      </a:r>
                    </a:p>
                  </a:txBody>
                  <a:tcPr marL="91419" marR="91419" marT="45709" marB="45709" anchor="ctr"/>
                </a:tc>
                <a:extLst>
                  <a:ext uri="{0D108BD9-81ED-4DB2-BD59-A6C34878D82A}">
                    <a16:rowId xmlns:a16="http://schemas.microsoft.com/office/drawing/2014/main" val="3875551751"/>
                  </a:ext>
                </a:extLst>
              </a:tr>
              <a:tr h="377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125</a:t>
                      </a:r>
                    </a:p>
                  </a:txBody>
                  <a:tcPr marL="6350" marR="6350" marT="6350" marB="0" anchor="ctr"/>
                </a:tc>
                <a:extLst>
                  <a:ext uri="{0D108BD9-81ED-4DB2-BD59-A6C34878D82A}">
                    <a16:rowId xmlns:a16="http://schemas.microsoft.com/office/drawing/2014/main" val="1967438688"/>
                  </a:ext>
                </a:extLst>
              </a:tr>
              <a:tr h="377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solidFill>
                          <a:effectLst/>
                          <a:uLnTx/>
                          <a:uFillTx/>
                          <a:latin typeface="Calibri" panose="020F0502020204030204" pitchFamily="34" charset="0"/>
                          <a:ea typeface="+mn-ea"/>
                          <a:cs typeface="+mn-cs"/>
                        </a:rPr>
                        <a:t>65</a:t>
                      </a:r>
                    </a:p>
                  </a:txBody>
                  <a:tcPr marL="6350" marR="6350" marT="6350" marB="0" anchor="ctr"/>
                </a:tc>
                <a:extLst>
                  <a:ext uri="{0D108BD9-81ED-4DB2-BD59-A6C34878D82A}">
                    <a16:rowId xmlns:a16="http://schemas.microsoft.com/office/drawing/2014/main" val="539741283"/>
                  </a:ext>
                </a:extLst>
              </a:tr>
              <a:tr h="377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50</a:t>
                      </a:r>
                    </a:p>
                  </a:txBody>
                  <a:tcPr marL="6350" marR="6350" marT="6350" marB="0" anchor="ctr"/>
                </a:tc>
                <a:extLst>
                  <a:ext uri="{0D108BD9-81ED-4DB2-BD59-A6C34878D82A}">
                    <a16:rowId xmlns:a16="http://schemas.microsoft.com/office/drawing/2014/main" val="1202282798"/>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35</a:t>
                      </a:r>
                    </a:p>
                  </a:txBody>
                  <a:tcPr marL="6350" marR="6350" marT="6350" marB="0" anchor="ctr"/>
                </a:tc>
                <a:extLst>
                  <a:ext uri="{0D108BD9-81ED-4DB2-BD59-A6C34878D82A}">
                    <a16:rowId xmlns:a16="http://schemas.microsoft.com/office/drawing/2014/main" val="2157915647"/>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35</a:t>
                      </a:r>
                    </a:p>
                  </a:txBody>
                  <a:tcPr marL="6350" marR="6350" marT="6350" marB="0" anchor="ctr"/>
                </a:tc>
                <a:extLst>
                  <a:ext uri="{0D108BD9-81ED-4DB2-BD59-A6C34878D82A}">
                    <a16:rowId xmlns:a16="http://schemas.microsoft.com/office/drawing/2014/main" val="255679290"/>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30</a:t>
                      </a:r>
                    </a:p>
                  </a:txBody>
                  <a:tcPr marL="6350" marR="6350" marT="6350" marB="0" anchor="ctr"/>
                </a:tc>
                <a:extLst>
                  <a:ext uri="{0D108BD9-81ED-4DB2-BD59-A6C34878D82A}">
                    <a16:rowId xmlns:a16="http://schemas.microsoft.com/office/drawing/2014/main" val="2295106040"/>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solidFill>
                          <a:effectLst/>
                          <a:uLnTx/>
                          <a:uFillTx/>
                          <a:latin typeface="Calibri" panose="020F0502020204030204" pitchFamily="34" charset="0"/>
                          <a:ea typeface="+mn-ea"/>
                          <a:cs typeface="+mn-cs"/>
                        </a:rPr>
                        <a:t>25</a:t>
                      </a:r>
                    </a:p>
                  </a:txBody>
                  <a:tcPr marL="6350" marR="6350" marT="6350" marB="0" anchor="ctr"/>
                </a:tc>
                <a:extLst>
                  <a:ext uri="{0D108BD9-81ED-4DB2-BD59-A6C34878D82A}">
                    <a16:rowId xmlns:a16="http://schemas.microsoft.com/office/drawing/2014/main" val="335662479"/>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25</a:t>
                      </a:r>
                    </a:p>
                  </a:txBody>
                  <a:tcPr marL="6350" marR="6350" marT="6350" marB="0" anchor="ctr"/>
                </a:tc>
                <a:extLst>
                  <a:ext uri="{0D108BD9-81ED-4DB2-BD59-A6C34878D82A}">
                    <a16:rowId xmlns:a16="http://schemas.microsoft.com/office/drawing/2014/main" val="375878033"/>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25</a:t>
                      </a:r>
                    </a:p>
                  </a:txBody>
                  <a:tcPr marL="6350" marR="6350" marT="6350" marB="0" anchor="ctr"/>
                </a:tc>
                <a:extLst>
                  <a:ext uri="{0D108BD9-81ED-4DB2-BD59-A6C34878D82A}">
                    <a16:rowId xmlns:a16="http://schemas.microsoft.com/office/drawing/2014/main" val="2487104339"/>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a:ln>
                            <a:noFill/>
                          </a:ln>
                          <a:solidFill>
                            <a:srgbClr val="000000"/>
                          </a:solidFill>
                          <a:effectLst/>
                          <a:uLnTx/>
                          <a:uFillTx/>
                          <a:latin typeface="Calibri" panose="020F0502020204030204" pitchFamily="34" charset="0"/>
                          <a:ea typeface="+mn-ea"/>
                          <a:cs typeface="+mn-cs"/>
                        </a:rPr>
                        <a:t>25</a:t>
                      </a:r>
                    </a:p>
                  </a:txBody>
                  <a:tcPr marL="6350" marR="6350" marT="6350" marB="0" anchor="ctr"/>
                </a:tc>
                <a:extLst>
                  <a:ext uri="{0D108BD9-81ED-4DB2-BD59-A6C34878D82A}">
                    <a16:rowId xmlns:a16="http://schemas.microsoft.com/office/drawing/2014/main" val="45764241"/>
                  </a:ext>
                </a:extLst>
              </a:tr>
              <a:tr h="4978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30</a:t>
                      </a:r>
                    </a:p>
                  </a:txBody>
                  <a:tcPr marL="6350" marR="6350" marT="6350" marB="0" anchor="ctr"/>
                </a:tc>
                <a:extLst>
                  <a:ext uri="{0D108BD9-81ED-4DB2-BD59-A6C34878D82A}">
                    <a16:rowId xmlns:a16="http://schemas.microsoft.com/office/drawing/2014/main" val="2845391922"/>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20</a:t>
                      </a:r>
                    </a:p>
                  </a:txBody>
                  <a:tcPr marL="6350" marR="6350" marT="6350" marB="0" anchor="ctr"/>
                </a:tc>
                <a:extLst>
                  <a:ext uri="{0D108BD9-81ED-4DB2-BD59-A6C34878D82A}">
                    <a16:rowId xmlns:a16="http://schemas.microsoft.com/office/drawing/2014/main" val="3246933509"/>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25</a:t>
                      </a:r>
                    </a:p>
                  </a:txBody>
                  <a:tcPr marL="6350" marR="6350" marT="6350" marB="0" anchor="ctr"/>
                </a:tc>
                <a:extLst>
                  <a:ext uri="{0D108BD9-81ED-4DB2-BD59-A6C34878D82A}">
                    <a16:rowId xmlns:a16="http://schemas.microsoft.com/office/drawing/2014/main" val="1196207149"/>
                  </a:ext>
                </a:extLst>
              </a:tr>
              <a:tr h="2535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srgbClr val="000000"/>
                          </a:solidFill>
                          <a:effectLst/>
                          <a:uLnTx/>
                          <a:uFillTx/>
                          <a:latin typeface="Calibri" panose="020F0502020204030204" pitchFamily="34" charset="0"/>
                          <a:ea typeface="+mn-ea"/>
                          <a:cs typeface="+mn-cs"/>
                        </a:rPr>
                        <a:t>30</a:t>
                      </a:r>
                    </a:p>
                  </a:txBody>
                  <a:tcPr marL="6350" marR="6350" marT="6350" marB="0" anchor="ctr"/>
                </a:tc>
                <a:extLst>
                  <a:ext uri="{0D108BD9-81ED-4DB2-BD59-A6C34878D82A}">
                    <a16:rowId xmlns:a16="http://schemas.microsoft.com/office/drawing/2014/main" val="2202218168"/>
                  </a:ext>
                </a:extLst>
              </a:tr>
            </a:tbl>
          </a:graphicData>
        </a:graphic>
      </p:graphicFrame>
    </p:spTree>
    <p:extLst>
      <p:ext uri="{BB962C8B-B14F-4D97-AF65-F5344CB8AC3E}">
        <p14:creationId xmlns:p14="http://schemas.microsoft.com/office/powerpoint/2010/main" val="1310317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40750-BE40-3146-766E-1043CA37FA0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213F282-7BD5-8A68-B4C7-77CC722F6D8E}"/>
              </a:ext>
            </a:extLst>
          </p:cNvPr>
          <p:cNvSpPr>
            <a:spLocks noGrp="1"/>
          </p:cNvSpPr>
          <p:nvPr>
            <p:ph type="title"/>
          </p:nvPr>
        </p:nvSpPr>
        <p:spPr>
          <a:xfrm>
            <a:off x="384555" y="382897"/>
            <a:ext cx="11422891" cy="705364"/>
          </a:xfrm>
        </p:spPr>
        <p:txBody>
          <a:bodyPr/>
          <a:lstStyle/>
          <a:p>
            <a:r>
              <a:rPr lang="en-US" sz="2397" dirty="0"/>
              <a:t>Assumptions (1/2)</a:t>
            </a:r>
          </a:p>
        </p:txBody>
      </p:sp>
      <p:sp>
        <p:nvSpPr>
          <p:cNvPr id="6" name="TextBox 5">
            <a:extLst>
              <a:ext uri="{FF2B5EF4-FFF2-40B4-BE49-F238E27FC236}">
                <a16:creationId xmlns:a16="http://schemas.microsoft.com/office/drawing/2014/main" id="{89924142-AE50-7EB7-BFE5-A05376D0B4A8}"/>
              </a:ext>
            </a:extLst>
          </p:cNvPr>
          <p:cNvSpPr txBox="1"/>
          <p:nvPr/>
        </p:nvSpPr>
        <p:spPr>
          <a:xfrm>
            <a:off x="233149" y="754374"/>
            <a:ext cx="11725703" cy="375190"/>
          </a:xfrm>
          <a:prstGeom prst="rect">
            <a:avLst/>
          </a:prstGeom>
          <a:noFill/>
        </p:spPr>
        <p:txBody>
          <a:bodyPr wrap="square">
            <a:spAutoFit/>
          </a:bodyPr>
          <a:lstStyle/>
          <a:p>
            <a:pPr marL="0" marR="0" lvl="0" indent="0" algn="l" defTabSz="913668" rtl="0" eaLnBrk="1" fontAlgn="base" latinLnBrk="0" hangingPunct="1">
              <a:lnSpc>
                <a:spcPct val="150000"/>
              </a:lnSpc>
              <a:spcBef>
                <a:spcPct val="0"/>
              </a:spcBef>
              <a:spcAft>
                <a:spcPct val="0"/>
              </a:spcAft>
              <a:buClrTx/>
              <a:buSzTx/>
              <a:buFontTx/>
              <a:buNone/>
              <a:tabLst/>
              <a:defRPr/>
            </a:pPr>
            <a:r>
              <a:rPr kumimoji="0" lang="en-US" sz="1398" b="0" i="0" u="none" strike="noStrike" kern="1200" cap="none" spc="0" normalizeH="0" baseline="0" noProof="0">
                <a:ln>
                  <a:noFill/>
                </a:ln>
                <a:solidFill>
                  <a:srgbClr val="000000"/>
                </a:solidFill>
                <a:effectLst/>
                <a:uLnTx/>
                <a:uFillTx/>
                <a:latin typeface="Arial" charset="0"/>
                <a:ea typeface="+mn-ea"/>
                <a:cs typeface="Arial" charset="0"/>
              </a:rPr>
              <a:t>The AI solution eliminates ~2-3 hours of daily admin per rep, freeing time for more selling, and progressively enabling workforce optimization</a:t>
            </a:r>
            <a:endParaRPr kumimoji="0" lang="en-US" sz="1398" b="1"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7" name="Rectangle 6">
            <a:extLst>
              <a:ext uri="{FF2B5EF4-FFF2-40B4-BE49-F238E27FC236}">
                <a16:creationId xmlns:a16="http://schemas.microsoft.com/office/drawing/2014/main" id="{98244519-6FA3-A830-7F22-358F2434CB60}"/>
              </a:ext>
            </a:extLst>
          </p:cNvPr>
          <p:cNvSpPr/>
          <p:nvPr/>
        </p:nvSpPr>
        <p:spPr>
          <a:xfrm>
            <a:off x="384555" y="1319961"/>
            <a:ext cx="3428578" cy="780769"/>
          </a:xfrm>
          <a:prstGeom prst="rect">
            <a:avLst/>
          </a:prstGeom>
          <a:solidFill>
            <a:srgbClr val="F0EEF8"/>
          </a:solidFill>
          <a:ln w="6350">
            <a:solidFill>
              <a:srgbClr val="C8C0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599" b="1" i="0" u="none" strike="noStrike" kern="1200" cap="none" spc="0" normalizeH="0" baseline="0" noProof="0">
                <a:ln>
                  <a:noFill/>
                </a:ln>
                <a:solidFill>
                  <a:srgbClr val="9A33F6"/>
                </a:solidFill>
                <a:effectLst/>
                <a:uLnTx/>
                <a:uFillTx/>
                <a:latin typeface="Graphik"/>
                <a:ea typeface="+mn-ea"/>
                <a:cs typeface="+mn-cs"/>
              </a:rPr>
              <a:t>30% - 40%</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Reduction in admin effort per sales rep starting from Month 6</a:t>
            </a:r>
            <a:endParaRPr kumimoji="0" lang="en-US" sz="1050" b="1" i="0" u="none" strike="noStrike" kern="1200" cap="none" spc="0" normalizeH="0" baseline="0" noProof="0">
              <a:ln>
                <a:noFill/>
              </a:ln>
              <a:solidFill>
                <a:srgbClr val="000000"/>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5196A3D6-8E5F-1539-9125-FAA3D2A826E7}"/>
              </a:ext>
            </a:extLst>
          </p:cNvPr>
          <p:cNvSpPr/>
          <p:nvPr/>
        </p:nvSpPr>
        <p:spPr>
          <a:xfrm>
            <a:off x="4457413" y="1315748"/>
            <a:ext cx="3428578" cy="780769"/>
          </a:xfrm>
          <a:prstGeom prst="rect">
            <a:avLst/>
          </a:prstGeom>
          <a:solidFill>
            <a:srgbClr val="F0EEF8"/>
          </a:solidFill>
          <a:ln w="6350">
            <a:solidFill>
              <a:srgbClr val="C8C0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599" b="1" i="0" u="none" strike="noStrike" kern="1200" cap="none" spc="0" normalizeH="0" baseline="0" noProof="0">
                <a:ln>
                  <a:noFill/>
                </a:ln>
                <a:solidFill>
                  <a:srgbClr val="9A33F6"/>
                </a:solidFill>
                <a:effectLst/>
                <a:uLnTx/>
                <a:uFillTx/>
                <a:latin typeface="Graphik"/>
                <a:ea typeface="+mn-ea"/>
                <a:cs typeface="+mn-cs"/>
              </a:rPr>
              <a:t>+2 - 5</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Additional dealer/IR visits per rep per week</a:t>
            </a:r>
            <a:endParaRPr kumimoji="0" lang="en-US" sz="1050" b="1" i="0" u="none" strike="noStrike" kern="1200" cap="none" spc="0" normalizeH="0" baseline="0" noProof="0">
              <a:ln>
                <a:noFill/>
              </a:ln>
              <a:solidFill>
                <a:srgbClr val="000000"/>
              </a:solidFill>
              <a:effectLst/>
              <a:uLnTx/>
              <a:uFillTx/>
              <a:latin typeface="Graphik"/>
              <a:ea typeface="+mn-ea"/>
              <a:cs typeface="+mn-cs"/>
            </a:endParaRPr>
          </a:p>
        </p:txBody>
      </p:sp>
      <p:sp>
        <p:nvSpPr>
          <p:cNvPr id="21" name="Rectangle 20">
            <a:extLst>
              <a:ext uri="{FF2B5EF4-FFF2-40B4-BE49-F238E27FC236}">
                <a16:creationId xmlns:a16="http://schemas.microsoft.com/office/drawing/2014/main" id="{86DD4970-339F-2DE5-86DB-0EEDB822E044}"/>
              </a:ext>
            </a:extLst>
          </p:cNvPr>
          <p:cNvSpPr/>
          <p:nvPr/>
        </p:nvSpPr>
        <p:spPr>
          <a:xfrm>
            <a:off x="8530273" y="1295955"/>
            <a:ext cx="3428578" cy="780769"/>
          </a:xfrm>
          <a:prstGeom prst="rect">
            <a:avLst/>
          </a:prstGeom>
          <a:solidFill>
            <a:srgbClr val="F0EEF8"/>
          </a:solidFill>
          <a:ln w="6350">
            <a:solidFill>
              <a:srgbClr val="C8C0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599" b="1" i="0" u="none" strike="noStrike" kern="1200" cap="none" spc="0" normalizeH="0" baseline="0" noProof="0">
                <a:ln>
                  <a:noFill/>
                </a:ln>
                <a:solidFill>
                  <a:srgbClr val="9A33F6"/>
                </a:solidFill>
                <a:effectLst/>
                <a:uLnTx/>
                <a:uFillTx/>
                <a:latin typeface="Graphik"/>
                <a:ea typeface="+mn-ea"/>
                <a:cs typeface="+mn-cs"/>
              </a:rPr>
              <a:t>13-16 FTE</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Reduction due to AI intervention, in addition to the ongoing decrease in FTEs resulting from the learning curve</a:t>
            </a:r>
          </a:p>
        </p:txBody>
      </p:sp>
      <p:sp>
        <p:nvSpPr>
          <p:cNvPr id="22" name="TextBox 21">
            <a:extLst>
              <a:ext uri="{FF2B5EF4-FFF2-40B4-BE49-F238E27FC236}">
                <a16:creationId xmlns:a16="http://schemas.microsoft.com/office/drawing/2014/main" id="{479CADFB-D896-12B2-DB0E-9BBE8ECA6FD2}"/>
              </a:ext>
            </a:extLst>
          </p:cNvPr>
          <p:cNvSpPr txBox="1"/>
          <p:nvPr/>
        </p:nvSpPr>
        <p:spPr>
          <a:xfrm>
            <a:off x="7931299" y="1638802"/>
            <a:ext cx="729012" cy="300344"/>
          </a:xfrm>
          <a:prstGeom prst="rect">
            <a:avLst/>
          </a:prstGeom>
          <a:noFill/>
        </p:spPr>
        <p:txBody>
          <a:bodyPr wrap="square">
            <a:spAutoFit/>
          </a:bodyPr>
          <a:lstStyle/>
          <a:p>
            <a:pPr marL="0" marR="0" lvl="0" indent="0" algn="l" defTabSz="913851" rtl="0" eaLnBrk="1" fontAlgn="auto" latinLnBrk="0" hangingPunct="1">
              <a:lnSpc>
                <a:spcPts val="1499"/>
              </a:lnSpc>
              <a:spcBef>
                <a:spcPts val="0"/>
              </a:spcBef>
              <a:spcAft>
                <a:spcPts val="0"/>
              </a:spcAft>
              <a:buClrTx/>
              <a:buSzPts val="1000"/>
              <a:buFontTx/>
              <a:buNone/>
              <a:tabLst>
                <a:tab pos="456926" algn="l"/>
              </a:tabLst>
              <a:defRPr/>
            </a:pPr>
            <a:r>
              <a:rPr kumimoji="0" lang="en-US" sz="1799" b="1" i="0" u="none" strike="noStrike" kern="12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Aptos" panose="020B0004020202020204" pitchFamily="34" charset="0"/>
              </a:rPr>
              <a:t>OR</a:t>
            </a:r>
            <a:endParaRPr kumimoji="0" lang="en-US" sz="1799" b="0" i="0" u="none" strike="noStrike" kern="12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23" name="TextBox 22">
            <a:extLst>
              <a:ext uri="{FF2B5EF4-FFF2-40B4-BE49-F238E27FC236}">
                <a16:creationId xmlns:a16="http://schemas.microsoft.com/office/drawing/2014/main" id="{5D9841B0-5E37-00CA-E144-C7B988F10F54}"/>
              </a:ext>
            </a:extLst>
          </p:cNvPr>
          <p:cNvSpPr txBox="1"/>
          <p:nvPr/>
        </p:nvSpPr>
        <p:spPr>
          <a:xfrm>
            <a:off x="3926935" y="1634279"/>
            <a:ext cx="729012" cy="300344"/>
          </a:xfrm>
          <a:prstGeom prst="rect">
            <a:avLst/>
          </a:prstGeom>
          <a:noFill/>
        </p:spPr>
        <p:txBody>
          <a:bodyPr wrap="square">
            <a:spAutoFit/>
          </a:bodyPr>
          <a:lstStyle/>
          <a:p>
            <a:pPr marL="0" marR="0" lvl="0" indent="0" algn="l" defTabSz="913851" rtl="0" eaLnBrk="1" fontAlgn="auto" latinLnBrk="0" hangingPunct="1">
              <a:lnSpc>
                <a:spcPts val="1499"/>
              </a:lnSpc>
              <a:spcBef>
                <a:spcPts val="0"/>
              </a:spcBef>
              <a:spcAft>
                <a:spcPts val="0"/>
              </a:spcAft>
              <a:buClrTx/>
              <a:buSzPts val="1000"/>
              <a:buFontTx/>
              <a:buNone/>
              <a:tabLst>
                <a:tab pos="456926" algn="l"/>
              </a:tabLst>
              <a:defRPr/>
            </a:pPr>
            <a:r>
              <a:rPr kumimoji="0" lang="en-US" sz="1799" b="1" i="0" u="none" strike="noStrike" kern="12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Aptos" panose="020B0004020202020204" pitchFamily="34" charset="0"/>
              </a:rPr>
              <a:t>~</a:t>
            </a:r>
            <a:endParaRPr kumimoji="0" lang="en-US" sz="1799" b="0" i="0" u="none" strike="noStrike" kern="12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2" name="TextBox 1">
            <a:extLst>
              <a:ext uri="{FF2B5EF4-FFF2-40B4-BE49-F238E27FC236}">
                <a16:creationId xmlns:a16="http://schemas.microsoft.com/office/drawing/2014/main" id="{FE8CED2F-FB32-D032-A39C-E00BF17A7034}"/>
              </a:ext>
            </a:extLst>
          </p:cNvPr>
          <p:cNvSpPr txBox="1"/>
          <p:nvPr/>
        </p:nvSpPr>
        <p:spPr>
          <a:xfrm>
            <a:off x="233149" y="2243116"/>
            <a:ext cx="11725702" cy="3989912"/>
          </a:xfrm>
          <a:prstGeom prst="rect">
            <a:avLst/>
          </a:prstGeom>
          <a:noFill/>
        </p:spPr>
        <p:txBody>
          <a:bodyPr wrap="square">
            <a:spAutoFit/>
          </a:bodyPr>
          <a:lstStyle/>
          <a:p>
            <a:pPr marL="0" marR="0" lvl="0" indent="0" algn="l" defTabSz="913668" rtl="0" eaLnBrk="1" fontAlgn="base" latinLnBrk="0" hangingPunct="1">
              <a:lnSpc>
                <a:spcPct val="100000"/>
              </a:lnSpc>
              <a:spcBef>
                <a:spcPts val="200"/>
              </a:spcBef>
              <a:spcAft>
                <a:spcPts val="20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Assumptions underlying the 30-40% efficiency gain:</a:t>
            </a:r>
          </a:p>
          <a:p>
            <a:pPr marL="285579" marR="0" lvl="0"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Tool adoption:</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Rep adoption must be consistent on a daily basis. Any reduction in tool adoption will directly impact efficiency gains and undermine the FTE reduction targets</a:t>
            </a:r>
          </a:p>
          <a:p>
            <a:pPr marL="285579" marR="0" lvl="0"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Adherence to recommendations</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Reps must act on the tool's visit priorities, suggested agendas, and action recommendations - not override them habitually. </a:t>
            </a:r>
          </a:p>
          <a:p>
            <a:pPr marL="285579" marR="0" lvl="0"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Territory stability:</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Rep territories must remain broadly stable during the measurement period. Frequent territory realignments reset the tool's learning, distort efficiency baselines, and make performance attribution unreliable</a:t>
            </a:r>
          </a:p>
          <a:p>
            <a:pPr marL="285579" marR="0" lvl="0"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charset="0"/>
                <a:ea typeface="+mn-ea"/>
                <a:cs typeface="Arial" charset="0"/>
              </a:rPr>
              <a:t>Technical Readiness: </a:t>
            </a:r>
            <a:r>
              <a:rPr kumimoji="0" lang="en-US" sz="1100" b="0" i="0" u="none" strike="noStrike" kern="1200" cap="none" spc="0" normalizeH="0" baseline="0" noProof="0" dirty="0">
                <a:ln>
                  <a:noFill/>
                </a:ln>
                <a:solidFill>
                  <a:srgbClr val="000000"/>
                </a:solidFill>
                <a:effectLst/>
                <a:uLnTx/>
                <a:uFillTx/>
                <a:latin typeface="Arial" charset="0"/>
                <a:ea typeface="+mn-ea"/>
                <a:cs typeface="Arial" charset="0"/>
              </a:rPr>
              <a:t>Efficiency gains are realized under the assumption that there are no technical challenges including network connectivity issues or device limitations in the field during rep interactions</a:t>
            </a:r>
          </a:p>
          <a:p>
            <a:pPr marL="285579" marR="0" lvl="0"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charset="0"/>
                <a:ea typeface="+mn-ea"/>
                <a:cs typeface="Arial" charset="0"/>
              </a:rPr>
              <a:t>Data Availability:</a:t>
            </a:r>
            <a:r>
              <a:rPr kumimoji="0" lang="en-US" sz="1100" b="0" i="0" u="none" strike="noStrike" kern="1200" cap="none" spc="0" normalizeH="0" baseline="0" noProof="0" dirty="0">
                <a:ln>
                  <a:noFill/>
                </a:ln>
                <a:solidFill>
                  <a:srgbClr val="000000"/>
                </a:solidFill>
                <a:effectLst/>
                <a:uLnTx/>
                <a:uFillTx/>
                <a:latin typeface="Arial" charset="0"/>
                <a:ea typeface="+mn-ea"/>
                <a:cs typeface="Arial" charset="0"/>
              </a:rPr>
              <a:t> We assume all data required for analysis, COE reports, and master data is available, accessible, and in the desired format. Any delays, incompleteness, or inconsistency in data availability will reduce AI output quality and directly impact overall efficiency delivery.</a:t>
            </a:r>
          </a:p>
          <a:p>
            <a:pPr marL="285579" marR="0" lvl="0"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Conversion of the efficiency into FTE reduction is an operational activity and should follow a formal decision gate for redeployment:</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FTE reduction decisions must pass through a structured, jointly governed redeployment gate,</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not be taken ad hoc. The gate must assess the following factors before any redeployment is approved (else the translation will not happen as desired FTE reduction):</a:t>
            </a:r>
          </a:p>
          <a:p>
            <a:pPr marL="742504" marR="0" lvl="1"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Language capability</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 rep redeployed into a new territory must be able to operate effectively in the local language. Mismatched language capability increases effort and undermines relationship quality, offsetting the efficiency gain.</a:t>
            </a:r>
          </a:p>
          <a:p>
            <a:pPr marL="742504" marR="0" lvl="1"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Geographical feasibility</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Travel distances, cross-border logistics, and physical accessibility of the territory must be viable for the redeployed rep. An efficient route plan cannot compensate for an unworkable geography</a:t>
            </a:r>
          </a:p>
          <a:p>
            <a:pPr marL="742504" marR="0" lvl="1"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charset="0"/>
                <a:ea typeface="+mn-ea"/>
                <a:cs typeface="Arial" charset="0"/>
              </a:rPr>
              <a:t>Change in market structure or commercial model:</a:t>
            </a:r>
            <a:r>
              <a:rPr kumimoji="0" lang="en-US" sz="1100" b="0" i="0" u="none" strike="noStrike" kern="1200" cap="none" spc="0" normalizeH="0" baseline="0" noProof="0" dirty="0">
                <a:ln>
                  <a:noFill/>
                </a:ln>
                <a:solidFill>
                  <a:srgbClr val="000000"/>
                </a:solidFill>
                <a:effectLst/>
                <a:uLnTx/>
                <a:uFillTx/>
                <a:latin typeface="Arial" charset="0"/>
                <a:ea typeface="+mn-ea"/>
                <a:cs typeface="Arial" charset="0"/>
              </a:rPr>
              <a:t> Significant changes to the IAM commercial model such as the introduction of new distribution tiers, changes to dealer agreements, or shifts in NSC governance during the deployment period may invalidate efficiency baselines and require recalibration of the tool's prioritization logic</a:t>
            </a:r>
            <a:endPar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742504" marR="0" lvl="1" indent="-285579" algn="l" defTabSz="913668" rtl="0" eaLnBrk="1" fontAlgn="base" latinLnBrk="0" hangingPunct="1">
              <a:lnSpc>
                <a:spcPct val="10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Minimum viable rep density per territory</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Each territory must maintain a minimum rep coverage threshold - below which service quality, visit frequency, and dealer relationships deteriorate. </a:t>
            </a:r>
          </a:p>
        </p:txBody>
      </p:sp>
    </p:spTree>
    <p:extLst>
      <p:ext uri="{BB962C8B-B14F-4D97-AF65-F5344CB8AC3E}">
        <p14:creationId xmlns:p14="http://schemas.microsoft.com/office/powerpoint/2010/main" val="4134414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BE0ED-DD13-3288-3F84-1CA4F9A66FB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C0DE6B8-228C-FACF-A753-1AEC6D035043}"/>
              </a:ext>
            </a:extLst>
          </p:cNvPr>
          <p:cNvSpPr>
            <a:spLocks noGrp="1"/>
          </p:cNvSpPr>
          <p:nvPr>
            <p:ph type="title"/>
          </p:nvPr>
        </p:nvSpPr>
        <p:spPr>
          <a:xfrm>
            <a:off x="384555" y="382897"/>
            <a:ext cx="11422891" cy="705364"/>
          </a:xfrm>
        </p:spPr>
        <p:txBody>
          <a:bodyPr/>
          <a:lstStyle/>
          <a:p>
            <a:r>
              <a:rPr lang="en-US" sz="2397" dirty="0"/>
              <a:t>Assumptions (2/2)</a:t>
            </a:r>
          </a:p>
        </p:txBody>
      </p:sp>
      <p:sp>
        <p:nvSpPr>
          <p:cNvPr id="2" name="TextBox 1">
            <a:extLst>
              <a:ext uri="{FF2B5EF4-FFF2-40B4-BE49-F238E27FC236}">
                <a16:creationId xmlns:a16="http://schemas.microsoft.com/office/drawing/2014/main" id="{48C0426E-3ACD-E510-3908-80239B4C9578}"/>
              </a:ext>
            </a:extLst>
          </p:cNvPr>
          <p:cNvSpPr txBox="1"/>
          <p:nvPr/>
        </p:nvSpPr>
        <p:spPr>
          <a:xfrm>
            <a:off x="233149" y="815009"/>
            <a:ext cx="11725702" cy="5449633"/>
          </a:xfrm>
          <a:prstGeom prst="rect">
            <a:avLst/>
          </a:prstGeom>
          <a:noFill/>
        </p:spPr>
        <p:txBody>
          <a:bodyPr wrap="square">
            <a:spAutoFit/>
          </a:bodyPr>
          <a:lstStyle/>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API Access To System: </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We assume API access is available for all in-scope source systems with a clear API documentation and authentication methods for each</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Historical data availability:</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 minimum of 12 months of clean, structured historical visit, sales performance, and dealer KPI data is assumed to be available across all in-scope markets before the Data Foundation phase begins.</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Connector availability for existing systems: </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Standard API connectors are assumed to be available for all in-scope source systems - including Salesforce, SAP S/4HANA, and the primary DMS vendor per market.</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Master data consistency:</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Dealer and IR master data - including contact details, territory assignments, tier classifications, and ordering platform registration status - is assumed to be complete, current, and consistently maintained across source systems.</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Data residency compliance:</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Data residency and sovereignty requirements per market are assumed to be addressable within the AWS multi-region architecture.</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NSC report format stability:</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The NSC report format confirmed at the start of deployment is assumed to remain stable throughout the build and rollout period.</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NSC report in digital format:</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Existing NSC reports are assumed to be available in a structured digital format - not handwritten, scanned, or unstructured PDF - that can be parsed programmatically. </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NSC portal programmatic access:</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Programmatic access to the NSC Portal or SharePoint to retrieve and submit reports is assumed to be technically feasible and approved by BMW IT within the Design &amp; Discovery phase. </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Workforce planning commitment:</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The translation of efficiency gains into FTE reduction requires active workforce planning decisions. These decisions sit entirely outside Data &amp; AI scope of delivery. Data &amp; AI delivers the efficiency; market/sales team realizes the FTE saving.</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Translation Accuracy </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The inbuilt translation models available in could will be used for all the translation layer and the accuracy of the same is assumed to be sufficient for the reports</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Foundational Model Usage </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 hybrid approach will be used when selecting the foundational model, considering the complexity of the work (for example, Claude Sonnet for complex generation and Claude Haiku for summarization and retrieval) </a:t>
            </a:r>
          </a:p>
          <a:p>
            <a:pPr marL="171450" marR="0" lvl="0" indent="-171450" algn="l" defTabSz="913668" rtl="0" eaLnBrk="1" fontAlgn="base" latinLnBrk="0" hangingPunct="1">
              <a:lnSpc>
                <a:spcPct val="150000"/>
              </a:lnSpc>
              <a:spcBef>
                <a:spcPts val="200"/>
              </a:spcBef>
              <a:spcAft>
                <a:spcPts val="2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61997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B2714-E7CE-02B4-2E1B-FF79B9FF6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13605-6219-EA8C-93B2-55585D41F497}"/>
              </a:ext>
            </a:extLst>
          </p:cNvPr>
          <p:cNvSpPr>
            <a:spLocks noGrp="1"/>
          </p:cNvSpPr>
          <p:nvPr>
            <p:ph type="title"/>
          </p:nvPr>
        </p:nvSpPr>
        <p:spPr>
          <a:xfrm>
            <a:off x="381000" y="381002"/>
            <a:ext cx="11430000" cy="317642"/>
          </a:xfrm>
        </p:spPr>
        <p:txBody>
          <a:bodyPr/>
          <a:lstStyle/>
          <a:p>
            <a:pPr fontAlgn="base">
              <a:spcAft>
                <a:spcPct val="0"/>
              </a:spcAft>
            </a:pPr>
            <a:r>
              <a:rPr lang="en-US" sz="2398" dirty="0"/>
              <a:t>Workplan For Build Phase</a:t>
            </a:r>
          </a:p>
        </p:txBody>
      </p:sp>
      <p:graphicFrame>
        <p:nvGraphicFramePr>
          <p:cNvPr id="3" name="Table 2">
            <a:extLst>
              <a:ext uri="{FF2B5EF4-FFF2-40B4-BE49-F238E27FC236}">
                <a16:creationId xmlns:a16="http://schemas.microsoft.com/office/drawing/2014/main" id="{9CC578BE-1944-B853-517C-54956E4CAEC9}"/>
              </a:ext>
            </a:extLst>
          </p:cNvPr>
          <p:cNvGraphicFramePr>
            <a:graphicFrameLocks noGrp="1"/>
          </p:cNvGraphicFramePr>
          <p:nvPr/>
        </p:nvGraphicFramePr>
        <p:xfrm>
          <a:off x="143840" y="893853"/>
          <a:ext cx="11942140" cy="5554980"/>
        </p:xfrm>
        <a:graphic>
          <a:graphicData uri="http://schemas.openxmlformats.org/drawingml/2006/table">
            <a:tbl>
              <a:tblPr firstRow="1" bandRow="1">
                <a:tableStyleId>{21E4AEA4-8DFA-4A89-87EB-49C32662AFE0}</a:tableStyleId>
              </a:tblPr>
              <a:tblGrid>
                <a:gridCol w="2015452">
                  <a:extLst>
                    <a:ext uri="{9D8B030D-6E8A-4147-A177-3AD203B41FA5}">
                      <a16:colId xmlns:a16="http://schemas.microsoft.com/office/drawing/2014/main" val="2721708236"/>
                    </a:ext>
                  </a:extLst>
                </a:gridCol>
                <a:gridCol w="9926688">
                  <a:extLst>
                    <a:ext uri="{9D8B030D-6E8A-4147-A177-3AD203B41FA5}">
                      <a16:colId xmlns:a16="http://schemas.microsoft.com/office/drawing/2014/main" val="2111707300"/>
                    </a:ext>
                  </a:extLst>
                </a:gridCol>
              </a:tblGrid>
              <a:tr h="186658">
                <a:tc>
                  <a:txBody>
                    <a:bodyPr/>
                    <a:lstStyle/>
                    <a:p>
                      <a:pPr algn="ctr"/>
                      <a:r>
                        <a:rPr lang="en-US" sz="1050" dirty="0"/>
                        <a:t>Tasks</a:t>
                      </a:r>
                    </a:p>
                  </a:txBody>
                  <a:tcPr anchor="ctr"/>
                </a:tc>
                <a:tc>
                  <a:txBody>
                    <a:bodyPr/>
                    <a:lstStyle/>
                    <a:p>
                      <a:pPr marL="0" algn="ctr" defTabSz="914400" rtl="0" eaLnBrk="1" latinLnBrk="0" hangingPunct="1"/>
                      <a:r>
                        <a:rPr lang="en-US" sz="1050" b="1" kern="1200" dirty="0">
                          <a:solidFill>
                            <a:schemeClr val="lt1"/>
                          </a:solidFill>
                          <a:latin typeface="+mn-lt"/>
                          <a:ea typeface="+mn-ea"/>
                          <a:cs typeface="+mn-cs"/>
                        </a:rPr>
                        <a:t>Details</a:t>
                      </a:r>
                    </a:p>
                  </a:txBody>
                  <a:tcPr anchor="ctr"/>
                </a:tc>
                <a:extLst>
                  <a:ext uri="{0D108BD9-81ED-4DB2-BD59-A6C34878D82A}">
                    <a16:rowId xmlns:a16="http://schemas.microsoft.com/office/drawing/2014/main" val="1519909632"/>
                  </a:ext>
                </a:extLst>
              </a:tr>
              <a:tr h="274320">
                <a:tc>
                  <a:txBody>
                    <a:bodyPr/>
                    <a:lstStyle/>
                    <a:p>
                      <a:r>
                        <a:rPr lang="en-US" sz="900" kern="1200" dirty="0">
                          <a:solidFill>
                            <a:schemeClr val="dk1"/>
                          </a:solidFill>
                          <a:latin typeface="Arial" panose="020B0604020202020204" pitchFamily="34" charset="0"/>
                          <a:ea typeface="+mn-ea"/>
                          <a:cs typeface="Arial" panose="020B0604020202020204" pitchFamily="34" charset="0"/>
                        </a:rPr>
                        <a:t>Design &amp; Discovery</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Capture NSC process, KPI definitions, data source mapping, system access, language &amp; regulatory assessment, Front end design, Market Cluster Identification,  Knowledge base content, Formal D&amp;D sign-off</a:t>
                      </a:r>
                    </a:p>
                  </a:txBody>
                  <a:tcPr anchor="ctr"/>
                </a:tc>
                <a:extLst>
                  <a:ext uri="{0D108BD9-81ED-4DB2-BD59-A6C34878D82A}">
                    <a16:rowId xmlns:a16="http://schemas.microsoft.com/office/drawing/2014/main" val="846514905"/>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Infrastructure &amp; Environment Setup</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Setup of database schemas, storage buckets, vector store namespaces, API gateway, and networking configuration etc.</a:t>
                      </a:r>
                    </a:p>
                  </a:txBody>
                  <a:tcPr anchor="ctr"/>
                </a:tc>
                <a:extLst>
                  <a:ext uri="{0D108BD9-81ED-4DB2-BD59-A6C34878D82A}">
                    <a16:rowId xmlns:a16="http://schemas.microsoft.com/office/drawing/2014/main" val="3824282670"/>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Data Connectors Build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Data connection pipeline build to enable a continuous data receipt, new connector development for different DMS / CRM / ERP</a:t>
                      </a:r>
                    </a:p>
                  </a:txBody>
                  <a:tcPr anchor="ctr"/>
                </a:tc>
                <a:extLst>
                  <a:ext uri="{0D108BD9-81ED-4DB2-BD59-A6C34878D82A}">
                    <a16:rowId xmlns:a16="http://schemas.microsoft.com/office/drawing/2014/main" val="1947879976"/>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Data validation and quality checks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Profiling, gap identification, cleansing, and baseline establishment before agent build begins</a:t>
                      </a:r>
                    </a:p>
                  </a:txBody>
                  <a:tcPr anchor="ctr"/>
                </a:tc>
                <a:extLst>
                  <a:ext uri="{0D108BD9-81ED-4DB2-BD59-A6C34878D82A}">
                    <a16:rowId xmlns:a16="http://schemas.microsoft.com/office/drawing/2014/main" val="2262300360"/>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NSC template configuration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Build market KPI targets, dealer/IR tier structure, visit frequency targets, NSC report template etc. </a:t>
                      </a:r>
                    </a:p>
                  </a:txBody>
                  <a:tcPr anchor="ctr"/>
                </a:tc>
                <a:extLst>
                  <a:ext uri="{0D108BD9-81ED-4DB2-BD59-A6C34878D82A}">
                    <a16:rowId xmlns:a16="http://schemas.microsoft.com/office/drawing/2014/main" val="3354357568"/>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CI/CD Pipeline Build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Set up source code repository, automated build and test pipelines, staging and production deployment</a:t>
                      </a:r>
                    </a:p>
                  </a:txBody>
                  <a:tcPr anchor="ctr"/>
                </a:tc>
                <a:extLst>
                  <a:ext uri="{0D108BD9-81ED-4DB2-BD59-A6C34878D82A}">
                    <a16:rowId xmlns:a16="http://schemas.microsoft.com/office/drawing/2014/main" val="2639948824"/>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Agent build - Agentic Sales Companion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Build and unit test all agents - Orchestrator, Intelligent Planner, Visit Capture, Knowledge Assistant, NSC Report Generator, and Operational Activities</a:t>
                      </a:r>
                    </a:p>
                  </a:txBody>
                  <a:tcPr anchor="ctr"/>
                </a:tc>
                <a:extLst>
                  <a:ext uri="{0D108BD9-81ED-4DB2-BD59-A6C34878D82A}">
                    <a16:rowId xmlns:a16="http://schemas.microsoft.com/office/drawing/2014/main" val="2791395259"/>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Arial" panose="020B0604020202020204" pitchFamily="34" charset="0"/>
                          <a:ea typeface="+mn-ea"/>
                          <a:cs typeface="Arial" panose="020B0604020202020204" pitchFamily="34" charset="0"/>
                        </a:rPr>
                        <a:t>Agent build -  Intelligent Route Planning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Integrate tools enabling routing engine and build daily route generation agent</a:t>
                      </a:r>
                    </a:p>
                  </a:txBody>
                  <a:tcPr anchor="ctr"/>
                </a:tc>
                <a:extLst>
                  <a:ext uri="{0D108BD9-81ED-4DB2-BD59-A6C34878D82A}">
                    <a16:rowId xmlns:a16="http://schemas.microsoft.com/office/drawing/2014/main" val="1108839260"/>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Prompt Engineering &amp; Tuning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Prompt calibration and fine tuning for the all agents</a:t>
                      </a:r>
                    </a:p>
                  </a:txBody>
                  <a:tcPr anchor="ctr"/>
                </a:tc>
                <a:extLst>
                  <a:ext uri="{0D108BD9-81ED-4DB2-BD59-A6C34878D82A}">
                    <a16:rowId xmlns:a16="http://schemas.microsoft.com/office/drawing/2014/main" val="4014838831"/>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MCP (Model Context Protocol) build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Build tool connection layer linking agents to data sources and APIs via MCP</a:t>
                      </a:r>
                    </a:p>
                  </a:txBody>
                  <a:tcPr anchor="ctr"/>
                </a:tc>
                <a:extLst>
                  <a:ext uri="{0D108BD9-81ED-4DB2-BD59-A6C34878D82A}">
                    <a16:rowId xmlns:a16="http://schemas.microsoft.com/office/drawing/2014/main" val="2771167951"/>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RAG knowledge base ingestion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Market-specific documents ingested, chunked, embedded, and validated for retrieval accuracy</a:t>
                      </a:r>
                    </a:p>
                  </a:txBody>
                  <a:tcPr anchor="ctr"/>
                </a:tc>
                <a:extLst>
                  <a:ext uri="{0D108BD9-81ED-4DB2-BD59-A6C34878D82A}">
                    <a16:rowId xmlns:a16="http://schemas.microsoft.com/office/drawing/2014/main" val="2745286416"/>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Language and localization validation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Configure Translate module for dynamic AI content, add market-specific tone instructions to prompts</a:t>
                      </a:r>
                    </a:p>
                  </a:txBody>
                  <a:tcPr anchor="ctr"/>
                </a:tc>
                <a:extLst>
                  <a:ext uri="{0D108BD9-81ED-4DB2-BD59-A6C34878D82A}">
                    <a16:rowId xmlns:a16="http://schemas.microsoft.com/office/drawing/2014/main" val="3396406785"/>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Front end build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Build ReactJS frontend with necessary capabilities as agreed in the design &amp; discovery phase</a:t>
                      </a:r>
                    </a:p>
                  </a:txBody>
                  <a:tcPr anchor="ctr"/>
                </a:tc>
                <a:extLst>
                  <a:ext uri="{0D108BD9-81ED-4DB2-BD59-A6C34878D82A}">
                    <a16:rowId xmlns:a16="http://schemas.microsoft.com/office/drawing/2014/main" val="2080480880"/>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Integration testing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Validate end-to-end data flow from source system to agent output to NSC report submission</a:t>
                      </a:r>
                    </a:p>
                  </a:txBody>
                  <a:tcPr anchor="ctr"/>
                </a:tc>
                <a:extLst>
                  <a:ext uri="{0D108BD9-81ED-4DB2-BD59-A6C34878D82A}">
                    <a16:rowId xmlns:a16="http://schemas.microsoft.com/office/drawing/2014/main" val="2129078947"/>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Tenant provisioning Build</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Build Terraform to provision fully isolated market environment - database, storage, vector store, API gateway</a:t>
                      </a:r>
                    </a:p>
                  </a:txBody>
                  <a:tcPr anchor="ctr"/>
                </a:tc>
                <a:extLst>
                  <a:ext uri="{0D108BD9-81ED-4DB2-BD59-A6C34878D82A}">
                    <a16:rowId xmlns:a16="http://schemas.microsoft.com/office/drawing/2014/main" val="1017273293"/>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Migration to Production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Validate production environment, replicate staging configurations, rotate production credentials, migrate and validate historical data, execute deployment with zero downtime</a:t>
                      </a:r>
                    </a:p>
                  </a:txBody>
                  <a:tcPr anchor="ctr"/>
                </a:tc>
                <a:extLst>
                  <a:ext uri="{0D108BD9-81ED-4DB2-BD59-A6C34878D82A}">
                    <a16:rowId xmlns:a16="http://schemas.microsoft.com/office/drawing/2014/main" val="1300654165"/>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UAT with local rep cohort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Structured testing covering semantic accuracy, report quality, tool robustness, and field usability under real visit conditions</a:t>
                      </a:r>
                    </a:p>
                  </a:txBody>
                  <a:tcPr anchor="ctr"/>
                </a:tc>
                <a:extLst>
                  <a:ext uri="{0D108BD9-81ED-4DB2-BD59-A6C34878D82A}">
                    <a16:rowId xmlns:a16="http://schemas.microsoft.com/office/drawing/2014/main" val="3138791797"/>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Arial" panose="020B0604020202020204" pitchFamily="34" charset="0"/>
                          <a:ea typeface="+mn-ea"/>
                          <a:cs typeface="Arial" panose="020B0604020202020204" pitchFamily="34" charset="0"/>
                        </a:rPr>
                        <a:t>Go live and NSC sign-off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Formal acceptance of report format and KPI accuracy by NSC management before go-live </a:t>
                      </a:r>
                    </a:p>
                  </a:txBody>
                  <a:tcPr anchor="ctr"/>
                </a:tc>
                <a:extLst>
                  <a:ext uri="{0D108BD9-81ED-4DB2-BD59-A6C34878D82A}">
                    <a16:rowId xmlns:a16="http://schemas.microsoft.com/office/drawing/2014/main" val="2893003574"/>
                  </a:ext>
                </a:extLst>
              </a:tr>
            </a:tbl>
          </a:graphicData>
        </a:graphic>
      </p:graphicFrame>
    </p:spTree>
    <p:extLst>
      <p:ext uri="{BB962C8B-B14F-4D97-AF65-F5344CB8AC3E}">
        <p14:creationId xmlns:p14="http://schemas.microsoft.com/office/powerpoint/2010/main" val="2224374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5CE76-7320-2E22-E640-7BD1A5088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C5756-525C-02FA-F264-3A8C6B87384F}"/>
              </a:ext>
            </a:extLst>
          </p:cNvPr>
          <p:cNvSpPr>
            <a:spLocks noGrp="1"/>
          </p:cNvSpPr>
          <p:nvPr>
            <p:ph type="title"/>
          </p:nvPr>
        </p:nvSpPr>
        <p:spPr>
          <a:xfrm>
            <a:off x="381000" y="381002"/>
            <a:ext cx="11430000" cy="317642"/>
          </a:xfrm>
        </p:spPr>
        <p:txBody>
          <a:bodyPr/>
          <a:lstStyle/>
          <a:p>
            <a:pPr fontAlgn="base">
              <a:spcAft>
                <a:spcPct val="0"/>
              </a:spcAft>
            </a:pPr>
            <a:r>
              <a:rPr lang="en-US" sz="2398" dirty="0"/>
              <a:t>Workplan For Rollout Phase</a:t>
            </a:r>
          </a:p>
        </p:txBody>
      </p:sp>
      <p:graphicFrame>
        <p:nvGraphicFramePr>
          <p:cNvPr id="4" name="Table 3">
            <a:extLst>
              <a:ext uri="{FF2B5EF4-FFF2-40B4-BE49-F238E27FC236}">
                <a16:creationId xmlns:a16="http://schemas.microsoft.com/office/drawing/2014/main" id="{32F11C0F-2B98-82AB-5DA9-6AA8B6BCB9CA}"/>
              </a:ext>
            </a:extLst>
          </p:cNvPr>
          <p:cNvGraphicFramePr>
            <a:graphicFrameLocks noGrp="1"/>
          </p:cNvGraphicFramePr>
          <p:nvPr/>
        </p:nvGraphicFramePr>
        <p:xfrm>
          <a:off x="143840" y="893853"/>
          <a:ext cx="11942140" cy="4091940"/>
        </p:xfrm>
        <a:graphic>
          <a:graphicData uri="http://schemas.openxmlformats.org/drawingml/2006/table">
            <a:tbl>
              <a:tblPr firstRow="1" bandRow="1">
                <a:tableStyleId>{21E4AEA4-8DFA-4A89-87EB-49C32662AFE0}</a:tableStyleId>
              </a:tblPr>
              <a:tblGrid>
                <a:gridCol w="2015453">
                  <a:extLst>
                    <a:ext uri="{9D8B030D-6E8A-4147-A177-3AD203B41FA5}">
                      <a16:colId xmlns:a16="http://schemas.microsoft.com/office/drawing/2014/main" val="2721708236"/>
                    </a:ext>
                  </a:extLst>
                </a:gridCol>
                <a:gridCol w="9926687">
                  <a:extLst>
                    <a:ext uri="{9D8B030D-6E8A-4147-A177-3AD203B41FA5}">
                      <a16:colId xmlns:a16="http://schemas.microsoft.com/office/drawing/2014/main" val="2111707300"/>
                    </a:ext>
                  </a:extLst>
                </a:gridCol>
              </a:tblGrid>
              <a:tr h="186658">
                <a:tc>
                  <a:txBody>
                    <a:bodyPr/>
                    <a:lstStyle/>
                    <a:p>
                      <a:pPr algn="ctr"/>
                      <a:r>
                        <a:rPr lang="en-US" sz="1050" dirty="0"/>
                        <a:t>Tasks</a:t>
                      </a:r>
                    </a:p>
                  </a:txBody>
                  <a:tcPr anchor="ctr"/>
                </a:tc>
                <a:tc>
                  <a:txBody>
                    <a:bodyPr/>
                    <a:lstStyle/>
                    <a:p>
                      <a:pPr marL="0" algn="ctr" defTabSz="914400" rtl="0" eaLnBrk="1" latinLnBrk="0" hangingPunct="1"/>
                      <a:r>
                        <a:rPr lang="en-US" sz="1050" b="1" kern="1200" dirty="0">
                          <a:solidFill>
                            <a:schemeClr val="lt1"/>
                          </a:solidFill>
                          <a:latin typeface="+mn-lt"/>
                          <a:ea typeface="+mn-ea"/>
                          <a:cs typeface="+mn-cs"/>
                        </a:rPr>
                        <a:t>Details</a:t>
                      </a:r>
                    </a:p>
                  </a:txBody>
                  <a:tcPr anchor="ctr"/>
                </a:tc>
                <a:extLst>
                  <a:ext uri="{0D108BD9-81ED-4DB2-BD59-A6C34878D82A}">
                    <a16:rowId xmlns:a16="http://schemas.microsoft.com/office/drawing/2014/main" val="1519909632"/>
                  </a:ext>
                </a:extLst>
              </a:tr>
              <a:tr h="274320">
                <a:tc>
                  <a:txBody>
                    <a:bodyPr/>
                    <a:lstStyle/>
                    <a:p>
                      <a:r>
                        <a:rPr lang="en-US" sz="900" kern="1200" dirty="0">
                          <a:solidFill>
                            <a:schemeClr val="dk1"/>
                          </a:solidFill>
                          <a:latin typeface="Arial" panose="020B0604020202020204" pitchFamily="34" charset="0"/>
                          <a:ea typeface="+mn-ea"/>
                          <a:cs typeface="Arial" panose="020B0604020202020204" pitchFamily="34" charset="0"/>
                        </a:rPr>
                        <a:t>Design &amp; Discovery</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Capture NSC process, KPI definitions, data source mapping, system access, language &amp; regulatory assessment, Front end design, Market Cluster Identification,  Knowledge base content, Formal D&amp;D sign-off</a:t>
                      </a:r>
                    </a:p>
                  </a:txBody>
                  <a:tcPr anchor="ctr"/>
                </a:tc>
                <a:extLst>
                  <a:ext uri="{0D108BD9-81ED-4DB2-BD59-A6C34878D82A}">
                    <a16:rowId xmlns:a16="http://schemas.microsoft.com/office/drawing/2014/main" val="846514905"/>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Tenant Provisioning</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Execute automated Terraform run to provision fully isolated market environment - DB schema, S3 prefix, vector namespace, API gateway etc.</a:t>
                      </a:r>
                    </a:p>
                  </a:txBody>
                  <a:tcPr anchor="ctr"/>
                </a:tc>
                <a:extLst>
                  <a:ext uri="{0D108BD9-81ED-4DB2-BD59-A6C34878D82A}">
                    <a16:rowId xmlns:a16="http://schemas.microsoft.com/office/drawing/2014/main" val="3824282670"/>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Data Connectors Config/Build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Same-stack: reuse existing connectors, point to new market credentials and endpoints. Different-stack: build new connector for unfamiliar DMS or CRM</a:t>
                      </a:r>
                    </a:p>
                  </a:txBody>
                  <a:tcPr anchor="ctr"/>
                </a:tc>
                <a:extLst>
                  <a:ext uri="{0D108BD9-81ED-4DB2-BD59-A6C34878D82A}">
                    <a16:rowId xmlns:a16="http://schemas.microsoft.com/office/drawing/2014/main" val="1947879976"/>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Data validation and quality checks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Profiling, gap identification, cleansing, and baseline establishment before agent build begins</a:t>
                      </a:r>
                    </a:p>
                  </a:txBody>
                  <a:tcPr anchor="ctr"/>
                </a:tc>
                <a:extLst>
                  <a:ext uri="{0D108BD9-81ED-4DB2-BD59-A6C34878D82A}">
                    <a16:rowId xmlns:a16="http://schemas.microsoft.com/office/drawing/2014/main" val="2262300360"/>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RAG knowledge base ingestion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Market-specific documents ingested, chunked, embedded, and validated for retrieval accuracy</a:t>
                      </a:r>
                    </a:p>
                  </a:txBody>
                  <a:tcPr anchor="ctr"/>
                </a:tc>
                <a:extLst>
                  <a:ext uri="{0D108BD9-81ED-4DB2-BD59-A6C34878D82A}">
                    <a16:rowId xmlns:a16="http://schemas.microsoft.com/office/drawing/2014/main" val="2639948824"/>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Language and localization validation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Configure Translate module for dynamic AI content, add market-specific tone instructions to prompts</a:t>
                      </a:r>
                    </a:p>
                  </a:txBody>
                  <a:tcPr anchor="ctr"/>
                </a:tc>
                <a:extLst>
                  <a:ext uri="{0D108BD9-81ED-4DB2-BD59-A6C34878D82A}">
                    <a16:rowId xmlns:a16="http://schemas.microsoft.com/office/drawing/2014/main" val="1133782864"/>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MCP (Model Context Protocol) Reconfigure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Reconfigure tool connection layer linking agents to data sources and APIs via MCP</a:t>
                      </a:r>
                    </a:p>
                  </a:txBody>
                  <a:tcPr anchor="ctr"/>
                </a:tc>
                <a:extLst>
                  <a:ext uri="{0D108BD9-81ED-4DB2-BD59-A6C34878D82A}">
                    <a16:rowId xmlns:a16="http://schemas.microsoft.com/office/drawing/2014/main" val="2791395259"/>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Integration testing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Validate end-to-end data flow from source system to agent output to NSC report submission</a:t>
                      </a:r>
                    </a:p>
                  </a:txBody>
                  <a:tcPr anchor="ctr"/>
                </a:tc>
                <a:extLst>
                  <a:ext uri="{0D108BD9-81ED-4DB2-BD59-A6C34878D82A}">
                    <a16:rowId xmlns:a16="http://schemas.microsoft.com/office/drawing/2014/main" val="1108839260"/>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Prompt Engineering &amp; Tuning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Prompt calibration and fine tuning for the all agents</a:t>
                      </a:r>
                    </a:p>
                  </a:txBody>
                  <a:tcPr anchor="ctr"/>
                </a:tc>
                <a:extLst>
                  <a:ext uri="{0D108BD9-81ED-4DB2-BD59-A6C34878D82A}">
                    <a16:rowId xmlns:a16="http://schemas.microsoft.com/office/drawing/2014/main" val="4014838831"/>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Front end Reconfigure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Reuse ReactJS frontend with necessary capabilities as agreed in the design &amp; discovery phase</a:t>
                      </a:r>
                    </a:p>
                  </a:txBody>
                  <a:tcPr anchor="ctr"/>
                </a:tc>
                <a:extLst>
                  <a:ext uri="{0D108BD9-81ED-4DB2-BD59-A6C34878D82A}">
                    <a16:rowId xmlns:a16="http://schemas.microsoft.com/office/drawing/2014/main" val="2080480880"/>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Migration to Production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Validate production environment, replicate staging configurations, rotate production credentials, migrate and validate historical data, execute deployment with zero downtime</a:t>
                      </a:r>
                    </a:p>
                  </a:txBody>
                  <a:tcPr anchor="ctr"/>
                </a:tc>
                <a:extLst>
                  <a:ext uri="{0D108BD9-81ED-4DB2-BD59-A6C34878D82A}">
                    <a16:rowId xmlns:a16="http://schemas.microsoft.com/office/drawing/2014/main" val="2129078947"/>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UAT with local rep cohort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Structured testing covering semantic accuracy, report quality, tool robustness, and field usability under real visit conditions</a:t>
                      </a:r>
                    </a:p>
                  </a:txBody>
                  <a:tcPr anchor="ctr"/>
                </a:tc>
                <a:extLst>
                  <a:ext uri="{0D108BD9-81ED-4DB2-BD59-A6C34878D82A}">
                    <a16:rowId xmlns:a16="http://schemas.microsoft.com/office/drawing/2014/main" val="1017273293"/>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Arial" panose="020B0604020202020204" pitchFamily="34" charset="0"/>
                          <a:ea typeface="+mn-ea"/>
                          <a:cs typeface="Arial" panose="020B0604020202020204" pitchFamily="34" charset="0"/>
                        </a:rPr>
                        <a:t>Go live and NSC sign-off </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Formal acceptance of report format and KPI accuracy by NSC management before go-live </a:t>
                      </a:r>
                    </a:p>
                  </a:txBody>
                  <a:tcPr anchor="ctr"/>
                </a:tc>
                <a:extLst>
                  <a:ext uri="{0D108BD9-81ED-4DB2-BD59-A6C34878D82A}">
                    <a16:rowId xmlns:a16="http://schemas.microsoft.com/office/drawing/2014/main" val="1300654165"/>
                  </a:ext>
                </a:extLst>
              </a:tr>
            </a:tbl>
          </a:graphicData>
        </a:graphic>
      </p:graphicFrame>
    </p:spTree>
    <p:extLst>
      <p:ext uri="{BB962C8B-B14F-4D97-AF65-F5344CB8AC3E}">
        <p14:creationId xmlns:p14="http://schemas.microsoft.com/office/powerpoint/2010/main" val="1276679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4FE71-23E8-5729-E76B-24538C10D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56EDF-15DF-6001-425C-76B604B15931}"/>
              </a:ext>
            </a:extLst>
          </p:cNvPr>
          <p:cNvSpPr>
            <a:spLocks noGrp="1"/>
          </p:cNvSpPr>
          <p:nvPr>
            <p:ph type="title"/>
          </p:nvPr>
        </p:nvSpPr>
        <p:spPr>
          <a:xfrm>
            <a:off x="381000" y="381002"/>
            <a:ext cx="11430000" cy="317642"/>
          </a:xfrm>
        </p:spPr>
        <p:txBody>
          <a:bodyPr/>
          <a:lstStyle/>
          <a:p>
            <a:pPr fontAlgn="base">
              <a:spcAft>
                <a:spcPct val="0"/>
              </a:spcAft>
            </a:pPr>
            <a:r>
              <a:rPr lang="en-US" sz="2398" dirty="0"/>
              <a:t>Workplan For Operations/Maintenance Phase</a:t>
            </a:r>
          </a:p>
        </p:txBody>
      </p:sp>
      <p:graphicFrame>
        <p:nvGraphicFramePr>
          <p:cNvPr id="4" name="Table 3">
            <a:extLst>
              <a:ext uri="{FF2B5EF4-FFF2-40B4-BE49-F238E27FC236}">
                <a16:creationId xmlns:a16="http://schemas.microsoft.com/office/drawing/2014/main" id="{41C531C6-BEAA-9EBB-FED9-372E0CA80FD9}"/>
              </a:ext>
            </a:extLst>
          </p:cNvPr>
          <p:cNvGraphicFramePr>
            <a:graphicFrameLocks noGrp="1"/>
          </p:cNvGraphicFramePr>
          <p:nvPr/>
        </p:nvGraphicFramePr>
        <p:xfrm>
          <a:off x="143839" y="893853"/>
          <a:ext cx="11942141" cy="1440180"/>
        </p:xfrm>
        <a:graphic>
          <a:graphicData uri="http://schemas.openxmlformats.org/drawingml/2006/table">
            <a:tbl>
              <a:tblPr firstRow="1" bandRow="1">
                <a:tableStyleId>{21E4AEA4-8DFA-4A89-87EB-49C32662AFE0}</a:tableStyleId>
              </a:tblPr>
              <a:tblGrid>
                <a:gridCol w="2015453">
                  <a:extLst>
                    <a:ext uri="{9D8B030D-6E8A-4147-A177-3AD203B41FA5}">
                      <a16:colId xmlns:a16="http://schemas.microsoft.com/office/drawing/2014/main" val="2721708236"/>
                    </a:ext>
                  </a:extLst>
                </a:gridCol>
                <a:gridCol w="9926688">
                  <a:extLst>
                    <a:ext uri="{9D8B030D-6E8A-4147-A177-3AD203B41FA5}">
                      <a16:colId xmlns:a16="http://schemas.microsoft.com/office/drawing/2014/main" val="2111707300"/>
                    </a:ext>
                  </a:extLst>
                </a:gridCol>
              </a:tblGrid>
              <a:tr h="186658">
                <a:tc>
                  <a:txBody>
                    <a:bodyPr/>
                    <a:lstStyle/>
                    <a:p>
                      <a:pPr algn="ctr"/>
                      <a:r>
                        <a:rPr lang="en-US" sz="1050" dirty="0"/>
                        <a:t>Tasks</a:t>
                      </a:r>
                    </a:p>
                  </a:txBody>
                  <a:tcPr anchor="ctr"/>
                </a:tc>
                <a:tc>
                  <a:txBody>
                    <a:bodyPr/>
                    <a:lstStyle/>
                    <a:p>
                      <a:pPr marL="0" algn="ctr" defTabSz="914400" rtl="0" eaLnBrk="1" latinLnBrk="0" hangingPunct="1"/>
                      <a:r>
                        <a:rPr lang="en-US" sz="1050" b="1" kern="1200" dirty="0">
                          <a:solidFill>
                            <a:schemeClr val="lt1"/>
                          </a:solidFill>
                          <a:latin typeface="+mn-lt"/>
                          <a:ea typeface="+mn-ea"/>
                          <a:cs typeface="+mn-cs"/>
                        </a:rPr>
                        <a:t>Details</a:t>
                      </a:r>
                    </a:p>
                  </a:txBody>
                  <a:tcPr anchor="ctr"/>
                </a:tc>
                <a:extLst>
                  <a:ext uri="{0D108BD9-81ED-4DB2-BD59-A6C34878D82A}">
                    <a16:rowId xmlns:a16="http://schemas.microsoft.com/office/drawing/2014/main" val="1519909632"/>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Platform Monitoring</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Review alert dashboard - log anomalies, performance degradation, API errors, pipeline sync failures etc.</a:t>
                      </a:r>
                    </a:p>
                  </a:txBody>
                  <a:tcPr anchor="ctr"/>
                </a:tc>
                <a:extLst>
                  <a:ext uri="{0D108BD9-81ED-4DB2-BD59-A6C34878D82A}">
                    <a16:rowId xmlns:a16="http://schemas.microsoft.com/office/drawing/2014/main" val="846514905"/>
                  </a:ext>
                </a:extLst>
              </a:tr>
              <a:tr h="274320">
                <a:tc>
                  <a:txBody>
                    <a:bodyPr/>
                    <a:lstStyle/>
                    <a:p>
                      <a:r>
                        <a:rPr lang="en-US" sz="900" kern="1200" dirty="0">
                          <a:solidFill>
                            <a:schemeClr val="dk1"/>
                          </a:solidFill>
                          <a:latin typeface="Arial" panose="020B0604020202020204" pitchFamily="34" charset="0"/>
                          <a:ea typeface="+mn-ea"/>
                          <a:cs typeface="Arial" panose="020B0604020202020204" pitchFamily="34" charset="0"/>
                        </a:rPr>
                        <a:t>Bug Fixes &amp; Incident Resolution</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Fix reported bugs covering agent errors, data pipeline failures, frontend issues, connector breaks, integration failures etc. </a:t>
                      </a:r>
                    </a:p>
                  </a:txBody>
                  <a:tcPr anchor="ctr"/>
                </a:tc>
                <a:extLst>
                  <a:ext uri="{0D108BD9-81ED-4DB2-BD59-A6C34878D82A}">
                    <a16:rowId xmlns:a16="http://schemas.microsoft.com/office/drawing/2014/main" val="3824282670"/>
                  </a:ext>
                </a:extLst>
              </a:tr>
              <a:tr h="274320">
                <a:tc>
                  <a:txBody>
                    <a:bodyPr/>
                    <a:lstStyle/>
                    <a:p>
                      <a:r>
                        <a:rPr lang="en-US" sz="900" kern="1200" dirty="0">
                          <a:solidFill>
                            <a:schemeClr val="dk1"/>
                          </a:solidFill>
                          <a:latin typeface="Arial" panose="020B0604020202020204" pitchFamily="34" charset="0"/>
                          <a:ea typeface="+mn-ea"/>
                          <a:cs typeface="Arial" panose="020B0604020202020204" pitchFamily="34" charset="0"/>
                        </a:rPr>
                        <a:t>Security Patching &amp; Infrastructure Updates</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Apply security patches and dependency version updates on a regular basis</a:t>
                      </a:r>
                    </a:p>
                  </a:txBody>
                  <a:tcPr anchor="ctr"/>
                </a:tc>
                <a:extLst>
                  <a:ext uri="{0D108BD9-81ED-4DB2-BD59-A6C34878D82A}">
                    <a16:rowId xmlns:a16="http://schemas.microsoft.com/office/drawing/2014/main" val="1947879976"/>
                  </a:ext>
                </a:extLst>
              </a:tr>
              <a:tr h="274320">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Governance &amp; Monthly Reporting</a:t>
                      </a:r>
                    </a:p>
                  </a:txBody>
                  <a:tcPr anchor="ctr"/>
                </a:tc>
                <a:tc>
                  <a:txBody>
                    <a:bodyPr/>
                    <a:lstStyle/>
                    <a:p>
                      <a:pPr marL="0" algn="l" defTabSz="914400" rtl="0" eaLnBrk="1" latinLnBrk="0" hangingPunct="1"/>
                      <a:r>
                        <a:rPr lang="en-US" sz="900" kern="1200" dirty="0">
                          <a:solidFill>
                            <a:schemeClr val="dk1"/>
                          </a:solidFill>
                          <a:latin typeface="Arial" panose="020B0604020202020204" pitchFamily="34" charset="0"/>
                          <a:ea typeface="+mn-ea"/>
                          <a:cs typeface="Arial" panose="020B0604020202020204" pitchFamily="34" charset="0"/>
                        </a:rPr>
                        <a:t>Prepare monthly BAU review pack - platform health, adoption metrics, open issues, and present to BMW in monthly governance review</a:t>
                      </a:r>
                    </a:p>
                  </a:txBody>
                  <a:tcPr anchor="ctr"/>
                </a:tc>
                <a:extLst>
                  <a:ext uri="{0D108BD9-81ED-4DB2-BD59-A6C34878D82A}">
                    <a16:rowId xmlns:a16="http://schemas.microsoft.com/office/drawing/2014/main" val="2262300360"/>
                  </a:ext>
                </a:extLst>
              </a:tr>
            </a:tbl>
          </a:graphicData>
        </a:graphic>
      </p:graphicFrame>
    </p:spTree>
    <p:extLst>
      <p:ext uri="{BB962C8B-B14F-4D97-AF65-F5344CB8AC3E}">
        <p14:creationId xmlns:p14="http://schemas.microsoft.com/office/powerpoint/2010/main" val="263651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A4417-5F3C-5B8A-58E1-C33CCB2171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68FD6-C152-C036-63B2-102BB7C2BD86}"/>
              </a:ext>
            </a:extLst>
          </p:cNvPr>
          <p:cNvSpPr>
            <a:spLocks noGrp="1"/>
          </p:cNvSpPr>
          <p:nvPr>
            <p:ph type="title"/>
          </p:nvPr>
        </p:nvSpPr>
        <p:spPr>
          <a:xfrm>
            <a:off x="384555" y="382897"/>
            <a:ext cx="11422891" cy="705364"/>
          </a:xfrm>
        </p:spPr>
        <p:txBody>
          <a:bodyPr/>
          <a:lstStyle/>
          <a:p>
            <a:r>
              <a:rPr lang="en-US" sz="2397" dirty="0"/>
              <a:t>Key Risks And Mitigations</a:t>
            </a:r>
          </a:p>
        </p:txBody>
      </p:sp>
      <p:graphicFrame>
        <p:nvGraphicFramePr>
          <p:cNvPr id="3" name="Table 2">
            <a:extLst>
              <a:ext uri="{FF2B5EF4-FFF2-40B4-BE49-F238E27FC236}">
                <a16:creationId xmlns:a16="http://schemas.microsoft.com/office/drawing/2014/main" id="{82C78D38-4FB2-AD70-B1EB-C5CF36E3F826}"/>
              </a:ext>
            </a:extLst>
          </p:cNvPr>
          <p:cNvGraphicFramePr>
            <a:graphicFrameLocks noGrp="1"/>
          </p:cNvGraphicFramePr>
          <p:nvPr/>
        </p:nvGraphicFramePr>
        <p:xfrm>
          <a:off x="166568" y="797600"/>
          <a:ext cx="11858864" cy="5707380"/>
        </p:xfrm>
        <a:graphic>
          <a:graphicData uri="http://schemas.openxmlformats.org/drawingml/2006/table">
            <a:tbl>
              <a:tblPr firstRow="1" bandRow="1">
                <a:tableStyleId>{21E4AEA4-8DFA-4A89-87EB-49C32662AFE0}</a:tableStyleId>
              </a:tblPr>
              <a:tblGrid>
                <a:gridCol w="1155572">
                  <a:extLst>
                    <a:ext uri="{9D8B030D-6E8A-4147-A177-3AD203B41FA5}">
                      <a16:colId xmlns:a16="http://schemas.microsoft.com/office/drawing/2014/main" val="2721708236"/>
                    </a:ext>
                  </a:extLst>
                </a:gridCol>
                <a:gridCol w="1347536">
                  <a:extLst>
                    <a:ext uri="{9D8B030D-6E8A-4147-A177-3AD203B41FA5}">
                      <a16:colId xmlns:a16="http://schemas.microsoft.com/office/drawing/2014/main" val="2111707300"/>
                    </a:ext>
                  </a:extLst>
                </a:gridCol>
                <a:gridCol w="4010257">
                  <a:extLst>
                    <a:ext uri="{9D8B030D-6E8A-4147-A177-3AD203B41FA5}">
                      <a16:colId xmlns:a16="http://schemas.microsoft.com/office/drawing/2014/main" val="1520502380"/>
                    </a:ext>
                  </a:extLst>
                </a:gridCol>
                <a:gridCol w="5345499">
                  <a:extLst>
                    <a:ext uri="{9D8B030D-6E8A-4147-A177-3AD203B41FA5}">
                      <a16:colId xmlns:a16="http://schemas.microsoft.com/office/drawing/2014/main" val="2882750699"/>
                    </a:ext>
                  </a:extLst>
                </a:gridCol>
              </a:tblGrid>
              <a:tr h="221307">
                <a:tc>
                  <a:txBody>
                    <a:bodyPr/>
                    <a:lstStyle/>
                    <a:p>
                      <a:pPr algn="ctr"/>
                      <a:r>
                        <a:rPr lang="en-US" sz="1050" dirty="0"/>
                        <a:t>Category</a:t>
                      </a:r>
                    </a:p>
                  </a:txBody>
                  <a:tcPr anchor="ctr"/>
                </a:tc>
                <a:tc>
                  <a:txBody>
                    <a:bodyPr/>
                    <a:lstStyle/>
                    <a:p>
                      <a:pPr marL="0" algn="ctr" defTabSz="914400" rtl="0" eaLnBrk="1" latinLnBrk="0" hangingPunct="1"/>
                      <a:r>
                        <a:rPr lang="en-US" sz="1050" b="1" kern="1200" dirty="0">
                          <a:solidFill>
                            <a:schemeClr val="lt1"/>
                          </a:solidFill>
                          <a:latin typeface="+mn-lt"/>
                          <a:ea typeface="+mn-ea"/>
                          <a:cs typeface="+mn-cs"/>
                        </a:rPr>
                        <a:t>Risk</a:t>
                      </a:r>
                    </a:p>
                  </a:txBody>
                  <a:tcPr anchor="ctr"/>
                </a:tc>
                <a:tc>
                  <a:txBody>
                    <a:bodyPr/>
                    <a:lstStyle/>
                    <a:p>
                      <a:pPr marL="0" algn="ctr" defTabSz="914400" rtl="0" eaLnBrk="1" latinLnBrk="0" hangingPunct="1"/>
                      <a:r>
                        <a:rPr lang="en-US" sz="1050" b="1" kern="1200" dirty="0">
                          <a:solidFill>
                            <a:schemeClr val="lt1"/>
                          </a:solidFill>
                          <a:latin typeface="+mn-lt"/>
                          <a:ea typeface="+mn-ea"/>
                          <a:cs typeface="+mn-cs"/>
                        </a:rPr>
                        <a:t>Details</a:t>
                      </a:r>
                    </a:p>
                  </a:txBody>
                  <a:tcPr anchor="ctr"/>
                </a:tc>
                <a:tc>
                  <a:txBody>
                    <a:bodyPr/>
                    <a:lstStyle/>
                    <a:p>
                      <a:pPr marL="0" algn="ctr" defTabSz="914400" rtl="0" eaLnBrk="1" latinLnBrk="0" hangingPunct="1"/>
                      <a:r>
                        <a:rPr lang="en-US" sz="1050" b="1" kern="1200" dirty="0">
                          <a:solidFill>
                            <a:schemeClr val="lt1"/>
                          </a:solidFill>
                          <a:latin typeface="+mn-lt"/>
                          <a:ea typeface="+mn-ea"/>
                          <a:cs typeface="+mn-cs"/>
                        </a:rPr>
                        <a:t>Mitigation</a:t>
                      </a:r>
                    </a:p>
                  </a:txBody>
                  <a:tcPr anchor="ctr"/>
                </a:tc>
                <a:extLst>
                  <a:ext uri="{0D108BD9-81ED-4DB2-BD59-A6C34878D82A}">
                    <a16:rowId xmlns:a16="http://schemas.microsoft.com/office/drawing/2014/main" val="1519909632"/>
                  </a:ext>
                </a:extLst>
              </a:tr>
              <a:tr h="402377">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Data &amp; Integration Risks</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Data access delays</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BMW IT security approvals and API access grants take longer than anticipated - blocking connector build and delaying future process</a:t>
                      </a:r>
                    </a:p>
                  </a:txBody>
                  <a:tcPr anchor="ctr"/>
                </a:tc>
                <a:tc>
                  <a:txBody>
                    <a:bodyPr/>
                    <a:lstStyle/>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Initiate IT security review in Week 1 of D&amp;D </a:t>
                      </a:r>
                    </a:p>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Build connector stubs using synthetic data during access approval period to maintain build momentum.</a:t>
                      </a:r>
                    </a:p>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Escalate via Delivery Lead if API access not confirmed by end of W4. </a:t>
                      </a:r>
                    </a:p>
                  </a:txBody>
                  <a:tcPr anchor="ctr"/>
                </a:tc>
                <a:extLst>
                  <a:ext uri="{0D108BD9-81ED-4DB2-BD59-A6C34878D82A}">
                    <a16:rowId xmlns:a16="http://schemas.microsoft.com/office/drawing/2014/main" val="846514905"/>
                  </a:ext>
                </a:extLst>
              </a:tr>
              <a:tr h="295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Arial" panose="020B0604020202020204" pitchFamily="34" charset="0"/>
                          <a:ea typeface="+mn-ea"/>
                          <a:cs typeface="Arial" panose="020B0604020202020204" pitchFamily="34" charset="0"/>
                        </a:rPr>
                        <a:t>Data &amp; Integration Risks</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Poor data quality</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Source system data is incomplete, inconsistently structured</a:t>
                      </a:r>
                    </a:p>
                  </a:txBody>
                  <a:tcPr anchor="ctr"/>
                </a:tc>
                <a:tc>
                  <a:txBody>
                    <a:bodyPr/>
                    <a:lstStyle/>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Mandatory data quality assessment in D&amp;D - minimum viable data confirmed per market before build begins.</a:t>
                      </a:r>
                    </a:p>
                  </a:txBody>
                  <a:tcPr anchor="ctr"/>
                </a:tc>
                <a:extLst>
                  <a:ext uri="{0D108BD9-81ED-4DB2-BD59-A6C34878D82A}">
                    <a16:rowId xmlns:a16="http://schemas.microsoft.com/office/drawing/2014/main" val="3824282670"/>
                  </a:ext>
                </a:extLst>
              </a:tr>
              <a:tr h="402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Arial" panose="020B0604020202020204" pitchFamily="34" charset="0"/>
                          <a:ea typeface="+mn-ea"/>
                          <a:cs typeface="Arial" panose="020B0604020202020204" pitchFamily="34" charset="0"/>
                        </a:rPr>
                        <a:t>Data &amp; Integration Risks</a:t>
                      </a:r>
                    </a:p>
                    <a:p>
                      <a:endParaRPr lang="en-US" sz="800" kern="1200" dirty="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Source system schema changes</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BMW makes changes to source system APIs, data structures, or field mappings post-connector build breaking live data pipelines without warning and causing silent data degradation</a:t>
                      </a:r>
                    </a:p>
                  </a:txBody>
                  <a:tcPr anchor="ctr"/>
                </a:tc>
                <a:tc>
                  <a:txBody>
                    <a:bodyPr/>
                    <a:lstStyle/>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BMW IT commits to notifying the operations team minimum 2 weeks before any planned source system change.</a:t>
                      </a:r>
                    </a:p>
                  </a:txBody>
                  <a:tcPr anchor="ctr"/>
                </a:tc>
                <a:extLst>
                  <a:ext uri="{0D108BD9-81ED-4DB2-BD59-A6C34878D82A}">
                    <a16:rowId xmlns:a16="http://schemas.microsoft.com/office/drawing/2014/main" val="1947879976"/>
                  </a:ext>
                </a:extLst>
              </a:tr>
              <a:tr h="3170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Arial" panose="020B0604020202020204" pitchFamily="34" charset="0"/>
                          <a:ea typeface="+mn-ea"/>
                          <a:cs typeface="Arial" panose="020B0604020202020204" pitchFamily="34" charset="0"/>
                        </a:rPr>
                        <a:t>Data &amp; Integration Risks</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NSC report inconsistency across markets</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Existing NSC reports vary significantly in structure between markets forcing market-specific extraction layers rather than a single shared pipeline</a:t>
                      </a:r>
                    </a:p>
                  </a:txBody>
                  <a:tcPr anchor="ctr"/>
                </a:tc>
                <a:tc>
                  <a:txBody>
                    <a:bodyPr/>
                    <a:lstStyle/>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Confirm NSC report structure for all in-scope markets in D&amp;D before build begins. </a:t>
                      </a:r>
                    </a:p>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Sample reports collected and reviewed in weeks 1/2</a:t>
                      </a:r>
                    </a:p>
                  </a:txBody>
                  <a:tcPr anchor="ctr"/>
                </a:tc>
                <a:extLst>
                  <a:ext uri="{0D108BD9-81ED-4DB2-BD59-A6C34878D82A}">
                    <a16:rowId xmlns:a16="http://schemas.microsoft.com/office/drawing/2014/main" val="3184101008"/>
                  </a:ext>
                </a:extLst>
              </a:tr>
              <a:tr h="402377">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AI &amp; Technology Risks</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AI output quality degradation</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Agent output quality degrades over time as LLM providers update models, data patterns shift, or the knowledge base becomes outdated </a:t>
                      </a:r>
                    </a:p>
                  </a:txBody>
                  <a:tcPr anchor="ctr"/>
                </a:tc>
                <a:tc>
                  <a:txBody>
                    <a:bodyPr/>
                    <a:lstStyle/>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RAG knowledge base refreshed quarterly - BMW provides updated documents.</a:t>
                      </a:r>
                    </a:p>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Model version transitions always tested in staging before production switch. Never switch LLM versions cold in production.</a:t>
                      </a:r>
                    </a:p>
                  </a:txBody>
                  <a:tcPr anchor="ctr"/>
                </a:tc>
                <a:extLst>
                  <a:ext uri="{0D108BD9-81ED-4DB2-BD59-A6C34878D82A}">
                    <a16:rowId xmlns:a16="http://schemas.microsoft.com/office/drawing/2014/main" val="436059340"/>
                  </a:ext>
                </a:extLst>
              </a:tr>
              <a:tr h="402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AI &amp; Technology Risks</a:t>
                      </a:r>
                      <a:endPar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Orchestration latency at scale</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Multi-agent orchestration response times exceed the threshold time under concurrent user load - degrading the field rep experience and accelerating tool abandonment</a:t>
                      </a:r>
                    </a:p>
                  </a:txBody>
                  <a:tcPr anchor="ctr"/>
                </a:tc>
                <a:tc>
                  <a:txBody>
                    <a:bodyPr/>
                    <a:lstStyle/>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Load testing at expected peak concurrency completed before UAT, not after</a:t>
                      </a:r>
                    </a:p>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Prompt caching for repeated dealer context and model routing (Haiku for summarization, Sonnet for generation) implemented from build to control latency and cost simultaneously</a:t>
                      </a:r>
                    </a:p>
                  </a:txBody>
                  <a:tcPr anchor="ctr"/>
                </a:tc>
                <a:extLst>
                  <a:ext uri="{0D108BD9-81ED-4DB2-BD59-A6C34878D82A}">
                    <a16:rowId xmlns:a16="http://schemas.microsoft.com/office/drawing/2014/main" val="2422292418"/>
                  </a:ext>
                </a:extLst>
              </a:tr>
              <a:tr h="295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AI &amp; Technology Risks</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LLM cost overrun</a:t>
                      </a:r>
                    </a:p>
                  </a:txBody>
                  <a:tcPr anchor="ctr"/>
                </a:tc>
                <a:tc>
                  <a:txBody>
                    <a:bodyPr/>
                    <a:lstStyle/>
                    <a:p>
                      <a:pPr marL="0" algn="l" defTabSz="914400" rtl="0" eaLnBrk="1" latinLnBrk="0" hangingPunct="1"/>
                      <a:r>
                        <a:rPr lang="en-US" sz="800" kern="1200" dirty="0">
                          <a:solidFill>
                            <a:schemeClr val="dk1"/>
                          </a:solidFill>
                          <a:latin typeface="Arial" panose="020B0604020202020204" pitchFamily="34" charset="0"/>
                          <a:ea typeface="+mn-ea"/>
                          <a:cs typeface="Arial" panose="020B0604020202020204" pitchFamily="34" charset="0"/>
                        </a:rPr>
                        <a:t>Unmonitored LLM API usage across markets at full scale drives platform costs significantly above the estimate</a:t>
                      </a:r>
                    </a:p>
                  </a:txBody>
                  <a:tcPr anchor="ctr"/>
                </a:tc>
                <a:tc>
                  <a:txBody>
                    <a:bodyPr/>
                    <a:lstStyle/>
                    <a:p>
                      <a:pPr marL="171450" indent="-171450" algn="l" defTabSz="914400" rtl="0" eaLnBrk="1" latinLnBrk="0" hangingPunct="1">
                        <a:buFont typeface="Arial" panose="020B0604020202020204" pitchFamily="34" charset="0"/>
                        <a:buChar char="•"/>
                      </a:pPr>
                      <a:r>
                        <a:rPr lang="en-US" sz="800" kern="1200" dirty="0">
                          <a:solidFill>
                            <a:schemeClr val="dk1"/>
                          </a:solidFill>
                          <a:latin typeface="Arial" panose="020B0604020202020204" pitchFamily="34" charset="0"/>
                          <a:ea typeface="+mn-ea"/>
                          <a:cs typeface="Arial" panose="020B0604020202020204" pitchFamily="34" charset="0"/>
                        </a:rPr>
                        <a:t>Monthly cost governance review by Data Scientist - usage per market, per workflow, per model tracked and reported to BMW.</a:t>
                      </a:r>
                    </a:p>
                  </a:txBody>
                  <a:tcPr anchor="ctr"/>
                </a:tc>
                <a:extLst>
                  <a:ext uri="{0D108BD9-81ED-4DB2-BD59-A6C34878D82A}">
                    <a16:rowId xmlns:a16="http://schemas.microsoft.com/office/drawing/2014/main" val="1447915498"/>
                  </a:ext>
                </a:extLst>
              </a:tr>
              <a:tr h="402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Delivery &amp; Program Risks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Low rep adoption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Field reps revert to manual habits within weeks of go-live - using the tool inconsistently or partially - reducing efficiency gains below projected levels and making FTE reduction targets indefensible.</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NSC management enforcement mandated as a program governance condition - not optional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Adoption tracked from Day 1 - usage rate, report submission rate, visit capture completion monitored daily during hypercare. Below 60% triggers immediate intervention.</a:t>
                      </a:r>
                    </a:p>
                  </a:txBody>
                  <a:tcPr anchor="ctr"/>
                </a:tc>
                <a:extLst>
                  <a:ext uri="{0D108BD9-81ED-4DB2-BD59-A6C34878D82A}">
                    <a16:rowId xmlns:a16="http://schemas.microsoft.com/office/drawing/2014/main" val="3301416197"/>
                  </a:ext>
                </a:extLst>
              </a:tr>
              <a:tr h="402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Delivery &amp; Program Risks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Scope creep post D&amp;D sign-off</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BMW requests capability additions or workflow changes after D&amp;D sign-off - expanding scope mid-build, compressing delivery timeline, and creating cost overrun without a corresponding budget adjustment</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Formal change control process established at D&amp;D sign-off. All post-sign-off changes require a written change request with effort and cost impact assessment before execution begins.</a:t>
                      </a:r>
                    </a:p>
                  </a:txBody>
                  <a:tcPr anchor="ctr"/>
                </a:tc>
                <a:extLst>
                  <a:ext uri="{0D108BD9-81ED-4DB2-BD59-A6C34878D82A}">
                    <a16:rowId xmlns:a16="http://schemas.microsoft.com/office/drawing/2014/main" val="312240498"/>
                  </a:ext>
                </a:extLst>
              </a:tr>
              <a:tr h="402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Delivery &amp; Program Risks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BMW stakeholder unavailability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NSC product owners or data contacts are not available during Discovery windows, UAT periods, or sign-off gates - stalling config specification, delaying UAT execution, and pushing go-live dates for entire clusters.</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BMW commits named NSC product owner and data contact for each market as a signed program governance condition before cluster schedule is agreed.</a:t>
                      </a:r>
                    </a:p>
                  </a:txBody>
                  <a:tcPr anchor="ctr"/>
                </a:tc>
                <a:extLst>
                  <a:ext uri="{0D108BD9-81ED-4DB2-BD59-A6C34878D82A}">
                    <a16:rowId xmlns:a16="http://schemas.microsoft.com/office/drawing/2014/main" val="3741812191"/>
                  </a:ext>
                </a:extLst>
              </a:tr>
              <a:tr h="2950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Compliance &amp; Regulatory Risks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GDPR data residency violations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Market data routed to incorrect cloud region - for example, German dealer data processed outside the EU - constituting a GDPR violation</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Data residency requirements confirmed per market in D&amp;D. Region assignment hardcoded in Terraform per market tenant - not configurable at runtime.</a:t>
                      </a:r>
                    </a:p>
                  </a:txBody>
                  <a:tcPr anchor="ctr"/>
                </a:tc>
                <a:extLst>
                  <a:ext uri="{0D108BD9-81ED-4DB2-BD59-A6C34878D82A}">
                    <a16:rowId xmlns:a16="http://schemas.microsoft.com/office/drawing/2014/main" val="4169376935"/>
                  </a:ext>
                </a:extLst>
              </a:tr>
              <a:tr h="402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Compliance &amp; Regulatory Risks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Regulatory market complexity - China</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China's data sovereignty laws, platform restrictions on foreign LLM providers, and local regulatory approvals require a fully localized build that is significantly more complex and expensive than standard cluster replication.</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Local regulatory and legal review initiated in parallel with Phase 1 to understand full compliance requirements and timeline before China build is scoped.</a:t>
                      </a:r>
                    </a:p>
                  </a:txBody>
                  <a:tcPr anchor="ctr"/>
                </a:tc>
                <a:extLst>
                  <a:ext uri="{0D108BD9-81ED-4DB2-BD59-A6C34878D82A}">
                    <a16:rowId xmlns:a16="http://schemas.microsoft.com/office/drawing/2014/main" val="3764664276"/>
                  </a:ext>
                </a:extLst>
              </a:tr>
              <a:tr h="402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Compliance &amp; Regulatory Risks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BMW IT security approval delays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BMW IT security review for cloud deployment, LLM API calls, and SSO integration takes longer than the budgeted timeline in the program plan</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Security review initiated in Week 1 of D&amp;D - not after D&amp;D sign-off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BMW IT security owner named at program kick-off with fortnightly checkpoint meetings. Delays escalated to program sponsor immediately</a:t>
                      </a:r>
                    </a:p>
                  </a:txBody>
                  <a:tcPr anchor="ctr"/>
                </a:tc>
                <a:extLst>
                  <a:ext uri="{0D108BD9-81ED-4DB2-BD59-A6C34878D82A}">
                    <a16:rowId xmlns:a16="http://schemas.microsoft.com/office/drawing/2014/main" val="2262300360"/>
                  </a:ext>
                </a:extLst>
              </a:tr>
            </a:tbl>
          </a:graphicData>
        </a:graphic>
      </p:graphicFrame>
    </p:spTree>
    <p:extLst>
      <p:ext uri="{BB962C8B-B14F-4D97-AF65-F5344CB8AC3E}">
        <p14:creationId xmlns:p14="http://schemas.microsoft.com/office/powerpoint/2010/main" val="1775155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C453-F0FC-D025-A7F4-8BFB4646BF9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B6F47F6-EED1-E0F9-2982-687771362C73}"/>
              </a:ext>
            </a:extLst>
          </p:cNvPr>
          <p:cNvSpPr txBox="1"/>
          <p:nvPr/>
        </p:nvSpPr>
        <p:spPr>
          <a:xfrm>
            <a:off x="233148" y="865678"/>
            <a:ext cx="11725703" cy="4490140"/>
          </a:xfrm>
          <a:prstGeom prst="rect">
            <a:avLst/>
          </a:prstGeom>
          <a:noFill/>
        </p:spPr>
        <p:txBody>
          <a:bodyPr wrap="square">
            <a:spAutoFit/>
          </a:bodyPr>
          <a:lstStyle/>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Field Force Orchestration can be built and ready from Day 1 and we can start building it before the main program formally kicks off.</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approach is straightforward: Field Force Orchestration will read existing NSC reports already sitting in the NSC Portal / SharePoint which is been updated manually by the field rep, post-process them, and generate the KPIs, tables, and views for the management frontend. </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However, to make this work cleanly, we need the following confirmed by the team before build begins</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marL="800100" marR="0" lvl="1"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NSC report consistency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are the existing NSC reports broadly consistent in structure and format across all markets? If structure varies significantly, the extraction layer needs to be built market-by-market</a:t>
            </a:r>
          </a:p>
          <a:p>
            <a:pPr marL="800100" marR="0" lvl="1"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NSC System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What NSC system or platform is currently used to generate, store, and manage NSC reports - is it SharePoint, a proprietary portal, or a third-party system?</a:t>
            </a:r>
          </a:p>
          <a:p>
            <a:pPr marL="800100" marR="0" lvl="1"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Sample NSC reports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full samples for all in-scope markets, with all fields, tables, KPIs, and formatting detail, as aligned with the BMW team</a:t>
            </a:r>
          </a:p>
          <a:p>
            <a:pPr marL="800100" marR="0" lvl="1"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Field Force Orchestration frontend requirements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 clear list of all elements, KPIs, views, and tables to be displayed in the Field Force Orchestration frontend, along with the source field in the NSC report for each</a:t>
            </a:r>
          </a:p>
          <a:p>
            <a:pPr marL="800100" marR="0" lvl="1"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Language confirmation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are existing NSC reports written in English or in local market language? This determines whether a translation layer is needed before parsing, which has architectural and accuracy implications</a:t>
            </a:r>
          </a:p>
          <a:p>
            <a:pPr marL="800100" marR="0" lvl="1"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Access to the NSC Portal / SharePoint</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 confirmed API or file access to retrieve reports programmatically, including any IT security approvals required</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Once the Agentic Sales Companion goes live and starts generating structured visit data, Field Force Orchestration will switch its data source from existing NSC reports to Sales Companion output. </a:t>
            </a:r>
          </a:p>
        </p:txBody>
      </p:sp>
      <p:sp>
        <p:nvSpPr>
          <p:cNvPr id="2" name="Title 1">
            <a:extLst>
              <a:ext uri="{FF2B5EF4-FFF2-40B4-BE49-F238E27FC236}">
                <a16:creationId xmlns:a16="http://schemas.microsoft.com/office/drawing/2014/main" id="{B87A2D8F-6170-4029-C8B1-FF93BA9BA254}"/>
              </a:ext>
            </a:extLst>
          </p:cNvPr>
          <p:cNvSpPr>
            <a:spLocks noGrp="1"/>
          </p:cNvSpPr>
          <p:nvPr>
            <p:ph type="title"/>
          </p:nvPr>
        </p:nvSpPr>
        <p:spPr>
          <a:xfrm>
            <a:off x="384555" y="382897"/>
            <a:ext cx="11422891" cy="705364"/>
          </a:xfrm>
        </p:spPr>
        <p:txBody>
          <a:bodyPr/>
          <a:lstStyle/>
          <a:p>
            <a:r>
              <a:rPr lang="en-US" sz="2397" dirty="0"/>
              <a:t>Dependencies to have Field Force Orchestration ready on day 1</a:t>
            </a:r>
          </a:p>
        </p:txBody>
      </p:sp>
    </p:spTree>
    <p:extLst>
      <p:ext uri="{BB962C8B-B14F-4D97-AF65-F5344CB8AC3E}">
        <p14:creationId xmlns:p14="http://schemas.microsoft.com/office/powerpoint/2010/main" val="1902477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62855-91D9-4BF1-F70E-1E19C72066A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78A02F3-DD32-306A-8699-D152CD55A571}"/>
              </a:ext>
            </a:extLst>
          </p:cNvPr>
          <p:cNvSpPr txBox="1"/>
          <p:nvPr/>
        </p:nvSpPr>
        <p:spPr>
          <a:xfrm>
            <a:off x="233148" y="865678"/>
            <a:ext cx="11725703" cy="2828147"/>
          </a:xfrm>
          <a:prstGeom prst="rect">
            <a:avLst/>
          </a:prstGeom>
          <a:noFill/>
        </p:spPr>
        <p:txBody>
          <a:bodyPr wrap="square">
            <a:spAutoFit/>
          </a:bodyPr>
          <a:lstStyle/>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What BMW interfaces and systems are currently used across all markets including CRM, DMS, ERP, NSC portal, and any market-specific systems etc.</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Are there any systems currently behind VPN, firewall, or private network that would require additional BMW IT infrastructure work to expose for integration?</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Are existing NSC reports broadly consistent in structure and format across all markets? If structure varies significantly between markets, the Field Force Orchestration extraction layer needs to be built market-by-market - significantly increasing build effort and cost</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Are there known data quality issues, gaps, or inconsistencies in any market's source systems that the team should be aware of before data validation begins?</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What visit frequency targets are set per dealer tier and IR tier in each market?</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What is the current visit report format and submission process in each market - paper, email, digital form, or CRM entry? This determines the baseline against which the automated report generator is designed</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Is there a master data management process currently in place for dealer and IR data?</a:t>
            </a:r>
          </a:p>
          <a:p>
            <a:pPr marL="342900" marR="0" lvl="0" indent="-342900" algn="l" defTabSz="913668" rtl="0" eaLnBrk="1" fontAlgn="base" latinLnBrk="0" hangingPunct="1">
              <a:lnSpc>
                <a:spcPct val="15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DF9C4A0C-8F7C-8CAE-7ADA-849414305C27}"/>
              </a:ext>
            </a:extLst>
          </p:cNvPr>
          <p:cNvSpPr>
            <a:spLocks noGrp="1"/>
          </p:cNvSpPr>
          <p:nvPr>
            <p:ph type="title"/>
          </p:nvPr>
        </p:nvSpPr>
        <p:spPr>
          <a:xfrm>
            <a:off x="384555" y="382897"/>
            <a:ext cx="11422891" cy="705364"/>
          </a:xfrm>
        </p:spPr>
        <p:txBody>
          <a:bodyPr/>
          <a:lstStyle/>
          <a:p>
            <a:r>
              <a:rPr lang="en-US" sz="2397" dirty="0"/>
              <a:t>Additional Questions We Need to Clarify with the Team</a:t>
            </a:r>
          </a:p>
        </p:txBody>
      </p:sp>
    </p:spTree>
    <p:extLst>
      <p:ext uri="{BB962C8B-B14F-4D97-AF65-F5344CB8AC3E}">
        <p14:creationId xmlns:p14="http://schemas.microsoft.com/office/powerpoint/2010/main" val="4048407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F3374-1FBB-419B-D17F-7E7745C2DE0D}"/>
            </a:ext>
          </a:extLst>
        </p:cNvPr>
        <p:cNvGrpSpPr/>
        <p:nvPr/>
      </p:nvGrpSpPr>
      <p:grpSpPr>
        <a:xfrm>
          <a:off x="0" y="0"/>
          <a:ext cx="0" cy="0"/>
          <a:chOff x="0" y="0"/>
          <a:chExt cx="0" cy="0"/>
        </a:xfrm>
      </p:grpSpPr>
      <p:sp>
        <p:nvSpPr>
          <p:cNvPr id="70" name="Title 1">
            <a:extLst>
              <a:ext uri="{FF2B5EF4-FFF2-40B4-BE49-F238E27FC236}">
                <a16:creationId xmlns:a16="http://schemas.microsoft.com/office/drawing/2014/main" id="{7C61F98E-6133-F6CC-1202-A05C8F4189A0}"/>
              </a:ext>
            </a:extLst>
          </p:cNvPr>
          <p:cNvSpPr>
            <a:spLocks noGrp="1"/>
          </p:cNvSpPr>
          <p:nvPr>
            <p:ph type="title"/>
          </p:nvPr>
        </p:nvSpPr>
        <p:spPr>
          <a:xfrm>
            <a:off x="268992" y="319082"/>
            <a:ext cx="11025206" cy="688504"/>
          </a:xfrm>
        </p:spPr>
        <p:txBody>
          <a:bodyPr>
            <a:normAutofit/>
          </a:bodyPr>
          <a:lstStyle/>
          <a:p>
            <a:r>
              <a:rPr lang="en-US" sz="2397" dirty="0"/>
              <a:t>AI empowers field teams to move from Administration Tasks to Selling better- Cutting efforts across Dealer and IR journeys</a:t>
            </a:r>
          </a:p>
        </p:txBody>
      </p:sp>
      <p:grpSp>
        <p:nvGrpSpPr>
          <p:cNvPr id="2" name="Group 1">
            <a:extLst>
              <a:ext uri="{FF2B5EF4-FFF2-40B4-BE49-F238E27FC236}">
                <a16:creationId xmlns:a16="http://schemas.microsoft.com/office/drawing/2014/main" id="{74AE54DD-C980-7762-5EA6-FEA9B94FCF60}"/>
              </a:ext>
            </a:extLst>
          </p:cNvPr>
          <p:cNvGrpSpPr/>
          <p:nvPr/>
        </p:nvGrpSpPr>
        <p:grpSpPr>
          <a:xfrm>
            <a:off x="11091717" y="660318"/>
            <a:ext cx="1028875" cy="173702"/>
            <a:chOff x="11032067" y="233288"/>
            <a:chExt cx="1029515" cy="173810"/>
          </a:xfrm>
        </p:grpSpPr>
        <p:sp>
          <p:nvSpPr>
            <p:cNvPr id="3" name="TextBox 2">
              <a:extLst>
                <a:ext uri="{FF2B5EF4-FFF2-40B4-BE49-F238E27FC236}">
                  <a16:creationId xmlns:a16="http://schemas.microsoft.com/office/drawing/2014/main" id="{3284A5D8-2689-260C-EC15-9192EC1A3A49}"/>
                </a:ext>
              </a:extLst>
            </p:cNvPr>
            <p:cNvSpPr txBox="1"/>
            <p:nvPr/>
          </p:nvSpPr>
          <p:spPr>
            <a:xfrm>
              <a:off x="11032067" y="241755"/>
              <a:ext cx="1029515" cy="109595"/>
            </a:xfrm>
            <a:prstGeom prst="rect">
              <a:avLst/>
            </a:prstGeom>
            <a:noFill/>
          </p:spPr>
          <p:txBody>
            <a:bodyPr wrap="square" lIns="0" tIns="0" rIns="0" bIns="0" rtlCol="0">
              <a:noAutofit/>
            </a:bodyPr>
            <a:lstStyle/>
            <a:p>
              <a:pPr marL="0" marR="0" lvl="0" indent="0" algn="ctr" defTabSz="228463" rtl="0" eaLnBrk="1" fontAlgn="auto" latinLnBrk="0" hangingPunct="1">
                <a:lnSpc>
                  <a:spcPct val="100000"/>
                </a:lnSpc>
                <a:spcBef>
                  <a:spcPts val="0"/>
                </a:spcBef>
                <a:spcAft>
                  <a:spcPts val="1200"/>
                </a:spcAft>
                <a:buClrTx/>
                <a:buSzTx/>
                <a:buFontTx/>
                <a:buNone/>
                <a:tabLst/>
                <a:defRPr/>
              </a:pPr>
              <a:r>
                <a:rPr kumimoji="0" lang="en-US" sz="1000" b="1" i="1" u="none" strike="noStrike" kern="1200" cap="none" spc="0" normalizeH="0" baseline="0" noProof="0">
                  <a:ln>
                    <a:noFill/>
                  </a:ln>
                  <a:solidFill>
                    <a:srgbClr val="000000"/>
                  </a:solidFill>
                  <a:effectLst/>
                  <a:uLnTx/>
                  <a:uFillTx/>
                  <a:latin typeface="Graphik"/>
                  <a:ea typeface="+mn-ea"/>
                  <a:cs typeface="Arial" charset="0"/>
                </a:rPr>
                <a:t>Non-Exhaustive</a:t>
              </a:r>
            </a:p>
          </p:txBody>
        </p:sp>
        <p:cxnSp>
          <p:nvCxnSpPr>
            <p:cNvPr id="4" name="Straight Connector 3">
              <a:extLst>
                <a:ext uri="{FF2B5EF4-FFF2-40B4-BE49-F238E27FC236}">
                  <a16:creationId xmlns:a16="http://schemas.microsoft.com/office/drawing/2014/main" id="{4F9CA0B8-47F9-06C9-9DBB-A7B3A20FA4EA}"/>
                </a:ext>
              </a:extLst>
            </p:cNvPr>
            <p:cNvCxnSpPr>
              <a:cxnSpLocks/>
            </p:cNvCxnSpPr>
            <p:nvPr/>
          </p:nvCxnSpPr>
          <p:spPr>
            <a:xfrm>
              <a:off x="11095381" y="233288"/>
              <a:ext cx="914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C53AC12-CB9F-6610-2820-A6CA8F43A829}"/>
                </a:ext>
              </a:extLst>
            </p:cNvPr>
            <p:cNvCxnSpPr>
              <a:cxnSpLocks/>
            </p:cNvCxnSpPr>
            <p:nvPr/>
          </p:nvCxnSpPr>
          <p:spPr>
            <a:xfrm>
              <a:off x="11103533" y="407098"/>
              <a:ext cx="914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F3B615BB-A599-B960-312E-3C81E848C6C9}"/>
              </a:ext>
            </a:extLst>
          </p:cNvPr>
          <p:cNvGrpSpPr/>
          <p:nvPr/>
        </p:nvGrpSpPr>
        <p:grpSpPr>
          <a:xfrm>
            <a:off x="11233509" y="400528"/>
            <a:ext cx="745291" cy="173702"/>
            <a:chOff x="11434046" y="25401"/>
            <a:chExt cx="745755" cy="173810"/>
          </a:xfrm>
        </p:grpSpPr>
        <p:sp>
          <p:nvSpPr>
            <p:cNvPr id="7" name="TextBox 6">
              <a:extLst>
                <a:ext uri="{FF2B5EF4-FFF2-40B4-BE49-F238E27FC236}">
                  <a16:creationId xmlns:a16="http://schemas.microsoft.com/office/drawing/2014/main" id="{83C10334-47D5-325F-6DF3-7FFD010260DB}"/>
                </a:ext>
              </a:extLst>
            </p:cNvPr>
            <p:cNvSpPr txBox="1"/>
            <p:nvPr/>
          </p:nvSpPr>
          <p:spPr>
            <a:xfrm>
              <a:off x="11450349" y="33868"/>
              <a:ext cx="721300" cy="138496"/>
            </a:xfrm>
            <a:prstGeom prst="rect">
              <a:avLst/>
            </a:prstGeom>
            <a:noFill/>
          </p:spPr>
          <p:txBody>
            <a:bodyPr wrap="square" lIns="0" tIns="0" rIns="0" bIns="0" rtlCol="0">
              <a:noAutofit/>
            </a:bodyPr>
            <a:lstStyle/>
            <a:p>
              <a:pPr marL="0" marR="0" lvl="0" indent="0" algn="ctr" defTabSz="228463" rtl="0" eaLnBrk="1" fontAlgn="auto" latinLnBrk="0" hangingPunct="1">
                <a:lnSpc>
                  <a:spcPct val="100000"/>
                </a:lnSpc>
                <a:spcBef>
                  <a:spcPts val="0"/>
                </a:spcBef>
                <a:spcAft>
                  <a:spcPts val="1200"/>
                </a:spcAft>
                <a:buClrTx/>
                <a:buSzTx/>
                <a:buFontTx/>
                <a:buNone/>
                <a:tabLst/>
                <a:defRPr/>
              </a:pPr>
              <a:r>
                <a:rPr kumimoji="0" lang="en-US" sz="1000" b="1" i="1" u="none" strike="noStrike" kern="1200" cap="none" spc="0" normalizeH="0" baseline="0" noProof="0">
                  <a:ln>
                    <a:noFill/>
                  </a:ln>
                  <a:solidFill>
                    <a:srgbClr val="000000"/>
                  </a:solidFill>
                  <a:effectLst/>
                  <a:uLnTx/>
                  <a:uFillTx/>
                  <a:latin typeface="Graphik"/>
                  <a:ea typeface="+mn-ea"/>
                  <a:cs typeface="Arial" charset="0"/>
                </a:rPr>
                <a:t>Illustrative</a:t>
              </a:r>
            </a:p>
          </p:txBody>
        </p:sp>
        <p:cxnSp>
          <p:nvCxnSpPr>
            <p:cNvPr id="14" name="Straight Connector 13">
              <a:extLst>
                <a:ext uri="{FF2B5EF4-FFF2-40B4-BE49-F238E27FC236}">
                  <a16:creationId xmlns:a16="http://schemas.microsoft.com/office/drawing/2014/main" id="{F55B6CE3-F126-CEE8-9C93-0FC2CBAA6B03}"/>
                </a:ext>
              </a:extLst>
            </p:cNvPr>
            <p:cNvCxnSpPr>
              <a:cxnSpLocks/>
            </p:cNvCxnSpPr>
            <p:nvPr/>
          </p:nvCxnSpPr>
          <p:spPr>
            <a:xfrm>
              <a:off x="11434046" y="25401"/>
              <a:ext cx="73760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5E02410-32F4-BF3A-2619-0E97E5C9602C}"/>
                </a:ext>
              </a:extLst>
            </p:cNvPr>
            <p:cNvCxnSpPr>
              <a:cxnSpLocks/>
            </p:cNvCxnSpPr>
            <p:nvPr/>
          </p:nvCxnSpPr>
          <p:spPr>
            <a:xfrm>
              <a:off x="11442198" y="199211"/>
              <a:ext cx="73760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7D32C3DB-5552-C0EE-EED5-C1DC3B3BD456}"/>
              </a:ext>
            </a:extLst>
          </p:cNvPr>
          <p:cNvGrpSpPr/>
          <p:nvPr/>
        </p:nvGrpSpPr>
        <p:grpSpPr>
          <a:xfrm>
            <a:off x="216875" y="1007586"/>
            <a:ext cx="11544095" cy="5449831"/>
            <a:chOff x="101372" y="642961"/>
            <a:chExt cx="11544095" cy="6141756"/>
          </a:xfrm>
        </p:grpSpPr>
        <p:sp>
          <p:nvSpPr>
            <p:cNvPr id="8" name="Rectangle: Rounded Corners 7">
              <a:extLst>
                <a:ext uri="{FF2B5EF4-FFF2-40B4-BE49-F238E27FC236}">
                  <a16:creationId xmlns:a16="http://schemas.microsoft.com/office/drawing/2014/main" id="{C6B0A86E-0A79-09DF-E11F-A6A671BDF96B}"/>
                </a:ext>
              </a:extLst>
            </p:cNvPr>
            <p:cNvSpPr/>
            <p:nvPr/>
          </p:nvSpPr>
          <p:spPr>
            <a:xfrm>
              <a:off x="721360" y="1188493"/>
              <a:ext cx="1524748" cy="688504"/>
            </a:xfrm>
            <a:prstGeom prst="roundRect">
              <a:avLst/>
            </a:prstGeom>
            <a:solidFill>
              <a:srgbClr val="9A57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0"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Dealer Visit</a:t>
              </a:r>
            </a:p>
          </p:txBody>
        </p:sp>
        <p:sp>
          <p:nvSpPr>
            <p:cNvPr id="9" name="Rectangle: Rounded Corners 8">
              <a:extLst>
                <a:ext uri="{FF2B5EF4-FFF2-40B4-BE49-F238E27FC236}">
                  <a16:creationId xmlns:a16="http://schemas.microsoft.com/office/drawing/2014/main" id="{554C12F9-43A5-FC95-6D51-F22A9AC6A0C7}"/>
                </a:ext>
              </a:extLst>
            </p:cNvPr>
            <p:cNvSpPr/>
            <p:nvPr/>
          </p:nvSpPr>
          <p:spPr>
            <a:xfrm>
              <a:off x="721359" y="2303332"/>
              <a:ext cx="1524748" cy="688504"/>
            </a:xfrm>
            <a:prstGeom prst="roundRect">
              <a:avLst/>
            </a:prstGeom>
            <a:solidFill>
              <a:srgbClr val="9A57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0"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Dealer Assessment</a:t>
              </a:r>
            </a:p>
          </p:txBody>
        </p:sp>
        <p:sp>
          <p:nvSpPr>
            <p:cNvPr id="10" name="Rectangle: Rounded Corners 9">
              <a:extLst>
                <a:ext uri="{FF2B5EF4-FFF2-40B4-BE49-F238E27FC236}">
                  <a16:creationId xmlns:a16="http://schemas.microsoft.com/office/drawing/2014/main" id="{E0FCBFFF-B0F3-CFB2-B278-7F5432A5C602}"/>
                </a:ext>
              </a:extLst>
            </p:cNvPr>
            <p:cNvSpPr/>
            <p:nvPr/>
          </p:nvSpPr>
          <p:spPr>
            <a:xfrm>
              <a:off x="721360" y="3418869"/>
              <a:ext cx="1524748" cy="688504"/>
            </a:xfrm>
            <a:prstGeom prst="roundRect">
              <a:avLst/>
            </a:prstGeom>
            <a:solidFill>
              <a:srgbClr val="9A57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0"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Dealer Coaching</a:t>
              </a:r>
            </a:p>
          </p:txBody>
        </p:sp>
        <p:sp>
          <p:nvSpPr>
            <p:cNvPr id="11" name="Rectangle: Rounded Corners 10">
              <a:extLst>
                <a:ext uri="{FF2B5EF4-FFF2-40B4-BE49-F238E27FC236}">
                  <a16:creationId xmlns:a16="http://schemas.microsoft.com/office/drawing/2014/main" id="{03E57466-6E58-4E73-0DBD-B4D9EE58F5B1}"/>
                </a:ext>
              </a:extLst>
            </p:cNvPr>
            <p:cNvSpPr/>
            <p:nvPr/>
          </p:nvSpPr>
          <p:spPr>
            <a:xfrm>
              <a:off x="721360" y="4539493"/>
              <a:ext cx="1524748" cy="688504"/>
            </a:xfrm>
            <a:prstGeom prst="roundRect">
              <a:avLst/>
            </a:prstGeom>
            <a:solidFill>
              <a:srgbClr val="9A57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0"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Customer Visit </a:t>
              </a:r>
            </a:p>
          </p:txBody>
        </p:sp>
        <p:sp>
          <p:nvSpPr>
            <p:cNvPr id="12" name="Rectangle: Rounded Corners 11">
              <a:extLst>
                <a:ext uri="{FF2B5EF4-FFF2-40B4-BE49-F238E27FC236}">
                  <a16:creationId xmlns:a16="http://schemas.microsoft.com/office/drawing/2014/main" id="{45777B4A-01FB-71C5-B12E-2A7156772BCC}"/>
                </a:ext>
              </a:extLst>
            </p:cNvPr>
            <p:cNvSpPr/>
            <p:nvPr/>
          </p:nvSpPr>
          <p:spPr>
            <a:xfrm>
              <a:off x="734603" y="5661418"/>
              <a:ext cx="1524748" cy="688504"/>
            </a:xfrm>
            <a:prstGeom prst="roundRect">
              <a:avLst/>
            </a:prstGeom>
            <a:solidFill>
              <a:srgbClr val="9A57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0"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Customer Assessment</a:t>
              </a:r>
            </a:p>
          </p:txBody>
        </p:sp>
        <p:graphicFrame>
          <p:nvGraphicFramePr>
            <p:cNvPr id="13" name="Diagram 12">
              <a:extLst>
                <a:ext uri="{FF2B5EF4-FFF2-40B4-BE49-F238E27FC236}">
                  <a16:creationId xmlns:a16="http://schemas.microsoft.com/office/drawing/2014/main" id="{CB94299B-4AA7-BA29-7289-48A18A905DA0}"/>
                </a:ext>
              </a:extLst>
            </p:cNvPr>
            <p:cNvGraphicFramePr/>
            <p:nvPr/>
          </p:nvGraphicFramePr>
          <p:xfrm>
            <a:off x="2341766" y="642961"/>
            <a:ext cx="9303701" cy="3072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Rectangle 15">
              <a:extLst>
                <a:ext uri="{FF2B5EF4-FFF2-40B4-BE49-F238E27FC236}">
                  <a16:creationId xmlns:a16="http://schemas.microsoft.com/office/drawing/2014/main" id="{B6EE89DC-BB96-1EF0-20E7-4BE5ED8F52BD}"/>
                </a:ext>
              </a:extLst>
            </p:cNvPr>
            <p:cNvSpPr/>
            <p:nvPr/>
          </p:nvSpPr>
          <p:spPr>
            <a:xfrm>
              <a:off x="2568164" y="998152"/>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it-IT"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KPI &amp; performance one‑pager </a:t>
              </a:r>
              <a:r>
                <a:rPr kumimoji="0" lang="it-IT"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generation, supporting field team conversations</a:t>
              </a:r>
              <a:endPar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endParaRPr>
            </a:p>
          </p:txBody>
        </p:sp>
        <p:sp>
          <p:nvSpPr>
            <p:cNvPr id="17" name="Rectangle 16">
              <a:extLst>
                <a:ext uri="{FF2B5EF4-FFF2-40B4-BE49-F238E27FC236}">
                  <a16:creationId xmlns:a16="http://schemas.microsoft.com/office/drawing/2014/main" id="{E7447F62-FBAC-563B-3D2E-B591ED052383}"/>
                </a:ext>
              </a:extLst>
            </p:cNvPr>
            <p:cNvSpPr/>
            <p:nvPr/>
          </p:nvSpPr>
          <p:spPr>
            <a:xfrm>
              <a:off x="4467625" y="998152"/>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Up to</a:t>
              </a:r>
            </a:p>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1" i="0" u="none" strike="noStrike" kern="1200" cap="none" spc="0" normalizeH="0" baseline="0" noProof="0">
                  <a:ln>
                    <a:noFill/>
                  </a:ln>
                  <a:solidFill>
                    <a:srgbClr val="000000"/>
                  </a:solidFill>
                  <a:effectLst/>
                  <a:uLnTx/>
                  <a:uFillTx/>
                  <a:latin typeface="Graphik" panose="020B0503030202060203" pitchFamily="34" charset="0"/>
                  <a:ea typeface="+mn-ea"/>
                  <a:cs typeface="+mn-cs"/>
                </a:rPr>
                <a:t>~34%</a:t>
              </a:r>
            </a:p>
          </p:txBody>
        </p:sp>
        <p:sp>
          <p:nvSpPr>
            <p:cNvPr id="18" name="Rectangle 17">
              <a:extLst>
                <a:ext uri="{FF2B5EF4-FFF2-40B4-BE49-F238E27FC236}">
                  <a16:creationId xmlns:a16="http://schemas.microsoft.com/office/drawing/2014/main" id="{67473558-C1C1-D155-41CD-6653817B1B4C}"/>
                </a:ext>
              </a:extLst>
            </p:cNvPr>
            <p:cNvSpPr/>
            <p:nvPr/>
          </p:nvSpPr>
          <p:spPr>
            <a:xfrm>
              <a:off x="2568164" y="2112991"/>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Standardized Assessment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preparation, with highlighted KPIs and focus areas, enabling field teams with a clear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diagnostic lens</a:t>
              </a:r>
            </a:p>
          </p:txBody>
        </p:sp>
        <p:sp>
          <p:nvSpPr>
            <p:cNvPr id="19" name="Rectangle 18">
              <a:extLst>
                <a:ext uri="{FF2B5EF4-FFF2-40B4-BE49-F238E27FC236}">
                  <a16:creationId xmlns:a16="http://schemas.microsoft.com/office/drawing/2014/main" id="{598046C6-3955-B1E1-8497-13410BBDE213}"/>
                </a:ext>
              </a:extLst>
            </p:cNvPr>
            <p:cNvSpPr/>
            <p:nvPr/>
          </p:nvSpPr>
          <p:spPr>
            <a:xfrm>
              <a:off x="4467625" y="2112991"/>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~68%</a:t>
              </a:r>
            </a:p>
          </p:txBody>
        </p:sp>
        <p:sp>
          <p:nvSpPr>
            <p:cNvPr id="20" name="Rectangle 19">
              <a:extLst>
                <a:ext uri="{FF2B5EF4-FFF2-40B4-BE49-F238E27FC236}">
                  <a16:creationId xmlns:a16="http://schemas.microsoft.com/office/drawing/2014/main" id="{197CEB6C-934C-F5DA-254C-B29F6BE70F01}"/>
                </a:ext>
              </a:extLst>
            </p:cNvPr>
            <p:cNvSpPr/>
            <p:nvPr/>
          </p:nvSpPr>
          <p:spPr>
            <a:xfrm>
              <a:off x="2561544" y="3228528"/>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1" name="Rectangle 20">
              <a:extLst>
                <a:ext uri="{FF2B5EF4-FFF2-40B4-BE49-F238E27FC236}">
                  <a16:creationId xmlns:a16="http://schemas.microsoft.com/office/drawing/2014/main" id="{89A5C766-340A-C948-5FA9-61CA59453E21}"/>
                </a:ext>
              </a:extLst>
            </p:cNvPr>
            <p:cNvSpPr/>
            <p:nvPr/>
          </p:nvSpPr>
          <p:spPr>
            <a:xfrm>
              <a:off x="4467625" y="3228528"/>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Effort reduced by </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~34%</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2" name="Rectangle 21">
              <a:extLst>
                <a:ext uri="{FF2B5EF4-FFF2-40B4-BE49-F238E27FC236}">
                  <a16:creationId xmlns:a16="http://schemas.microsoft.com/office/drawing/2014/main" id="{A66CAF36-34D6-57D5-AFDF-4AF1F59BCFE6}"/>
                </a:ext>
              </a:extLst>
            </p:cNvPr>
            <p:cNvSpPr/>
            <p:nvPr/>
          </p:nvSpPr>
          <p:spPr>
            <a:xfrm>
              <a:off x="2561544" y="4349153"/>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Rectangle 22">
              <a:extLst>
                <a:ext uri="{FF2B5EF4-FFF2-40B4-BE49-F238E27FC236}">
                  <a16:creationId xmlns:a16="http://schemas.microsoft.com/office/drawing/2014/main" id="{DBBF83E3-C936-04BB-BA55-F6FC4A17E14E}"/>
                </a:ext>
              </a:extLst>
            </p:cNvPr>
            <p:cNvSpPr/>
            <p:nvPr/>
          </p:nvSpPr>
          <p:spPr>
            <a:xfrm>
              <a:off x="4467625" y="4349153"/>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Effort reduced by </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~34%</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20BCD497-6000-D507-7B14-2E6F9E159391}"/>
                </a:ext>
              </a:extLst>
            </p:cNvPr>
            <p:cNvSpPr/>
            <p:nvPr/>
          </p:nvSpPr>
          <p:spPr>
            <a:xfrm>
              <a:off x="2568164" y="5471078"/>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Route planning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and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pitch preparation</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 helping with customer qualification and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funnel management</a:t>
              </a:r>
            </a:p>
          </p:txBody>
        </p:sp>
        <p:sp>
          <p:nvSpPr>
            <p:cNvPr id="26" name="Rectangle 25">
              <a:extLst>
                <a:ext uri="{FF2B5EF4-FFF2-40B4-BE49-F238E27FC236}">
                  <a16:creationId xmlns:a16="http://schemas.microsoft.com/office/drawing/2014/main" id="{2E989DA9-DFBD-44A0-28F9-DF54EFAF62B1}"/>
                </a:ext>
              </a:extLst>
            </p:cNvPr>
            <p:cNvSpPr/>
            <p:nvPr/>
          </p:nvSpPr>
          <p:spPr>
            <a:xfrm>
              <a:off x="5585872" y="998152"/>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Real‑time meeting co‑pilot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capturing discussions, key issues, and generating action plans and  formalizing interactions</a:t>
              </a:r>
            </a:p>
          </p:txBody>
        </p:sp>
        <p:sp>
          <p:nvSpPr>
            <p:cNvPr id="27" name="Rectangle 26">
              <a:extLst>
                <a:ext uri="{FF2B5EF4-FFF2-40B4-BE49-F238E27FC236}">
                  <a16:creationId xmlns:a16="http://schemas.microsoft.com/office/drawing/2014/main" id="{73749C8A-2A10-3BC0-5388-12CE5C06627A}"/>
                </a:ext>
              </a:extLst>
            </p:cNvPr>
            <p:cNvSpPr/>
            <p:nvPr/>
          </p:nvSpPr>
          <p:spPr>
            <a:xfrm>
              <a:off x="7487687" y="998152"/>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Up to</a:t>
              </a:r>
            </a:p>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1" i="0" u="none" strike="noStrike" kern="1200" cap="none" spc="0" normalizeH="0" baseline="0" noProof="0">
                  <a:ln>
                    <a:noFill/>
                  </a:ln>
                  <a:solidFill>
                    <a:srgbClr val="000000"/>
                  </a:solidFill>
                  <a:effectLst/>
                  <a:uLnTx/>
                  <a:uFillTx/>
                  <a:latin typeface="Graphik" panose="020B0503030202060203" pitchFamily="34" charset="0"/>
                  <a:ea typeface="+mn-ea"/>
                  <a:cs typeface="+mn-cs"/>
                </a:rPr>
                <a:t>~33%</a:t>
              </a:r>
            </a:p>
          </p:txBody>
        </p:sp>
        <p:sp>
          <p:nvSpPr>
            <p:cNvPr id="28" name="Rectangle 27">
              <a:extLst>
                <a:ext uri="{FF2B5EF4-FFF2-40B4-BE49-F238E27FC236}">
                  <a16:creationId xmlns:a16="http://schemas.microsoft.com/office/drawing/2014/main" id="{9D5FBFB1-913F-C2EC-D129-1210FE2EADFD}"/>
                </a:ext>
              </a:extLst>
            </p:cNvPr>
            <p:cNvSpPr/>
            <p:nvPr/>
          </p:nvSpPr>
          <p:spPr>
            <a:xfrm>
              <a:off x="5585872" y="2112991"/>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Capture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assessment discussions; auto‑generate structured summaries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for sign‑off, helping field teams to run evidence‑based assessments</a:t>
              </a:r>
            </a:p>
          </p:txBody>
        </p:sp>
        <p:sp>
          <p:nvSpPr>
            <p:cNvPr id="29" name="Rectangle 28">
              <a:extLst>
                <a:ext uri="{FF2B5EF4-FFF2-40B4-BE49-F238E27FC236}">
                  <a16:creationId xmlns:a16="http://schemas.microsoft.com/office/drawing/2014/main" id="{92876299-F3C0-6846-369E-1257A90DCFC2}"/>
                </a:ext>
              </a:extLst>
            </p:cNvPr>
            <p:cNvSpPr/>
            <p:nvPr/>
          </p:nvSpPr>
          <p:spPr>
            <a:xfrm>
              <a:off x="7487687" y="2112991"/>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~42%</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30" name="Rectangle 29">
              <a:extLst>
                <a:ext uri="{FF2B5EF4-FFF2-40B4-BE49-F238E27FC236}">
                  <a16:creationId xmlns:a16="http://schemas.microsoft.com/office/drawing/2014/main" id="{D526E832-04AE-8EB3-0C83-27B44D3D68B1}"/>
                </a:ext>
              </a:extLst>
            </p:cNvPr>
            <p:cNvSpPr/>
            <p:nvPr/>
          </p:nvSpPr>
          <p:spPr>
            <a:xfrm>
              <a:off x="5579251" y="3228528"/>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31" name="Rectangle 30">
              <a:extLst>
                <a:ext uri="{FF2B5EF4-FFF2-40B4-BE49-F238E27FC236}">
                  <a16:creationId xmlns:a16="http://schemas.microsoft.com/office/drawing/2014/main" id="{311CA052-571A-6F0E-6B23-458E5774C0E6}"/>
                </a:ext>
              </a:extLst>
            </p:cNvPr>
            <p:cNvSpPr/>
            <p:nvPr/>
          </p:nvSpPr>
          <p:spPr>
            <a:xfrm>
              <a:off x="7487687" y="3228528"/>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Effort reduced by </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~34%</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32" name="Rectangle 31">
              <a:extLst>
                <a:ext uri="{FF2B5EF4-FFF2-40B4-BE49-F238E27FC236}">
                  <a16:creationId xmlns:a16="http://schemas.microsoft.com/office/drawing/2014/main" id="{D37A71FB-6339-8A9D-35BB-1ED0F50D5BD9}"/>
                </a:ext>
              </a:extLst>
            </p:cNvPr>
            <p:cNvSpPr/>
            <p:nvPr/>
          </p:nvSpPr>
          <p:spPr>
            <a:xfrm>
              <a:off x="5579251" y="4349153"/>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33" name="Rectangle 32">
              <a:extLst>
                <a:ext uri="{FF2B5EF4-FFF2-40B4-BE49-F238E27FC236}">
                  <a16:creationId xmlns:a16="http://schemas.microsoft.com/office/drawing/2014/main" id="{B6E9BAF1-1F03-006E-1597-1330CC7696E4}"/>
                </a:ext>
              </a:extLst>
            </p:cNvPr>
            <p:cNvSpPr/>
            <p:nvPr/>
          </p:nvSpPr>
          <p:spPr>
            <a:xfrm>
              <a:off x="7487687" y="4349153"/>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~21%</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36" name="Rectangle 35">
              <a:extLst>
                <a:ext uri="{FF2B5EF4-FFF2-40B4-BE49-F238E27FC236}">
                  <a16:creationId xmlns:a16="http://schemas.microsoft.com/office/drawing/2014/main" id="{420617B2-0D8C-88F1-DF5D-3C1B0A42809D}"/>
                </a:ext>
              </a:extLst>
            </p:cNvPr>
            <p:cNvSpPr/>
            <p:nvPr/>
          </p:nvSpPr>
          <p:spPr>
            <a:xfrm>
              <a:off x="8596002" y="998152"/>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Drafts visit reports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&amp;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follow‑up communications</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 helping reduce post‑visit administrative fatigue</a:t>
              </a:r>
            </a:p>
          </p:txBody>
        </p:sp>
        <p:sp>
          <p:nvSpPr>
            <p:cNvPr id="37" name="Rectangle 36">
              <a:extLst>
                <a:ext uri="{FF2B5EF4-FFF2-40B4-BE49-F238E27FC236}">
                  <a16:creationId xmlns:a16="http://schemas.microsoft.com/office/drawing/2014/main" id="{1CB10D1B-DC79-63F0-9714-2D4D378E66D1}"/>
                </a:ext>
              </a:extLst>
            </p:cNvPr>
            <p:cNvSpPr/>
            <p:nvPr/>
          </p:nvSpPr>
          <p:spPr>
            <a:xfrm>
              <a:off x="10495463" y="998152"/>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Up to</a:t>
              </a:r>
            </a:p>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1" i="0" u="none" strike="noStrike" kern="1200" cap="none" spc="0" normalizeH="0" baseline="0" noProof="0">
                  <a:ln>
                    <a:noFill/>
                  </a:ln>
                  <a:solidFill>
                    <a:srgbClr val="000000"/>
                  </a:solidFill>
                  <a:effectLst/>
                  <a:uLnTx/>
                  <a:uFillTx/>
                  <a:latin typeface="Graphik" panose="020B0503030202060203" pitchFamily="34" charset="0"/>
                  <a:ea typeface="+mn-ea"/>
                  <a:cs typeface="+mn-cs"/>
                </a:rPr>
                <a:t>~68%</a:t>
              </a:r>
            </a:p>
          </p:txBody>
        </p:sp>
        <p:sp>
          <p:nvSpPr>
            <p:cNvPr id="38" name="Rectangle 37">
              <a:extLst>
                <a:ext uri="{FF2B5EF4-FFF2-40B4-BE49-F238E27FC236}">
                  <a16:creationId xmlns:a16="http://schemas.microsoft.com/office/drawing/2014/main" id="{2A3940BC-CDEB-10A8-AD98-C751989FD994}"/>
                </a:ext>
              </a:extLst>
            </p:cNvPr>
            <p:cNvSpPr/>
            <p:nvPr/>
          </p:nvSpPr>
          <p:spPr>
            <a:xfrm>
              <a:off x="8589382" y="2112991"/>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39" name="Rectangle 38">
              <a:extLst>
                <a:ext uri="{FF2B5EF4-FFF2-40B4-BE49-F238E27FC236}">
                  <a16:creationId xmlns:a16="http://schemas.microsoft.com/office/drawing/2014/main" id="{9A8FC1C6-871A-270E-2FFE-84741F1D1F32}"/>
                </a:ext>
              </a:extLst>
            </p:cNvPr>
            <p:cNvSpPr/>
            <p:nvPr/>
          </p:nvSpPr>
          <p:spPr>
            <a:xfrm>
              <a:off x="10495463" y="2112991"/>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Effort reduced by </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~34%</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0" name="Rectangle 39">
              <a:extLst>
                <a:ext uri="{FF2B5EF4-FFF2-40B4-BE49-F238E27FC236}">
                  <a16:creationId xmlns:a16="http://schemas.microsoft.com/office/drawing/2014/main" id="{5A9A0987-03A9-1ABA-07AB-916E96211389}"/>
                </a:ext>
              </a:extLst>
            </p:cNvPr>
            <p:cNvSpPr/>
            <p:nvPr/>
          </p:nvSpPr>
          <p:spPr>
            <a:xfrm>
              <a:off x="8589384" y="3228528"/>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1" name="Rectangle 40">
              <a:extLst>
                <a:ext uri="{FF2B5EF4-FFF2-40B4-BE49-F238E27FC236}">
                  <a16:creationId xmlns:a16="http://schemas.microsoft.com/office/drawing/2014/main" id="{47D837E9-ED6B-2F50-C387-55C9D9C8F22E}"/>
                </a:ext>
              </a:extLst>
            </p:cNvPr>
            <p:cNvSpPr/>
            <p:nvPr/>
          </p:nvSpPr>
          <p:spPr>
            <a:xfrm>
              <a:off x="10495463" y="3228528"/>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Effort reduced by </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~34%</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2" name="Rectangle 41">
              <a:extLst>
                <a:ext uri="{FF2B5EF4-FFF2-40B4-BE49-F238E27FC236}">
                  <a16:creationId xmlns:a16="http://schemas.microsoft.com/office/drawing/2014/main" id="{7F7D20CB-4F24-D5E8-7804-E5181EC98247}"/>
                </a:ext>
              </a:extLst>
            </p:cNvPr>
            <p:cNvSpPr/>
            <p:nvPr/>
          </p:nvSpPr>
          <p:spPr>
            <a:xfrm>
              <a:off x="8589384" y="4349153"/>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6" name="Rectangle 45">
              <a:extLst>
                <a:ext uri="{FF2B5EF4-FFF2-40B4-BE49-F238E27FC236}">
                  <a16:creationId xmlns:a16="http://schemas.microsoft.com/office/drawing/2014/main" id="{44B7BD70-F7BB-7849-5D60-5D1F587092EB}"/>
                </a:ext>
              </a:extLst>
            </p:cNvPr>
            <p:cNvSpPr/>
            <p:nvPr/>
          </p:nvSpPr>
          <p:spPr>
            <a:xfrm>
              <a:off x="2568164" y="3228528"/>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Tailored coaching content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and agenda generation, empowering field teams and increasing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trainer</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productivity</a:t>
              </a:r>
            </a:p>
          </p:txBody>
        </p:sp>
        <p:sp>
          <p:nvSpPr>
            <p:cNvPr id="47" name="Rectangle 46">
              <a:extLst>
                <a:ext uri="{FF2B5EF4-FFF2-40B4-BE49-F238E27FC236}">
                  <a16:creationId xmlns:a16="http://schemas.microsoft.com/office/drawing/2014/main" id="{05498AFB-9DAB-3153-3A07-4B8B717AB826}"/>
                </a:ext>
              </a:extLst>
            </p:cNvPr>
            <p:cNvSpPr/>
            <p:nvPr/>
          </p:nvSpPr>
          <p:spPr>
            <a:xfrm>
              <a:off x="4467625" y="3228528"/>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~34%</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8" name="Rectangle 47">
              <a:extLst>
                <a:ext uri="{FF2B5EF4-FFF2-40B4-BE49-F238E27FC236}">
                  <a16:creationId xmlns:a16="http://schemas.microsoft.com/office/drawing/2014/main" id="{DFDD5E7E-A290-1104-C127-9C5BFA9D1241}"/>
                </a:ext>
              </a:extLst>
            </p:cNvPr>
            <p:cNvSpPr/>
            <p:nvPr/>
          </p:nvSpPr>
          <p:spPr>
            <a:xfrm>
              <a:off x="2568164" y="4349153"/>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Optimized route planning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and tailored sales pitches, enabling field teams to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cover more outlets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while delivering relevant, personalized first impressions.</a:t>
              </a:r>
            </a:p>
          </p:txBody>
        </p:sp>
        <p:sp>
          <p:nvSpPr>
            <p:cNvPr id="49" name="Rectangle 48">
              <a:extLst>
                <a:ext uri="{FF2B5EF4-FFF2-40B4-BE49-F238E27FC236}">
                  <a16:creationId xmlns:a16="http://schemas.microsoft.com/office/drawing/2014/main" id="{CA765EB4-715A-B6F0-0A58-FAA844066E20}"/>
                </a:ext>
              </a:extLst>
            </p:cNvPr>
            <p:cNvSpPr/>
            <p:nvPr/>
          </p:nvSpPr>
          <p:spPr>
            <a:xfrm>
              <a:off x="4467625" y="4349153"/>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 </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~40%</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1" name="Rectangle 50">
              <a:extLst>
                <a:ext uri="{FF2B5EF4-FFF2-40B4-BE49-F238E27FC236}">
                  <a16:creationId xmlns:a16="http://schemas.microsoft.com/office/drawing/2014/main" id="{121739F1-E50D-9B28-B237-0863A4BD2167}"/>
                </a:ext>
              </a:extLst>
            </p:cNvPr>
            <p:cNvSpPr/>
            <p:nvPr/>
          </p:nvSpPr>
          <p:spPr>
            <a:xfrm>
              <a:off x="4467625" y="5471078"/>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~40%</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2" name="Rectangle 51">
              <a:extLst>
                <a:ext uri="{FF2B5EF4-FFF2-40B4-BE49-F238E27FC236}">
                  <a16:creationId xmlns:a16="http://schemas.microsoft.com/office/drawing/2014/main" id="{1A2043D4-F9FD-3BCF-49F7-444ED17F8C2C}"/>
                </a:ext>
              </a:extLst>
            </p:cNvPr>
            <p:cNvSpPr/>
            <p:nvPr/>
          </p:nvSpPr>
          <p:spPr>
            <a:xfrm>
              <a:off x="5585872" y="3228528"/>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Record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and</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 summarize coaching conversations</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 support Dealer development &amp; enhance training scores</a:t>
              </a:r>
            </a:p>
          </p:txBody>
        </p:sp>
        <p:sp>
          <p:nvSpPr>
            <p:cNvPr id="53" name="Rectangle 52">
              <a:extLst>
                <a:ext uri="{FF2B5EF4-FFF2-40B4-BE49-F238E27FC236}">
                  <a16:creationId xmlns:a16="http://schemas.microsoft.com/office/drawing/2014/main" id="{1213733D-6282-4940-7734-2C5F79C05EBF}"/>
                </a:ext>
              </a:extLst>
            </p:cNvPr>
            <p:cNvSpPr/>
            <p:nvPr/>
          </p:nvSpPr>
          <p:spPr>
            <a:xfrm>
              <a:off x="7487687" y="3228528"/>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~19%</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4" name="Rectangle 53">
              <a:extLst>
                <a:ext uri="{FF2B5EF4-FFF2-40B4-BE49-F238E27FC236}">
                  <a16:creationId xmlns:a16="http://schemas.microsoft.com/office/drawing/2014/main" id="{6153B346-73DA-3C8C-3C6D-2E08756B2EC1}"/>
                </a:ext>
              </a:extLst>
            </p:cNvPr>
            <p:cNvSpPr/>
            <p:nvPr/>
          </p:nvSpPr>
          <p:spPr>
            <a:xfrm>
              <a:off x="5585872" y="4349153"/>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Provide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guided onboarding support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&amp;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draft next steps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in real time, helping field teams answer questions and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drive faster conversions</a:t>
              </a:r>
            </a:p>
          </p:txBody>
        </p:sp>
        <p:sp>
          <p:nvSpPr>
            <p:cNvPr id="56" name="Rectangle 55">
              <a:extLst>
                <a:ext uri="{FF2B5EF4-FFF2-40B4-BE49-F238E27FC236}">
                  <a16:creationId xmlns:a16="http://schemas.microsoft.com/office/drawing/2014/main" id="{7743275B-2FD7-55C5-436B-EE3598CE5C39}"/>
                </a:ext>
              </a:extLst>
            </p:cNvPr>
            <p:cNvSpPr/>
            <p:nvPr/>
          </p:nvSpPr>
          <p:spPr>
            <a:xfrm>
              <a:off x="5585872" y="5471078"/>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Customize assessment questionnaires</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 and drafts next steps, to identify gaps faster and deliver consistent,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high‑quality recommendations.</a:t>
              </a:r>
            </a:p>
          </p:txBody>
        </p:sp>
        <p:sp>
          <p:nvSpPr>
            <p:cNvPr id="57" name="Rectangle 56">
              <a:extLst>
                <a:ext uri="{FF2B5EF4-FFF2-40B4-BE49-F238E27FC236}">
                  <a16:creationId xmlns:a16="http://schemas.microsoft.com/office/drawing/2014/main" id="{A84581CF-20AA-1AEE-A1A6-689FBE84B6C7}"/>
                </a:ext>
              </a:extLst>
            </p:cNvPr>
            <p:cNvSpPr/>
            <p:nvPr/>
          </p:nvSpPr>
          <p:spPr>
            <a:xfrm>
              <a:off x="7487687" y="5471078"/>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4217" rtl="0" eaLnBrk="1" fontAlgn="base" latinLnBrk="0" hangingPunct="1">
                <a:lnSpc>
                  <a:spcPct val="100000"/>
                </a:lnSpc>
                <a:spcBef>
                  <a:spcPct val="0"/>
                </a:spcBef>
                <a:spcAft>
                  <a:spcPct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~21% </a:t>
              </a: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8" name="Rectangle 57">
              <a:extLst>
                <a:ext uri="{FF2B5EF4-FFF2-40B4-BE49-F238E27FC236}">
                  <a16:creationId xmlns:a16="http://schemas.microsoft.com/office/drawing/2014/main" id="{923FBD1F-E3AB-6BA2-63AD-0E806B2BD6CA}"/>
                </a:ext>
              </a:extLst>
            </p:cNvPr>
            <p:cNvSpPr/>
            <p:nvPr/>
          </p:nvSpPr>
          <p:spPr>
            <a:xfrm>
              <a:off x="8596002" y="2112991"/>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Automate assessment reporting</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 enabling field teams to quickly move from documentation to next actions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without manual reporting overhead</a:t>
              </a:r>
            </a:p>
          </p:txBody>
        </p:sp>
        <p:sp>
          <p:nvSpPr>
            <p:cNvPr id="59" name="Rectangle 58">
              <a:extLst>
                <a:ext uri="{FF2B5EF4-FFF2-40B4-BE49-F238E27FC236}">
                  <a16:creationId xmlns:a16="http://schemas.microsoft.com/office/drawing/2014/main" id="{5B4F0709-13B3-9A05-FF30-3DECCF2B55AB}"/>
                </a:ext>
              </a:extLst>
            </p:cNvPr>
            <p:cNvSpPr/>
            <p:nvPr/>
          </p:nvSpPr>
          <p:spPr>
            <a:xfrm>
              <a:off x="10495463" y="2112991"/>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50%</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0" name="Rectangle 59">
              <a:extLst>
                <a:ext uri="{FF2B5EF4-FFF2-40B4-BE49-F238E27FC236}">
                  <a16:creationId xmlns:a16="http://schemas.microsoft.com/office/drawing/2014/main" id="{F77294EF-6457-8C19-5664-7B53152A5896}"/>
                </a:ext>
              </a:extLst>
            </p:cNvPr>
            <p:cNvSpPr/>
            <p:nvPr/>
          </p:nvSpPr>
          <p:spPr>
            <a:xfrm>
              <a:off x="8596002" y="3228528"/>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Draft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coaching summaries</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 and set up follow‑up customized trainings</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 reinforcing learning outcomes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and helping field teams ensure continuity</a:t>
              </a:r>
            </a:p>
          </p:txBody>
        </p:sp>
        <p:sp>
          <p:nvSpPr>
            <p:cNvPr id="61" name="Rectangle 60">
              <a:extLst>
                <a:ext uri="{FF2B5EF4-FFF2-40B4-BE49-F238E27FC236}">
                  <a16:creationId xmlns:a16="http://schemas.microsoft.com/office/drawing/2014/main" id="{0D33B62C-F7C9-305B-1E43-DD572901A64D}"/>
                </a:ext>
              </a:extLst>
            </p:cNvPr>
            <p:cNvSpPr/>
            <p:nvPr/>
          </p:nvSpPr>
          <p:spPr>
            <a:xfrm>
              <a:off x="10495463" y="3228528"/>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~34%</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2" name="Rectangle 61">
              <a:extLst>
                <a:ext uri="{FF2B5EF4-FFF2-40B4-BE49-F238E27FC236}">
                  <a16:creationId xmlns:a16="http://schemas.microsoft.com/office/drawing/2014/main" id="{5E4894D9-6E9C-8E40-AEB5-E5C7BF872E76}"/>
                </a:ext>
              </a:extLst>
            </p:cNvPr>
            <p:cNvSpPr/>
            <p:nvPr/>
          </p:nvSpPr>
          <p:spPr>
            <a:xfrm>
              <a:off x="8596002" y="4349153"/>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Auto‑generates post‑visit actions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and emails, supporting field teams with timely follow‑ups and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reducing missed commitments.</a:t>
              </a:r>
            </a:p>
          </p:txBody>
        </p:sp>
        <p:sp>
          <p:nvSpPr>
            <p:cNvPr id="63" name="Rectangle 62">
              <a:extLst>
                <a:ext uri="{FF2B5EF4-FFF2-40B4-BE49-F238E27FC236}">
                  <a16:creationId xmlns:a16="http://schemas.microsoft.com/office/drawing/2014/main" id="{756001F7-7E92-512B-7863-CA07B8429437}"/>
                </a:ext>
              </a:extLst>
            </p:cNvPr>
            <p:cNvSpPr/>
            <p:nvPr/>
          </p:nvSpPr>
          <p:spPr>
            <a:xfrm>
              <a:off x="10495463" y="4349153"/>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~50%</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4" name="Rectangle 63">
              <a:extLst>
                <a:ext uri="{FF2B5EF4-FFF2-40B4-BE49-F238E27FC236}">
                  <a16:creationId xmlns:a16="http://schemas.microsoft.com/office/drawing/2014/main" id="{A2FF978C-5204-646D-3AF8-F19BD8C36DE6}"/>
                </a:ext>
              </a:extLst>
            </p:cNvPr>
            <p:cNvSpPr/>
            <p:nvPr/>
          </p:nvSpPr>
          <p:spPr>
            <a:xfrm>
              <a:off x="8596002" y="5471078"/>
              <a:ext cx="1902772" cy="10691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Automates assessment summaries </a:t>
              </a:r>
              <a:r>
                <a:rPr kumimoji="0" lang="en-US" sz="1000" b="0" i="0" u="none" strike="noStrike" kern="1200" cap="none" spc="0" normalizeH="0" baseline="0" noProof="0">
                  <a:ln>
                    <a:noFill/>
                  </a:ln>
                  <a:solidFill>
                    <a:srgbClr val="000000"/>
                  </a:solidFill>
                  <a:effectLst/>
                  <a:uLnTx/>
                  <a:uFillTx/>
                  <a:latin typeface="Graphik" panose="020B0503030202060203" pitchFamily="34" charset="0"/>
                  <a:ea typeface="+mn-ea"/>
                  <a:cs typeface="+mn-cs"/>
                </a:rPr>
                <a:t>and follow‑ups, to minimize post‑visit administrative load and </a:t>
              </a:r>
              <a:r>
                <a:rPr kumimoji="0" lang="en-US" sz="1000" b="1" i="0" u="none" strike="noStrike" kern="1200" cap="none" spc="0" normalizeH="0" baseline="0" noProof="0">
                  <a:ln>
                    <a:noFill/>
                  </a:ln>
                  <a:solidFill>
                    <a:srgbClr val="000000"/>
                  </a:solidFill>
                  <a:effectLst/>
                  <a:uLnTx/>
                  <a:uFillTx/>
                  <a:latin typeface="Graphik" panose="020B0503030202060203" pitchFamily="34" charset="0"/>
                  <a:ea typeface="+mn-ea"/>
                  <a:cs typeface="+mn-cs"/>
                </a:rPr>
                <a:t>improve productivity</a:t>
              </a:r>
            </a:p>
          </p:txBody>
        </p:sp>
        <p:sp>
          <p:nvSpPr>
            <p:cNvPr id="65" name="Rectangle 64">
              <a:extLst>
                <a:ext uri="{FF2B5EF4-FFF2-40B4-BE49-F238E27FC236}">
                  <a16:creationId xmlns:a16="http://schemas.microsoft.com/office/drawing/2014/main" id="{083EF886-C9E9-9DE5-892A-315F4CD9F8EF}"/>
                </a:ext>
              </a:extLst>
            </p:cNvPr>
            <p:cNvSpPr/>
            <p:nvPr/>
          </p:nvSpPr>
          <p:spPr>
            <a:xfrm>
              <a:off x="10495463" y="5471078"/>
              <a:ext cx="938868" cy="1069183"/>
            </a:xfrm>
            <a:prstGeom prst="rect">
              <a:avLst/>
            </a:prstGeom>
            <a:solidFill>
              <a:srgbClr val="E3B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Up to</a:t>
              </a:r>
            </a:p>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US" sz="1399" b="1" i="0" u="none" strike="noStrike" kern="1200" cap="none" spc="0" normalizeH="0" baseline="0" noProof="0">
                  <a:ln>
                    <a:noFill/>
                  </a:ln>
                  <a:solidFill>
                    <a:prstClr val="black"/>
                  </a:solidFill>
                  <a:effectLst/>
                  <a:uLnTx/>
                  <a:uFillTx/>
                  <a:latin typeface="Graphik" panose="020B0503030202060203" pitchFamily="34" charset="0"/>
                  <a:ea typeface="+mn-ea"/>
                  <a:cs typeface="+mn-cs"/>
                </a:rPr>
                <a:t>~60%</a:t>
              </a: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6" name="Rectangle 65">
              <a:extLst>
                <a:ext uri="{FF2B5EF4-FFF2-40B4-BE49-F238E27FC236}">
                  <a16:creationId xmlns:a16="http://schemas.microsoft.com/office/drawing/2014/main" id="{C363A926-D563-8C08-1438-79F75970D175}"/>
                </a:ext>
              </a:extLst>
            </p:cNvPr>
            <p:cNvSpPr/>
            <p:nvPr/>
          </p:nvSpPr>
          <p:spPr>
            <a:xfrm>
              <a:off x="8698987" y="6620227"/>
              <a:ext cx="187774" cy="16449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383" bIns="91383"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err="1">
                <a:ln>
                  <a:noFill/>
                </a:ln>
                <a:solidFill>
                  <a:srgbClr val="000000"/>
                </a:solidFill>
                <a:effectLst/>
                <a:uLnTx/>
                <a:uFillTx/>
                <a:latin typeface="Graphik"/>
                <a:ea typeface="+mn-ea"/>
                <a:cs typeface="+mn-cs"/>
              </a:endParaRPr>
            </a:p>
          </p:txBody>
        </p:sp>
        <p:sp>
          <p:nvSpPr>
            <p:cNvPr id="67" name="TextBox 66">
              <a:extLst>
                <a:ext uri="{FF2B5EF4-FFF2-40B4-BE49-F238E27FC236}">
                  <a16:creationId xmlns:a16="http://schemas.microsoft.com/office/drawing/2014/main" id="{0C8EF162-E63F-592F-78DA-F733F4DBCE7E}"/>
                </a:ext>
              </a:extLst>
            </p:cNvPr>
            <p:cNvSpPr txBox="1"/>
            <p:nvPr/>
          </p:nvSpPr>
          <p:spPr>
            <a:xfrm>
              <a:off x="8936584" y="6637584"/>
              <a:ext cx="2554068" cy="129777"/>
            </a:xfrm>
            <a:prstGeom prst="rect">
              <a:avLst/>
            </a:prstGeom>
            <a:noFill/>
          </p:spPr>
          <p:txBody>
            <a:bodyPr wrap="square" lIns="0" tIns="0" rIns="0" bIns="0" rtlCol="0">
              <a:noAutofit/>
            </a:bodyPr>
            <a:lstStyle/>
            <a:p>
              <a:pPr marL="0" marR="0" lvl="0" indent="0" algn="l" defTabSz="228463" rtl="0" eaLnBrk="1" fontAlgn="base" latinLnBrk="0" hangingPunct="1">
                <a:lnSpc>
                  <a:spcPct val="100000"/>
                </a:lnSpc>
                <a:spcBef>
                  <a:spcPct val="0"/>
                </a:spcBef>
                <a:spcAft>
                  <a:spcPts val="12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charset="0"/>
                  <a:ea typeface="+mn-ea"/>
                  <a:cs typeface="Arial" charset="0"/>
                </a:rPr>
                <a:t>Potential AI interventions &amp; Benefits</a:t>
              </a:r>
            </a:p>
          </p:txBody>
        </p:sp>
        <p:sp>
          <p:nvSpPr>
            <p:cNvPr id="68" name="Rectangle 67">
              <a:extLst>
                <a:ext uri="{FF2B5EF4-FFF2-40B4-BE49-F238E27FC236}">
                  <a16:creationId xmlns:a16="http://schemas.microsoft.com/office/drawing/2014/main" id="{E75F9FAF-07F8-0862-5F63-195ECE0A887A}"/>
                </a:ext>
              </a:extLst>
            </p:cNvPr>
            <p:cNvSpPr/>
            <p:nvPr/>
          </p:nvSpPr>
          <p:spPr>
            <a:xfrm>
              <a:off x="5579252" y="6602870"/>
              <a:ext cx="187774" cy="164490"/>
            </a:xfrm>
            <a:prstGeom prst="rect">
              <a:avLst/>
            </a:prstGeom>
            <a:solidFill>
              <a:srgbClr val="E3B0FA"/>
            </a:solidFill>
            <a:ln>
              <a:noFill/>
            </a:ln>
          </p:spPr>
          <p:style>
            <a:lnRef idx="2">
              <a:schemeClr val="accent1">
                <a:shade val="50000"/>
              </a:schemeClr>
            </a:lnRef>
            <a:fillRef idx="1">
              <a:schemeClr val="accent1"/>
            </a:fillRef>
            <a:effectRef idx="0">
              <a:schemeClr val="accent1"/>
            </a:effectRef>
            <a:fontRef idx="minor">
              <a:schemeClr val="lt1"/>
            </a:fontRef>
          </p:style>
          <p:txBody>
            <a:bodyPr tIns="91383" bIns="91383" rtlCol="0" anchor="ctr"/>
            <a:lstStyle/>
            <a:p>
              <a:pPr marL="0" marR="0" lvl="0" indent="0" algn="l" defTabSz="914217"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err="1">
                <a:ln>
                  <a:noFill/>
                </a:ln>
                <a:solidFill>
                  <a:srgbClr val="000000"/>
                </a:solidFill>
                <a:effectLst/>
                <a:uLnTx/>
                <a:uFillTx/>
                <a:latin typeface="Graphik"/>
                <a:ea typeface="+mn-ea"/>
                <a:cs typeface="+mn-cs"/>
              </a:endParaRPr>
            </a:p>
          </p:txBody>
        </p:sp>
        <p:sp>
          <p:nvSpPr>
            <p:cNvPr id="69" name="TextBox 68">
              <a:extLst>
                <a:ext uri="{FF2B5EF4-FFF2-40B4-BE49-F238E27FC236}">
                  <a16:creationId xmlns:a16="http://schemas.microsoft.com/office/drawing/2014/main" id="{1F6D8917-8FD4-F665-2D35-92C73DB89947}"/>
                </a:ext>
              </a:extLst>
            </p:cNvPr>
            <p:cNvSpPr txBox="1"/>
            <p:nvPr/>
          </p:nvSpPr>
          <p:spPr>
            <a:xfrm>
              <a:off x="5975826" y="6637584"/>
              <a:ext cx="2673338" cy="129777"/>
            </a:xfrm>
            <a:prstGeom prst="rect">
              <a:avLst/>
            </a:prstGeom>
            <a:noFill/>
          </p:spPr>
          <p:txBody>
            <a:bodyPr wrap="square" lIns="0" tIns="0" rIns="0" bIns="0" rtlCol="0">
              <a:noAutofit/>
            </a:bodyPr>
            <a:lstStyle/>
            <a:p>
              <a:pPr marL="0" marR="0" lvl="0" indent="0" algn="l" defTabSz="228463" rtl="0" eaLnBrk="1" fontAlgn="base" latinLnBrk="0" hangingPunct="1">
                <a:lnSpc>
                  <a:spcPct val="100000"/>
                </a:lnSpc>
                <a:spcBef>
                  <a:spcPct val="0"/>
                </a:spcBef>
                <a:spcAft>
                  <a:spcPts val="12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charset="0"/>
                  <a:ea typeface="+mn-ea"/>
                  <a:cs typeface="Arial" charset="0"/>
                </a:rPr>
                <a:t>Indicative reduction in Efforts (in %age)</a:t>
              </a:r>
            </a:p>
          </p:txBody>
        </p:sp>
        <p:grpSp>
          <p:nvGrpSpPr>
            <p:cNvPr id="50" name="Group 95">
              <a:extLst>
                <a:ext uri="{FF2B5EF4-FFF2-40B4-BE49-F238E27FC236}">
                  <a16:creationId xmlns:a16="http://schemas.microsoft.com/office/drawing/2014/main" id="{C9024D22-FABE-C20E-6062-1BA5B8DB9488}"/>
                </a:ext>
              </a:extLst>
            </p:cNvPr>
            <p:cNvGrpSpPr>
              <a:grpSpLocks noChangeAspect="1"/>
            </p:cNvGrpSpPr>
            <p:nvPr/>
          </p:nvGrpSpPr>
          <p:grpSpPr bwMode="auto">
            <a:xfrm>
              <a:off x="130069" y="4617366"/>
              <a:ext cx="504060" cy="532757"/>
              <a:chOff x="5519" y="1720"/>
              <a:chExt cx="404" cy="427"/>
            </a:xfrm>
            <a:solidFill>
              <a:srgbClr val="A100FF"/>
            </a:solidFill>
          </p:grpSpPr>
          <p:sp>
            <p:nvSpPr>
              <p:cNvPr id="55" name="Freeform 96">
                <a:extLst>
                  <a:ext uri="{FF2B5EF4-FFF2-40B4-BE49-F238E27FC236}">
                    <a16:creationId xmlns:a16="http://schemas.microsoft.com/office/drawing/2014/main" id="{5875BDA3-2FCF-2C6E-49B2-12E59B76145A}"/>
                  </a:ext>
                </a:extLst>
              </p:cNvPr>
              <p:cNvSpPr>
                <a:spLocks noEditPoints="1"/>
              </p:cNvSpPr>
              <p:nvPr/>
            </p:nvSpPr>
            <p:spPr bwMode="auto">
              <a:xfrm>
                <a:off x="5519" y="1720"/>
                <a:ext cx="173" cy="231"/>
              </a:xfrm>
              <a:custGeom>
                <a:avLst/>
                <a:gdLst>
                  <a:gd name="T0" fmla="*/ 59 w 117"/>
                  <a:gd name="T1" fmla="*/ 156 h 156"/>
                  <a:gd name="T2" fmla="*/ 54 w 117"/>
                  <a:gd name="T3" fmla="*/ 154 h 156"/>
                  <a:gd name="T4" fmla="*/ 0 w 117"/>
                  <a:gd name="T5" fmla="*/ 58 h 156"/>
                  <a:gd name="T6" fmla="*/ 59 w 117"/>
                  <a:gd name="T7" fmla="*/ 0 h 156"/>
                  <a:gd name="T8" fmla="*/ 117 w 117"/>
                  <a:gd name="T9" fmla="*/ 58 h 156"/>
                  <a:gd name="T10" fmla="*/ 63 w 117"/>
                  <a:gd name="T11" fmla="*/ 154 h 156"/>
                  <a:gd name="T12" fmla="*/ 59 w 117"/>
                  <a:gd name="T13" fmla="*/ 156 h 156"/>
                  <a:gd name="T14" fmla="*/ 59 w 117"/>
                  <a:gd name="T15" fmla="*/ 12 h 156"/>
                  <a:gd name="T16" fmla="*/ 12 w 117"/>
                  <a:gd name="T17" fmla="*/ 58 h 156"/>
                  <a:gd name="T18" fmla="*/ 59 w 117"/>
                  <a:gd name="T19" fmla="*/ 141 h 156"/>
                  <a:gd name="T20" fmla="*/ 105 w 117"/>
                  <a:gd name="T21" fmla="*/ 58 h 156"/>
                  <a:gd name="T22" fmla="*/ 59 w 117"/>
                  <a:gd name="T23"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7" h="156">
                    <a:moveTo>
                      <a:pt x="59" y="156"/>
                    </a:moveTo>
                    <a:cubicBezTo>
                      <a:pt x="57" y="156"/>
                      <a:pt x="55" y="155"/>
                      <a:pt x="54" y="154"/>
                    </a:cubicBezTo>
                    <a:cubicBezTo>
                      <a:pt x="49" y="147"/>
                      <a:pt x="0" y="88"/>
                      <a:pt x="0" y="58"/>
                    </a:cubicBezTo>
                    <a:cubicBezTo>
                      <a:pt x="0" y="26"/>
                      <a:pt x="27" y="0"/>
                      <a:pt x="59" y="0"/>
                    </a:cubicBezTo>
                    <a:cubicBezTo>
                      <a:pt x="91" y="0"/>
                      <a:pt x="117" y="26"/>
                      <a:pt x="117" y="58"/>
                    </a:cubicBezTo>
                    <a:cubicBezTo>
                      <a:pt x="117" y="88"/>
                      <a:pt x="69" y="147"/>
                      <a:pt x="63" y="154"/>
                    </a:cubicBezTo>
                    <a:cubicBezTo>
                      <a:pt x="62" y="155"/>
                      <a:pt x="61" y="156"/>
                      <a:pt x="59" y="156"/>
                    </a:cubicBezTo>
                    <a:close/>
                    <a:moveTo>
                      <a:pt x="59" y="12"/>
                    </a:moveTo>
                    <a:cubicBezTo>
                      <a:pt x="33" y="12"/>
                      <a:pt x="12" y="32"/>
                      <a:pt x="12" y="58"/>
                    </a:cubicBezTo>
                    <a:cubicBezTo>
                      <a:pt x="12" y="78"/>
                      <a:pt x="43" y="120"/>
                      <a:pt x="59" y="141"/>
                    </a:cubicBezTo>
                    <a:cubicBezTo>
                      <a:pt x="75" y="120"/>
                      <a:pt x="105" y="78"/>
                      <a:pt x="105" y="58"/>
                    </a:cubicBezTo>
                    <a:cubicBezTo>
                      <a:pt x="105" y="32"/>
                      <a:pt x="85" y="12"/>
                      <a:pt x="5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1" name="Freeform 97">
                <a:extLst>
                  <a:ext uri="{FF2B5EF4-FFF2-40B4-BE49-F238E27FC236}">
                    <a16:creationId xmlns:a16="http://schemas.microsoft.com/office/drawing/2014/main" id="{2CC64C5C-E290-42E9-45EF-5F00AC341954}"/>
                  </a:ext>
                </a:extLst>
              </p:cNvPr>
              <p:cNvSpPr>
                <a:spLocks noEditPoints="1"/>
              </p:cNvSpPr>
              <p:nvPr/>
            </p:nvSpPr>
            <p:spPr bwMode="auto">
              <a:xfrm>
                <a:off x="5568" y="1768"/>
                <a:ext cx="76" cy="77"/>
              </a:xfrm>
              <a:custGeom>
                <a:avLst/>
                <a:gdLst>
                  <a:gd name="T0" fmla="*/ 26 w 52"/>
                  <a:gd name="T1" fmla="*/ 52 h 52"/>
                  <a:gd name="T2" fmla="*/ 0 w 52"/>
                  <a:gd name="T3" fmla="*/ 26 h 52"/>
                  <a:gd name="T4" fmla="*/ 26 w 52"/>
                  <a:gd name="T5" fmla="*/ 0 h 52"/>
                  <a:gd name="T6" fmla="*/ 52 w 52"/>
                  <a:gd name="T7" fmla="*/ 26 h 52"/>
                  <a:gd name="T8" fmla="*/ 26 w 52"/>
                  <a:gd name="T9" fmla="*/ 52 h 52"/>
                  <a:gd name="T10" fmla="*/ 26 w 52"/>
                  <a:gd name="T11" fmla="*/ 12 h 52"/>
                  <a:gd name="T12" fmla="*/ 12 w 52"/>
                  <a:gd name="T13" fmla="*/ 26 h 52"/>
                  <a:gd name="T14" fmla="*/ 26 w 52"/>
                  <a:gd name="T15" fmla="*/ 40 h 52"/>
                  <a:gd name="T16" fmla="*/ 40 w 52"/>
                  <a:gd name="T17" fmla="*/ 26 h 52"/>
                  <a:gd name="T18" fmla="*/ 26 w 52"/>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2">
                    <a:moveTo>
                      <a:pt x="26" y="52"/>
                    </a:moveTo>
                    <a:cubicBezTo>
                      <a:pt x="12" y="52"/>
                      <a:pt x="0" y="40"/>
                      <a:pt x="0" y="26"/>
                    </a:cubicBezTo>
                    <a:cubicBezTo>
                      <a:pt x="0" y="12"/>
                      <a:pt x="12" y="0"/>
                      <a:pt x="26" y="0"/>
                    </a:cubicBezTo>
                    <a:cubicBezTo>
                      <a:pt x="40" y="0"/>
                      <a:pt x="52" y="12"/>
                      <a:pt x="52" y="26"/>
                    </a:cubicBezTo>
                    <a:cubicBezTo>
                      <a:pt x="52" y="40"/>
                      <a:pt x="40" y="52"/>
                      <a:pt x="26" y="52"/>
                    </a:cubicBezTo>
                    <a:close/>
                    <a:moveTo>
                      <a:pt x="26" y="12"/>
                    </a:moveTo>
                    <a:cubicBezTo>
                      <a:pt x="18" y="12"/>
                      <a:pt x="12" y="19"/>
                      <a:pt x="12" y="26"/>
                    </a:cubicBezTo>
                    <a:cubicBezTo>
                      <a:pt x="12" y="34"/>
                      <a:pt x="18" y="40"/>
                      <a:pt x="26" y="40"/>
                    </a:cubicBezTo>
                    <a:cubicBezTo>
                      <a:pt x="33" y="40"/>
                      <a:pt x="40" y="34"/>
                      <a:pt x="40" y="26"/>
                    </a:cubicBezTo>
                    <a:cubicBezTo>
                      <a:pt x="40" y="19"/>
                      <a:pt x="33" y="12"/>
                      <a:pt x="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2" name="Freeform 98">
                <a:extLst>
                  <a:ext uri="{FF2B5EF4-FFF2-40B4-BE49-F238E27FC236}">
                    <a16:creationId xmlns:a16="http://schemas.microsoft.com/office/drawing/2014/main" id="{840A1F4C-809D-A9E7-0423-CA7868E33678}"/>
                  </a:ext>
                </a:extLst>
              </p:cNvPr>
              <p:cNvSpPr>
                <a:spLocks noEditPoints="1"/>
              </p:cNvSpPr>
              <p:nvPr/>
            </p:nvSpPr>
            <p:spPr bwMode="auto">
              <a:xfrm>
                <a:off x="5750" y="1916"/>
                <a:ext cx="173" cy="231"/>
              </a:xfrm>
              <a:custGeom>
                <a:avLst/>
                <a:gdLst>
                  <a:gd name="T0" fmla="*/ 59 w 117"/>
                  <a:gd name="T1" fmla="*/ 156 h 156"/>
                  <a:gd name="T2" fmla="*/ 54 w 117"/>
                  <a:gd name="T3" fmla="*/ 154 h 156"/>
                  <a:gd name="T4" fmla="*/ 0 w 117"/>
                  <a:gd name="T5" fmla="*/ 58 h 156"/>
                  <a:gd name="T6" fmla="*/ 59 w 117"/>
                  <a:gd name="T7" fmla="*/ 0 h 156"/>
                  <a:gd name="T8" fmla="*/ 117 w 117"/>
                  <a:gd name="T9" fmla="*/ 58 h 156"/>
                  <a:gd name="T10" fmla="*/ 63 w 117"/>
                  <a:gd name="T11" fmla="*/ 154 h 156"/>
                  <a:gd name="T12" fmla="*/ 59 w 117"/>
                  <a:gd name="T13" fmla="*/ 156 h 156"/>
                  <a:gd name="T14" fmla="*/ 59 w 117"/>
                  <a:gd name="T15" fmla="*/ 12 h 156"/>
                  <a:gd name="T16" fmla="*/ 12 w 117"/>
                  <a:gd name="T17" fmla="*/ 58 h 156"/>
                  <a:gd name="T18" fmla="*/ 59 w 117"/>
                  <a:gd name="T19" fmla="*/ 141 h 156"/>
                  <a:gd name="T20" fmla="*/ 105 w 117"/>
                  <a:gd name="T21" fmla="*/ 58 h 156"/>
                  <a:gd name="T22" fmla="*/ 59 w 117"/>
                  <a:gd name="T23"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7" h="156">
                    <a:moveTo>
                      <a:pt x="59" y="156"/>
                    </a:moveTo>
                    <a:cubicBezTo>
                      <a:pt x="57" y="156"/>
                      <a:pt x="55" y="155"/>
                      <a:pt x="54" y="154"/>
                    </a:cubicBezTo>
                    <a:cubicBezTo>
                      <a:pt x="49" y="147"/>
                      <a:pt x="0" y="88"/>
                      <a:pt x="0" y="58"/>
                    </a:cubicBezTo>
                    <a:cubicBezTo>
                      <a:pt x="0" y="26"/>
                      <a:pt x="27" y="0"/>
                      <a:pt x="59" y="0"/>
                    </a:cubicBezTo>
                    <a:cubicBezTo>
                      <a:pt x="91" y="0"/>
                      <a:pt x="117" y="26"/>
                      <a:pt x="117" y="58"/>
                    </a:cubicBezTo>
                    <a:cubicBezTo>
                      <a:pt x="117" y="88"/>
                      <a:pt x="69" y="147"/>
                      <a:pt x="63" y="154"/>
                    </a:cubicBezTo>
                    <a:cubicBezTo>
                      <a:pt x="62" y="155"/>
                      <a:pt x="61" y="156"/>
                      <a:pt x="59" y="156"/>
                    </a:cubicBezTo>
                    <a:close/>
                    <a:moveTo>
                      <a:pt x="59" y="12"/>
                    </a:moveTo>
                    <a:cubicBezTo>
                      <a:pt x="33" y="12"/>
                      <a:pt x="12" y="32"/>
                      <a:pt x="12" y="58"/>
                    </a:cubicBezTo>
                    <a:cubicBezTo>
                      <a:pt x="12" y="78"/>
                      <a:pt x="43" y="120"/>
                      <a:pt x="59" y="141"/>
                    </a:cubicBezTo>
                    <a:cubicBezTo>
                      <a:pt x="75" y="120"/>
                      <a:pt x="105" y="78"/>
                      <a:pt x="105" y="58"/>
                    </a:cubicBezTo>
                    <a:cubicBezTo>
                      <a:pt x="105" y="32"/>
                      <a:pt x="85" y="12"/>
                      <a:pt x="5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3" name="Freeform 99">
                <a:extLst>
                  <a:ext uri="{FF2B5EF4-FFF2-40B4-BE49-F238E27FC236}">
                    <a16:creationId xmlns:a16="http://schemas.microsoft.com/office/drawing/2014/main" id="{993F5400-38C6-975C-6677-346711769717}"/>
                  </a:ext>
                </a:extLst>
              </p:cNvPr>
              <p:cNvSpPr>
                <a:spLocks noEditPoints="1"/>
              </p:cNvSpPr>
              <p:nvPr/>
            </p:nvSpPr>
            <p:spPr bwMode="auto">
              <a:xfrm>
                <a:off x="5798" y="1963"/>
                <a:ext cx="77" cy="77"/>
              </a:xfrm>
              <a:custGeom>
                <a:avLst/>
                <a:gdLst>
                  <a:gd name="T0" fmla="*/ 26 w 52"/>
                  <a:gd name="T1" fmla="*/ 52 h 52"/>
                  <a:gd name="T2" fmla="*/ 0 w 52"/>
                  <a:gd name="T3" fmla="*/ 26 h 52"/>
                  <a:gd name="T4" fmla="*/ 26 w 52"/>
                  <a:gd name="T5" fmla="*/ 0 h 52"/>
                  <a:gd name="T6" fmla="*/ 52 w 52"/>
                  <a:gd name="T7" fmla="*/ 26 h 52"/>
                  <a:gd name="T8" fmla="*/ 26 w 52"/>
                  <a:gd name="T9" fmla="*/ 52 h 52"/>
                  <a:gd name="T10" fmla="*/ 26 w 52"/>
                  <a:gd name="T11" fmla="*/ 12 h 52"/>
                  <a:gd name="T12" fmla="*/ 12 w 52"/>
                  <a:gd name="T13" fmla="*/ 26 h 52"/>
                  <a:gd name="T14" fmla="*/ 26 w 52"/>
                  <a:gd name="T15" fmla="*/ 40 h 52"/>
                  <a:gd name="T16" fmla="*/ 40 w 52"/>
                  <a:gd name="T17" fmla="*/ 26 h 52"/>
                  <a:gd name="T18" fmla="*/ 26 w 52"/>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2">
                    <a:moveTo>
                      <a:pt x="26" y="52"/>
                    </a:moveTo>
                    <a:cubicBezTo>
                      <a:pt x="12" y="52"/>
                      <a:pt x="0" y="40"/>
                      <a:pt x="0" y="26"/>
                    </a:cubicBezTo>
                    <a:cubicBezTo>
                      <a:pt x="0" y="12"/>
                      <a:pt x="12" y="0"/>
                      <a:pt x="26" y="0"/>
                    </a:cubicBezTo>
                    <a:cubicBezTo>
                      <a:pt x="40" y="0"/>
                      <a:pt x="52" y="12"/>
                      <a:pt x="52" y="26"/>
                    </a:cubicBezTo>
                    <a:cubicBezTo>
                      <a:pt x="52" y="40"/>
                      <a:pt x="40" y="52"/>
                      <a:pt x="26" y="52"/>
                    </a:cubicBezTo>
                    <a:close/>
                    <a:moveTo>
                      <a:pt x="26" y="12"/>
                    </a:moveTo>
                    <a:cubicBezTo>
                      <a:pt x="18" y="12"/>
                      <a:pt x="12" y="19"/>
                      <a:pt x="12" y="26"/>
                    </a:cubicBezTo>
                    <a:cubicBezTo>
                      <a:pt x="12" y="34"/>
                      <a:pt x="18" y="40"/>
                      <a:pt x="26" y="40"/>
                    </a:cubicBezTo>
                    <a:cubicBezTo>
                      <a:pt x="33" y="40"/>
                      <a:pt x="40" y="34"/>
                      <a:pt x="40" y="26"/>
                    </a:cubicBezTo>
                    <a:cubicBezTo>
                      <a:pt x="40" y="19"/>
                      <a:pt x="33" y="12"/>
                      <a:pt x="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4" name="Freeform 100">
                <a:extLst>
                  <a:ext uri="{FF2B5EF4-FFF2-40B4-BE49-F238E27FC236}">
                    <a16:creationId xmlns:a16="http://schemas.microsoft.com/office/drawing/2014/main" id="{4C30856B-B31B-8D28-E744-9C0BD539DD31}"/>
                  </a:ext>
                </a:extLst>
              </p:cNvPr>
              <p:cNvSpPr>
                <a:spLocks/>
              </p:cNvSpPr>
              <p:nvPr/>
            </p:nvSpPr>
            <p:spPr bwMode="auto">
              <a:xfrm>
                <a:off x="5597" y="2111"/>
                <a:ext cx="36" cy="36"/>
              </a:xfrm>
              <a:custGeom>
                <a:avLst/>
                <a:gdLst>
                  <a:gd name="T0" fmla="*/ 18 w 24"/>
                  <a:gd name="T1" fmla="*/ 24 h 24"/>
                  <a:gd name="T2" fmla="*/ 6 w 24"/>
                  <a:gd name="T3" fmla="*/ 24 h 24"/>
                  <a:gd name="T4" fmla="*/ 0 w 24"/>
                  <a:gd name="T5" fmla="*/ 18 h 24"/>
                  <a:gd name="T6" fmla="*/ 0 w 24"/>
                  <a:gd name="T7" fmla="*/ 6 h 24"/>
                  <a:gd name="T8" fmla="*/ 6 w 24"/>
                  <a:gd name="T9" fmla="*/ 0 h 24"/>
                  <a:gd name="T10" fmla="*/ 12 w 24"/>
                  <a:gd name="T11" fmla="*/ 6 h 24"/>
                  <a:gd name="T12" fmla="*/ 12 w 24"/>
                  <a:gd name="T13" fmla="*/ 12 h 24"/>
                  <a:gd name="T14" fmla="*/ 18 w 24"/>
                  <a:gd name="T15" fmla="*/ 12 h 24"/>
                  <a:gd name="T16" fmla="*/ 24 w 24"/>
                  <a:gd name="T17" fmla="*/ 18 h 24"/>
                  <a:gd name="T18" fmla="*/ 18 w 24"/>
                  <a:gd name="T19"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8" y="24"/>
                    </a:moveTo>
                    <a:cubicBezTo>
                      <a:pt x="6" y="24"/>
                      <a:pt x="6" y="24"/>
                      <a:pt x="6" y="24"/>
                    </a:cubicBezTo>
                    <a:cubicBezTo>
                      <a:pt x="3" y="24"/>
                      <a:pt x="0" y="21"/>
                      <a:pt x="0" y="18"/>
                    </a:cubicBezTo>
                    <a:cubicBezTo>
                      <a:pt x="0" y="6"/>
                      <a:pt x="0" y="6"/>
                      <a:pt x="0" y="6"/>
                    </a:cubicBezTo>
                    <a:cubicBezTo>
                      <a:pt x="0" y="2"/>
                      <a:pt x="3" y="0"/>
                      <a:pt x="6" y="0"/>
                    </a:cubicBezTo>
                    <a:cubicBezTo>
                      <a:pt x="9" y="0"/>
                      <a:pt x="12" y="2"/>
                      <a:pt x="12" y="6"/>
                    </a:cubicBezTo>
                    <a:cubicBezTo>
                      <a:pt x="12" y="12"/>
                      <a:pt x="12" y="12"/>
                      <a:pt x="12" y="12"/>
                    </a:cubicBezTo>
                    <a:cubicBezTo>
                      <a:pt x="18" y="12"/>
                      <a:pt x="18" y="12"/>
                      <a:pt x="18" y="12"/>
                    </a:cubicBezTo>
                    <a:cubicBezTo>
                      <a:pt x="21" y="12"/>
                      <a:pt x="24" y="14"/>
                      <a:pt x="24" y="18"/>
                    </a:cubicBezTo>
                    <a:cubicBezTo>
                      <a:pt x="24" y="21"/>
                      <a:pt x="21" y="24"/>
                      <a:pt x="1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5" name="Freeform 101">
                <a:extLst>
                  <a:ext uri="{FF2B5EF4-FFF2-40B4-BE49-F238E27FC236}">
                    <a16:creationId xmlns:a16="http://schemas.microsoft.com/office/drawing/2014/main" id="{0832505D-70C8-25CD-5764-45082CEC3A50}"/>
                  </a:ext>
                </a:extLst>
              </p:cNvPr>
              <p:cNvSpPr>
                <a:spLocks/>
              </p:cNvSpPr>
              <p:nvPr/>
            </p:nvSpPr>
            <p:spPr bwMode="auto">
              <a:xfrm>
                <a:off x="5757" y="2129"/>
                <a:ext cx="35"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3" y="12"/>
                      <a:pt x="0" y="9"/>
                      <a:pt x="0" y="6"/>
                    </a:cubicBezTo>
                    <a:cubicBezTo>
                      <a:pt x="0" y="2"/>
                      <a:pt x="3" y="0"/>
                      <a:pt x="6" y="0"/>
                    </a:cubicBezTo>
                    <a:cubicBezTo>
                      <a:pt x="18" y="0"/>
                      <a:pt x="18" y="0"/>
                      <a:pt x="18" y="0"/>
                    </a:cubicBezTo>
                    <a:cubicBezTo>
                      <a:pt x="21" y="0"/>
                      <a:pt x="24" y="2"/>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6" name="Freeform 102">
                <a:extLst>
                  <a:ext uri="{FF2B5EF4-FFF2-40B4-BE49-F238E27FC236}">
                    <a16:creationId xmlns:a16="http://schemas.microsoft.com/office/drawing/2014/main" id="{8BEA6E67-7FFD-D5DC-14C5-5AEDB2C99777}"/>
                  </a:ext>
                </a:extLst>
              </p:cNvPr>
              <p:cNvSpPr>
                <a:spLocks/>
              </p:cNvSpPr>
              <p:nvPr/>
            </p:nvSpPr>
            <p:spPr bwMode="auto">
              <a:xfrm>
                <a:off x="5704" y="2129"/>
                <a:ext cx="35"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3" y="12"/>
                      <a:pt x="0" y="9"/>
                      <a:pt x="0" y="6"/>
                    </a:cubicBezTo>
                    <a:cubicBezTo>
                      <a:pt x="0" y="2"/>
                      <a:pt x="3" y="0"/>
                      <a:pt x="6" y="0"/>
                    </a:cubicBezTo>
                    <a:cubicBezTo>
                      <a:pt x="18" y="0"/>
                      <a:pt x="18" y="0"/>
                      <a:pt x="18" y="0"/>
                    </a:cubicBezTo>
                    <a:cubicBezTo>
                      <a:pt x="21" y="0"/>
                      <a:pt x="24" y="2"/>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7" name="Freeform 103">
                <a:extLst>
                  <a:ext uri="{FF2B5EF4-FFF2-40B4-BE49-F238E27FC236}">
                    <a16:creationId xmlns:a16="http://schemas.microsoft.com/office/drawing/2014/main" id="{41614E1A-8E90-69A3-BB13-E927F922584C}"/>
                  </a:ext>
                </a:extLst>
              </p:cNvPr>
              <p:cNvSpPr>
                <a:spLocks/>
              </p:cNvSpPr>
              <p:nvPr/>
            </p:nvSpPr>
            <p:spPr bwMode="auto">
              <a:xfrm>
                <a:off x="5650" y="2129"/>
                <a:ext cx="36"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3" y="12"/>
                      <a:pt x="0" y="9"/>
                      <a:pt x="0" y="6"/>
                    </a:cubicBezTo>
                    <a:cubicBezTo>
                      <a:pt x="0" y="2"/>
                      <a:pt x="3" y="0"/>
                      <a:pt x="6" y="0"/>
                    </a:cubicBezTo>
                    <a:cubicBezTo>
                      <a:pt x="18" y="0"/>
                      <a:pt x="18" y="0"/>
                      <a:pt x="18" y="0"/>
                    </a:cubicBezTo>
                    <a:cubicBezTo>
                      <a:pt x="21" y="0"/>
                      <a:pt x="24" y="2"/>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8" name="Freeform 104">
                <a:extLst>
                  <a:ext uri="{FF2B5EF4-FFF2-40B4-BE49-F238E27FC236}">
                    <a16:creationId xmlns:a16="http://schemas.microsoft.com/office/drawing/2014/main" id="{39BE9874-DEEF-1C6E-B4CD-9A69C6D84C8A}"/>
                  </a:ext>
                </a:extLst>
              </p:cNvPr>
              <p:cNvSpPr>
                <a:spLocks/>
              </p:cNvSpPr>
              <p:nvPr/>
            </p:nvSpPr>
            <p:spPr bwMode="auto">
              <a:xfrm>
                <a:off x="5597" y="1951"/>
                <a:ext cx="18"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9" y="0"/>
                      <a:pt x="12" y="2"/>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9" name="Freeform 105">
                <a:extLst>
                  <a:ext uri="{FF2B5EF4-FFF2-40B4-BE49-F238E27FC236}">
                    <a16:creationId xmlns:a16="http://schemas.microsoft.com/office/drawing/2014/main" id="{CB027E89-B203-7EA0-DC74-2EAA5DC9F639}"/>
                  </a:ext>
                </a:extLst>
              </p:cNvPr>
              <p:cNvSpPr>
                <a:spLocks/>
              </p:cNvSpPr>
              <p:nvPr/>
            </p:nvSpPr>
            <p:spPr bwMode="auto">
              <a:xfrm>
                <a:off x="5597" y="2004"/>
                <a:ext cx="18"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9" y="0"/>
                      <a:pt x="12" y="2"/>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80" name="Freeform 106">
                <a:extLst>
                  <a:ext uri="{FF2B5EF4-FFF2-40B4-BE49-F238E27FC236}">
                    <a16:creationId xmlns:a16="http://schemas.microsoft.com/office/drawing/2014/main" id="{0BE80CA8-0026-6F48-74A2-4AE8EA72F148}"/>
                  </a:ext>
                </a:extLst>
              </p:cNvPr>
              <p:cNvSpPr>
                <a:spLocks/>
              </p:cNvSpPr>
              <p:nvPr/>
            </p:nvSpPr>
            <p:spPr bwMode="auto">
              <a:xfrm>
                <a:off x="5597" y="2058"/>
                <a:ext cx="18" cy="35"/>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9" y="0"/>
                      <a:pt x="12" y="2"/>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grpSp>
        <p:grpSp>
          <p:nvGrpSpPr>
            <p:cNvPr id="81" name="Group 76">
              <a:extLst>
                <a:ext uri="{FF2B5EF4-FFF2-40B4-BE49-F238E27FC236}">
                  <a16:creationId xmlns:a16="http://schemas.microsoft.com/office/drawing/2014/main" id="{21E0F736-800D-85BB-D5DA-E5315B7EC388}"/>
                </a:ext>
              </a:extLst>
            </p:cNvPr>
            <p:cNvGrpSpPr>
              <a:grpSpLocks noChangeAspect="1"/>
            </p:cNvGrpSpPr>
            <p:nvPr/>
          </p:nvGrpSpPr>
          <p:grpSpPr bwMode="auto">
            <a:xfrm>
              <a:off x="101372" y="1268178"/>
              <a:ext cx="522775" cy="532757"/>
              <a:chOff x="3441" y="1720"/>
              <a:chExt cx="419" cy="427"/>
            </a:xfrm>
            <a:solidFill>
              <a:srgbClr val="A100FF"/>
            </a:solidFill>
          </p:grpSpPr>
          <p:sp>
            <p:nvSpPr>
              <p:cNvPr id="82" name="Freeform 77">
                <a:extLst>
                  <a:ext uri="{FF2B5EF4-FFF2-40B4-BE49-F238E27FC236}">
                    <a16:creationId xmlns:a16="http://schemas.microsoft.com/office/drawing/2014/main" id="{C14C807E-0840-97DD-F029-983FD8D6A96B}"/>
                  </a:ext>
                </a:extLst>
              </p:cNvPr>
              <p:cNvSpPr>
                <a:spLocks noEditPoints="1"/>
              </p:cNvSpPr>
              <p:nvPr/>
            </p:nvSpPr>
            <p:spPr bwMode="auto">
              <a:xfrm>
                <a:off x="3560" y="1720"/>
                <a:ext cx="146" cy="196"/>
              </a:xfrm>
              <a:custGeom>
                <a:avLst/>
                <a:gdLst>
                  <a:gd name="T0" fmla="*/ 50 w 99"/>
                  <a:gd name="T1" fmla="*/ 132 h 132"/>
                  <a:gd name="T2" fmla="*/ 45 w 99"/>
                  <a:gd name="T3" fmla="*/ 130 h 132"/>
                  <a:gd name="T4" fmla="*/ 0 w 99"/>
                  <a:gd name="T5" fmla="*/ 49 h 132"/>
                  <a:gd name="T6" fmla="*/ 50 w 99"/>
                  <a:gd name="T7" fmla="*/ 0 h 132"/>
                  <a:gd name="T8" fmla="*/ 99 w 99"/>
                  <a:gd name="T9" fmla="*/ 49 h 132"/>
                  <a:gd name="T10" fmla="*/ 54 w 99"/>
                  <a:gd name="T11" fmla="*/ 130 h 132"/>
                  <a:gd name="T12" fmla="*/ 50 w 99"/>
                  <a:gd name="T13" fmla="*/ 132 h 132"/>
                  <a:gd name="T14" fmla="*/ 50 w 99"/>
                  <a:gd name="T15" fmla="*/ 12 h 132"/>
                  <a:gd name="T16" fmla="*/ 12 w 99"/>
                  <a:gd name="T17" fmla="*/ 49 h 132"/>
                  <a:gd name="T18" fmla="*/ 50 w 99"/>
                  <a:gd name="T19" fmla="*/ 116 h 132"/>
                  <a:gd name="T20" fmla="*/ 87 w 99"/>
                  <a:gd name="T21" fmla="*/ 49 h 132"/>
                  <a:gd name="T22" fmla="*/ 50 w 99"/>
                  <a:gd name="T23" fmla="*/ 1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132">
                    <a:moveTo>
                      <a:pt x="50" y="132"/>
                    </a:moveTo>
                    <a:cubicBezTo>
                      <a:pt x="48" y="132"/>
                      <a:pt x="46" y="131"/>
                      <a:pt x="45" y="130"/>
                    </a:cubicBezTo>
                    <a:cubicBezTo>
                      <a:pt x="41" y="124"/>
                      <a:pt x="0" y="75"/>
                      <a:pt x="0" y="49"/>
                    </a:cubicBezTo>
                    <a:cubicBezTo>
                      <a:pt x="0" y="22"/>
                      <a:pt x="22" y="0"/>
                      <a:pt x="50" y="0"/>
                    </a:cubicBezTo>
                    <a:cubicBezTo>
                      <a:pt x="77" y="0"/>
                      <a:pt x="99" y="22"/>
                      <a:pt x="99" y="49"/>
                    </a:cubicBezTo>
                    <a:cubicBezTo>
                      <a:pt x="99" y="75"/>
                      <a:pt x="59" y="124"/>
                      <a:pt x="54" y="130"/>
                    </a:cubicBezTo>
                    <a:cubicBezTo>
                      <a:pt x="53" y="131"/>
                      <a:pt x="52" y="132"/>
                      <a:pt x="50" y="132"/>
                    </a:cubicBezTo>
                    <a:close/>
                    <a:moveTo>
                      <a:pt x="50" y="12"/>
                    </a:moveTo>
                    <a:cubicBezTo>
                      <a:pt x="29" y="12"/>
                      <a:pt x="12" y="29"/>
                      <a:pt x="12" y="49"/>
                    </a:cubicBezTo>
                    <a:cubicBezTo>
                      <a:pt x="12" y="65"/>
                      <a:pt x="36" y="99"/>
                      <a:pt x="50" y="116"/>
                    </a:cubicBezTo>
                    <a:cubicBezTo>
                      <a:pt x="63" y="99"/>
                      <a:pt x="87" y="65"/>
                      <a:pt x="87" y="49"/>
                    </a:cubicBezTo>
                    <a:cubicBezTo>
                      <a:pt x="87" y="29"/>
                      <a:pt x="71" y="12"/>
                      <a:pt x="5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83" name="Freeform 78">
                <a:extLst>
                  <a:ext uri="{FF2B5EF4-FFF2-40B4-BE49-F238E27FC236}">
                    <a16:creationId xmlns:a16="http://schemas.microsoft.com/office/drawing/2014/main" id="{73D6AF6D-94AB-6B42-90C1-36C5CEEA5EF6}"/>
                  </a:ext>
                </a:extLst>
              </p:cNvPr>
              <p:cNvSpPr>
                <a:spLocks noEditPoints="1"/>
              </p:cNvSpPr>
              <p:nvPr/>
            </p:nvSpPr>
            <p:spPr bwMode="auto">
              <a:xfrm>
                <a:off x="3599" y="1760"/>
                <a:ext cx="67" cy="67"/>
              </a:xfrm>
              <a:custGeom>
                <a:avLst/>
                <a:gdLst>
                  <a:gd name="T0" fmla="*/ 23 w 45"/>
                  <a:gd name="T1" fmla="*/ 45 h 45"/>
                  <a:gd name="T2" fmla="*/ 0 w 45"/>
                  <a:gd name="T3" fmla="*/ 22 h 45"/>
                  <a:gd name="T4" fmla="*/ 23 w 45"/>
                  <a:gd name="T5" fmla="*/ 0 h 45"/>
                  <a:gd name="T6" fmla="*/ 45 w 45"/>
                  <a:gd name="T7" fmla="*/ 22 h 45"/>
                  <a:gd name="T8" fmla="*/ 23 w 45"/>
                  <a:gd name="T9" fmla="*/ 45 h 45"/>
                  <a:gd name="T10" fmla="*/ 23 w 45"/>
                  <a:gd name="T11" fmla="*/ 12 h 45"/>
                  <a:gd name="T12" fmla="*/ 12 w 45"/>
                  <a:gd name="T13" fmla="*/ 22 h 45"/>
                  <a:gd name="T14" fmla="*/ 23 w 45"/>
                  <a:gd name="T15" fmla="*/ 33 h 45"/>
                  <a:gd name="T16" fmla="*/ 33 w 45"/>
                  <a:gd name="T17" fmla="*/ 22 h 45"/>
                  <a:gd name="T18" fmla="*/ 23 w 45"/>
                  <a:gd name="T19" fmla="*/ 12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 h="45">
                    <a:moveTo>
                      <a:pt x="23" y="45"/>
                    </a:moveTo>
                    <a:cubicBezTo>
                      <a:pt x="10" y="45"/>
                      <a:pt x="0" y="35"/>
                      <a:pt x="0" y="22"/>
                    </a:cubicBezTo>
                    <a:cubicBezTo>
                      <a:pt x="0" y="10"/>
                      <a:pt x="10" y="0"/>
                      <a:pt x="23" y="0"/>
                    </a:cubicBezTo>
                    <a:cubicBezTo>
                      <a:pt x="35" y="0"/>
                      <a:pt x="45" y="10"/>
                      <a:pt x="45" y="22"/>
                    </a:cubicBezTo>
                    <a:cubicBezTo>
                      <a:pt x="45" y="35"/>
                      <a:pt x="35" y="45"/>
                      <a:pt x="23" y="45"/>
                    </a:cubicBezTo>
                    <a:close/>
                    <a:moveTo>
                      <a:pt x="23" y="12"/>
                    </a:moveTo>
                    <a:cubicBezTo>
                      <a:pt x="17" y="12"/>
                      <a:pt x="12" y="17"/>
                      <a:pt x="12" y="22"/>
                    </a:cubicBezTo>
                    <a:cubicBezTo>
                      <a:pt x="12" y="28"/>
                      <a:pt x="17" y="33"/>
                      <a:pt x="23" y="33"/>
                    </a:cubicBezTo>
                    <a:cubicBezTo>
                      <a:pt x="29" y="33"/>
                      <a:pt x="33" y="28"/>
                      <a:pt x="33" y="22"/>
                    </a:cubicBezTo>
                    <a:cubicBezTo>
                      <a:pt x="33" y="17"/>
                      <a:pt x="29" y="12"/>
                      <a:pt x="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84" name="Freeform 79">
                <a:extLst>
                  <a:ext uri="{FF2B5EF4-FFF2-40B4-BE49-F238E27FC236}">
                    <a16:creationId xmlns:a16="http://schemas.microsoft.com/office/drawing/2014/main" id="{952BF0DA-EAEC-0937-0D6F-A944D6AFA4DA}"/>
                  </a:ext>
                </a:extLst>
              </p:cNvPr>
              <p:cNvSpPr>
                <a:spLocks noEditPoints="1"/>
              </p:cNvSpPr>
              <p:nvPr/>
            </p:nvSpPr>
            <p:spPr bwMode="auto">
              <a:xfrm>
                <a:off x="3727" y="1845"/>
                <a:ext cx="133" cy="177"/>
              </a:xfrm>
              <a:custGeom>
                <a:avLst/>
                <a:gdLst>
                  <a:gd name="T0" fmla="*/ 45 w 90"/>
                  <a:gd name="T1" fmla="*/ 120 h 120"/>
                  <a:gd name="T2" fmla="*/ 45 w 90"/>
                  <a:gd name="T3" fmla="*/ 120 h 120"/>
                  <a:gd name="T4" fmla="*/ 40 w 90"/>
                  <a:gd name="T5" fmla="*/ 118 h 120"/>
                  <a:gd name="T6" fmla="*/ 0 w 90"/>
                  <a:gd name="T7" fmla="*/ 45 h 120"/>
                  <a:gd name="T8" fmla="*/ 45 w 90"/>
                  <a:gd name="T9" fmla="*/ 0 h 120"/>
                  <a:gd name="T10" fmla="*/ 90 w 90"/>
                  <a:gd name="T11" fmla="*/ 45 h 120"/>
                  <a:gd name="T12" fmla="*/ 49 w 90"/>
                  <a:gd name="T13" fmla="*/ 118 h 120"/>
                  <a:gd name="T14" fmla="*/ 45 w 90"/>
                  <a:gd name="T15" fmla="*/ 120 h 120"/>
                  <a:gd name="T16" fmla="*/ 45 w 90"/>
                  <a:gd name="T17" fmla="*/ 12 h 120"/>
                  <a:gd name="T18" fmla="*/ 12 w 90"/>
                  <a:gd name="T19" fmla="*/ 45 h 120"/>
                  <a:gd name="T20" fmla="*/ 45 w 90"/>
                  <a:gd name="T21" fmla="*/ 104 h 120"/>
                  <a:gd name="T22" fmla="*/ 78 w 90"/>
                  <a:gd name="T23" fmla="*/ 45 h 120"/>
                  <a:gd name="T24" fmla="*/ 45 w 90"/>
                  <a:gd name="T25" fmla="*/ 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120">
                    <a:moveTo>
                      <a:pt x="45" y="120"/>
                    </a:moveTo>
                    <a:cubicBezTo>
                      <a:pt x="45" y="120"/>
                      <a:pt x="45" y="120"/>
                      <a:pt x="45" y="120"/>
                    </a:cubicBezTo>
                    <a:cubicBezTo>
                      <a:pt x="43" y="120"/>
                      <a:pt x="41" y="119"/>
                      <a:pt x="40" y="118"/>
                    </a:cubicBezTo>
                    <a:cubicBezTo>
                      <a:pt x="36" y="113"/>
                      <a:pt x="0" y="68"/>
                      <a:pt x="0" y="45"/>
                    </a:cubicBezTo>
                    <a:cubicBezTo>
                      <a:pt x="0" y="20"/>
                      <a:pt x="20" y="0"/>
                      <a:pt x="45" y="0"/>
                    </a:cubicBezTo>
                    <a:cubicBezTo>
                      <a:pt x="70" y="0"/>
                      <a:pt x="90" y="20"/>
                      <a:pt x="90" y="45"/>
                    </a:cubicBezTo>
                    <a:cubicBezTo>
                      <a:pt x="90" y="68"/>
                      <a:pt x="54" y="113"/>
                      <a:pt x="49" y="118"/>
                    </a:cubicBezTo>
                    <a:cubicBezTo>
                      <a:pt x="48" y="119"/>
                      <a:pt x="47" y="120"/>
                      <a:pt x="45" y="120"/>
                    </a:cubicBezTo>
                    <a:close/>
                    <a:moveTo>
                      <a:pt x="45" y="12"/>
                    </a:moveTo>
                    <a:cubicBezTo>
                      <a:pt x="26" y="12"/>
                      <a:pt x="12" y="27"/>
                      <a:pt x="12" y="45"/>
                    </a:cubicBezTo>
                    <a:cubicBezTo>
                      <a:pt x="12" y="58"/>
                      <a:pt x="30" y="86"/>
                      <a:pt x="45" y="104"/>
                    </a:cubicBezTo>
                    <a:cubicBezTo>
                      <a:pt x="57" y="89"/>
                      <a:pt x="78" y="59"/>
                      <a:pt x="78" y="45"/>
                    </a:cubicBezTo>
                    <a:cubicBezTo>
                      <a:pt x="78" y="27"/>
                      <a:pt x="63" y="12"/>
                      <a:pt x="4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85" name="Freeform 80">
                <a:extLst>
                  <a:ext uri="{FF2B5EF4-FFF2-40B4-BE49-F238E27FC236}">
                    <a16:creationId xmlns:a16="http://schemas.microsoft.com/office/drawing/2014/main" id="{ED974826-2C2F-AC76-0134-432EF45241E9}"/>
                  </a:ext>
                </a:extLst>
              </p:cNvPr>
              <p:cNvSpPr>
                <a:spLocks noEditPoints="1"/>
              </p:cNvSpPr>
              <p:nvPr/>
            </p:nvSpPr>
            <p:spPr bwMode="auto">
              <a:xfrm>
                <a:off x="3762" y="1880"/>
                <a:ext cx="62" cy="62"/>
              </a:xfrm>
              <a:custGeom>
                <a:avLst/>
                <a:gdLst>
                  <a:gd name="T0" fmla="*/ 21 w 42"/>
                  <a:gd name="T1" fmla="*/ 42 h 42"/>
                  <a:gd name="T2" fmla="*/ 0 w 42"/>
                  <a:gd name="T3" fmla="*/ 21 h 42"/>
                  <a:gd name="T4" fmla="*/ 21 w 42"/>
                  <a:gd name="T5" fmla="*/ 0 h 42"/>
                  <a:gd name="T6" fmla="*/ 42 w 42"/>
                  <a:gd name="T7" fmla="*/ 21 h 42"/>
                  <a:gd name="T8" fmla="*/ 21 w 42"/>
                  <a:gd name="T9" fmla="*/ 42 h 42"/>
                  <a:gd name="T10" fmla="*/ 21 w 42"/>
                  <a:gd name="T11" fmla="*/ 12 h 42"/>
                  <a:gd name="T12" fmla="*/ 12 w 42"/>
                  <a:gd name="T13" fmla="*/ 21 h 42"/>
                  <a:gd name="T14" fmla="*/ 21 w 42"/>
                  <a:gd name="T15" fmla="*/ 30 h 42"/>
                  <a:gd name="T16" fmla="*/ 30 w 42"/>
                  <a:gd name="T17" fmla="*/ 21 h 42"/>
                  <a:gd name="T18" fmla="*/ 21 w 42"/>
                  <a:gd name="T19"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2">
                    <a:moveTo>
                      <a:pt x="21" y="42"/>
                    </a:moveTo>
                    <a:cubicBezTo>
                      <a:pt x="9" y="42"/>
                      <a:pt x="0" y="33"/>
                      <a:pt x="0" y="21"/>
                    </a:cubicBezTo>
                    <a:cubicBezTo>
                      <a:pt x="0" y="10"/>
                      <a:pt x="9" y="0"/>
                      <a:pt x="21" y="0"/>
                    </a:cubicBezTo>
                    <a:cubicBezTo>
                      <a:pt x="32" y="0"/>
                      <a:pt x="42" y="10"/>
                      <a:pt x="42" y="21"/>
                    </a:cubicBezTo>
                    <a:cubicBezTo>
                      <a:pt x="42" y="33"/>
                      <a:pt x="32" y="42"/>
                      <a:pt x="21" y="42"/>
                    </a:cubicBezTo>
                    <a:close/>
                    <a:moveTo>
                      <a:pt x="21" y="12"/>
                    </a:moveTo>
                    <a:cubicBezTo>
                      <a:pt x="16" y="12"/>
                      <a:pt x="12" y="16"/>
                      <a:pt x="12" y="21"/>
                    </a:cubicBezTo>
                    <a:cubicBezTo>
                      <a:pt x="12" y="26"/>
                      <a:pt x="16" y="30"/>
                      <a:pt x="21" y="30"/>
                    </a:cubicBezTo>
                    <a:cubicBezTo>
                      <a:pt x="26" y="30"/>
                      <a:pt x="30" y="26"/>
                      <a:pt x="30" y="21"/>
                    </a:cubicBezTo>
                    <a:cubicBezTo>
                      <a:pt x="30" y="16"/>
                      <a:pt x="26" y="12"/>
                      <a:pt x="2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86" name="Freeform 81">
                <a:extLst>
                  <a:ext uri="{FF2B5EF4-FFF2-40B4-BE49-F238E27FC236}">
                    <a16:creationId xmlns:a16="http://schemas.microsoft.com/office/drawing/2014/main" id="{23068E43-4362-F662-C3A2-5219CFAAF799}"/>
                  </a:ext>
                </a:extLst>
              </p:cNvPr>
              <p:cNvSpPr>
                <a:spLocks noEditPoints="1"/>
              </p:cNvSpPr>
              <p:nvPr/>
            </p:nvSpPr>
            <p:spPr bwMode="auto">
              <a:xfrm>
                <a:off x="3441" y="1898"/>
                <a:ext cx="172" cy="249"/>
              </a:xfrm>
              <a:custGeom>
                <a:avLst/>
                <a:gdLst>
                  <a:gd name="T0" fmla="*/ 58 w 116"/>
                  <a:gd name="T1" fmla="*/ 168 h 168"/>
                  <a:gd name="T2" fmla="*/ 52 w 116"/>
                  <a:gd name="T3" fmla="*/ 162 h 168"/>
                  <a:gd name="T4" fmla="*/ 29 w 116"/>
                  <a:gd name="T5" fmla="*/ 115 h 168"/>
                  <a:gd name="T6" fmla="*/ 3 w 116"/>
                  <a:gd name="T7" fmla="*/ 65 h 168"/>
                  <a:gd name="T8" fmla="*/ 14 w 116"/>
                  <a:gd name="T9" fmla="*/ 19 h 168"/>
                  <a:gd name="T10" fmla="*/ 58 w 116"/>
                  <a:gd name="T11" fmla="*/ 0 h 168"/>
                  <a:gd name="T12" fmla="*/ 102 w 116"/>
                  <a:gd name="T13" fmla="*/ 18 h 168"/>
                  <a:gd name="T14" fmla="*/ 113 w 116"/>
                  <a:gd name="T15" fmla="*/ 65 h 168"/>
                  <a:gd name="T16" fmla="*/ 88 w 116"/>
                  <a:gd name="T17" fmla="*/ 112 h 168"/>
                  <a:gd name="T18" fmla="*/ 64 w 116"/>
                  <a:gd name="T19" fmla="*/ 162 h 168"/>
                  <a:gd name="T20" fmla="*/ 58 w 116"/>
                  <a:gd name="T21" fmla="*/ 168 h 168"/>
                  <a:gd name="T22" fmla="*/ 58 w 116"/>
                  <a:gd name="T23" fmla="*/ 12 h 168"/>
                  <a:gd name="T24" fmla="*/ 23 w 116"/>
                  <a:gd name="T25" fmla="*/ 26 h 168"/>
                  <a:gd name="T26" fmla="*/ 15 w 116"/>
                  <a:gd name="T27" fmla="*/ 63 h 168"/>
                  <a:gd name="T28" fmla="*/ 39 w 116"/>
                  <a:gd name="T29" fmla="*/ 109 h 168"/>
                  <a:gd name="T30" fmla="*/ 58 w 116"/>
                  <a:gd name="T31" fmla="*/ 140 h 168"/>
                  <a:gd name="T32" fmla="*/ 78 w 116"/>
                  <a:gd name="T33" fmla="*/ 105 h 168"/>
                  <a:gd name="T34" fmla="*/ 101 w 116"/>
                  <a:gd name="T35" fmla="*/ 63 h 168"/>
                  <a:gd name="T36" fmla="*/ 101 w 116"/>
                  <a:gd name="T37" fmla="*/ 63 h 168"/>
                  <a:gd name="T38" fmla="*/ 92 w 116"/>
                  <a:gd name="T39" fmla="*/ 26 h 168"/>
                  <a:gd name="T40" fmla="*/ 58 w 116"/>
                  <a:gd name="T41" fmla="*/ 12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 h="168">
                    <a:moveTo>
                      <a:pt x="58" y="168"/>
                    </a:moveTo>
                    <a:cubicBezTo>
                      <a:pt x="54" y="168"/>
                      <a:pt x="52" y="165"/>
                      <a:pt x="52" y="162"/>
                    </a:cubicBezTo>
                    <a:cubicBezTo>
                      <a:pt x="52" y="150"/>
                      <a:pt x="40" y="132"/>
                      <a:pt x="29" y="115"/>
                    </a:cubicBezTo>
                    <a:cubicBezTo>
                      <a:pt x="17" y="98"/>
                      <a:pt x="6" y="81"/>
                      <a:pt x="3" y="65"/>
                    </a:cubicBezTo>
                    <a:cubicBezTo>
                      <a:pt x="0" y="48"/>
                      <a:pt x="4" y="31"/>
                      <a:pt x="14" y="19"/>
                    </a:cubicBezTo>
                    <a:cubicBezTo>
                      <a:pt x="24" y="7"/>
                      <a:pt x="40" y="0"/>
                      <a:pt x="58" y="0"/>
                    </a:cubicBezTo>
                    <a:cubicBezTo>
                      <a:pt x="76" y="0"/>
                      <a:pt x="91" y="6"/>
                      <a:pt x="102" y="18"/>
                    </a:cubicBezTo>
                    <a:cubicBezTo>
                      <a:pt x="112" y="30"/>
                      <a:pt x="116" y="47"/>
                      <a:pt x="113" y="65"/>
                    </a:cubicBezTo>
                    <a:cubicBezTo>
                      <a:pt x="111" y="78"/>
                      <a:pt x="100" y="94"/>
                      <a:pt x="88" y="112"/>
                    </a:cubicBezTo>
                    <a:cubicBezTo>
                      <a:pt x="76" y="130"/>
                      <a:pt x="64" y="149"/>
                      <a:pt x="64" y="162"/>
                    </a:cubicBezTo>
                    <a:cubicBezTo>
                      <a:pt x="64" y="165"/>
                      <a:pt x="61" y="168"/>
                      <a:pt x="58" y="168"/>
                    </a:cubicBezTo>
                    <a:close/>
                    <a:moveTo>
                      <a:pt x="58" y="12"/>
                    </a:moveTo>
                    <a:cubicBezTo>
                      <a:pt x="43" y="12"/>
                      <a:pt x="31" y="17"/>
                      <a:pt x="23" y="26"/>
                    </a:cubicBezTo>
                    <a:cubicBezTo>
                      <a:pt x="15" y="36"/>
                      <a:pt x="12" y="49"/>
                      <a:pt x="15" y="63"/>
                    </a:cubicBezTo>
                    <a:cubicBezTo>
                      <a:pt x="17" y="76"/>
                      <a:pt x="28" y="93"/>
                      <a:pt x="39" y="109"/>
                    </a:cubicBezTo>
                    <a:cubicBezTo>
                      <a:pt x="46" y="119"/>
                      <a:pt x="53" y="130"/>
                      <a:pt x="58" y="140"/>
                    </a:cubicBezTo>
                    <a:cubicBezTo>
                      <a:pt x="63" y="129"/>
                      <a:pt x="71" y="117"/>
                      <a:pt x="78" y="105"/>
                    </a:cubicBezTo>
                    <a:cubicBezTo>
                      <a:pt x="89" y="90"/>
                      <a:pt x="99" y="74"/>
                      <a:pt x="101" y="63"/>
                    </a:cubicBezTo>
                    <a:cubicBezTo>
                      <a:pt x="101" y="63"/>
                      <a:pt x="101" y="63"/>
                      <a:pt x="101" y="63"/>
                    </a:cubicBezTo>
                    <a:cubicBezTo>
                      <a:pt x="103" y="48"/>
                      <a:pt x="100" y="35"/>
                      <a:pt x="92" y="26"/>
                    </a:cubicBezTo>
                    <a:cubicBezTo>
                      <a:pt x="84" y="17"/>
                      <a:pt x="73" y="12"/>
                      <a:pt x="5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87" name="Freeform 82">
                <a:extLst>
                  <a:ext uri="{FF2B5EF4-FFF2-40B4-BE49-F238E27FC236}">
                    <a16:creationId xmlns:a16="http://schemas.microsoft.com/office/drawing/2014/main" id="{A6C5BA64-EDA0-DE0C-5915-B6D53F837B60}"/>
                  </a:ext>
                </a:extLst>
              </p:cNvPr>
              <p:cNvSpPr>
                <a:spLocks noEditPoints="1"/>
              </p:cNvSpPr>
              <p:nvPr/>
            </p:nvSpPr>
            <p:spPr bwMode="auto">
              <a:xfrm>
                <a:off x="3484" y="1933"/>
                <a:ext cx="84" cy="85"/>
              </a:xfrm>
              <a:custGeom>
                <a:avLst/>
                <a:gdLst>
                  <a:gd name="T0" fmla="*/ 29 w 57"/>
                  <a:gd name="T1" fmla="*/ 57 h 57"/>
                  <a:gd name="T2" fmla="*/ 0 w 57"/>
                  <a:gd name="T3" fmla="*/ 29 h 57"/>
                  <a:gd name="T4" fmla="*/ 29 w 57"/>
                  <a:gd name="T5" fmla="*/ 0 h 57"/>
                  <a:gd name="T6" fmla="*/ 57 w 57"/>
                  <a:gd name="T7" fmla="*/ 29 h 57"/>
                  <a:gd name="T8" fmla="*/ 29 w 57"/>
                  <a:gd name="T9" fmla="*/ 57 h 57"/>
                  <a:gd name="T10" fmla="*/ 29 w 57"/>
                  <a:gd name="T11" fmla="*/ 12 h 57"/>
                  <a:gd name="T12" fmla="*/ 12 w 57"/>
                  <a:gd name="T13" fmla="*/ 29 h 57"/>
                  <a:gd name="T14" fmla="*/ 29 w 57"/>
                  <a:gd name="T15" fmla="*/ 45 h 57"/>
                  <a:gd name="T16" fmla="*/ 45 w 57"/>
                  <a:gd name="T17" fmla="*/ 29 h 57"/>
                  <a:gd name="T18" fmla="*/ 29 w 57"/>
                  <a:gd name="T19"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57">
                    <a:moveTo>
                      <a:pt x="29" y="57"/>
                    </a:moveTo>
                    <a:cubicBezTo>
                      <a:pt x="13" y="57"/>
                      <a:pt x="0" y="44"/>
                      <a:pt x="0" y="29"/>
                    </a:cubicBezTo>
                    <a:cubicBezTo>
                      <a:pt x="0" y="13"/>
                      <a:pt x="13" y="0"/>
                      <a:pt x="29" y="0"/>
                    </a:cubicBezTo>
                    <a:cubicBezTo>
                      <a:pt x="45" y="0"/>
                      <a:pt x="57" y="13"/>
                      <a:pt x="57" y="29"/>
                    </a:cubicBezTo>
                    <a:cubicBezTo>
                      <a:pt x="57" y="44"/>
                      <a:pt x="45" y="57"/>
                      <a:pt x="29" y="57"/>
                    </a:cubicBezTo>
                    <a:close/>
                    <a:moveTo>
                      <a:pt x="29" y="12"/>
                    </a:moveTo>
                    <a:cubicBezTo>
                      <a:pt x="20" y="12"/>
                      <a:pt x="12" y="20"/>
                      <a:pt x="12" y="29"/>
                    </a:cubicBezTo>
                    <a:cubicBezTo>
                      <a:pt x="12" y="38"/>
                      <a:pt x="20" y="45"/>
                      <a:pt x="29" y="45"/>
                    </a:cubicBezTo>
                    <a:cubicBezTo>
                      <a:pt x="38" y="45"/>
                      <a:pt x="45" y="38"/>
                      <a:pt x="45" y="29"/>
                    </a:cubicBezTo>
                    <a:cubicBezTo>
                      <a:pt x="45" y="20"/>
                      <a:pt x="38" y="12"/>
                      <a:pt x="2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88" name="Freeform 83">
                <a:extLst>
                  <a:ext uri="{FF2B5EF4-FFF2-40B4-BE49-F238E27FC236}">
                    <a16:creationId xmlns:a16="http://schemas.microsoft.com/office/drawing/2014/main" id="{7DFCBC0F-FFBB-3DC9-4842-352029F69494}"/>
                  </a:ext>
                </a:extLst>
              </p:cNvPr>
              <p:cNvSpPr>
                <a:spLocks/>
              </p:cNvSpPr>
              <p:nvPr/>
            </p:nvSpPr>
            <p:spPr bwMode="auto">
              <a:xfrm>
                <a:off x="3639" y="1923"/>
                <a:ext cx="108" cy="77"/>
              </a:xfrm>
              <a:custGeom>
                <a:avLst/>
                <a:gdLst>
                  <a:gd name="T0" fmla="*/ 66 w 73"/>
                  <a:gd name="T1" fmla="*/ 52 h 52"/>
                  <a:gd name="T2" fmla="*/ 62 w 73"/>
                  <a:gd name="T3" fmla="*/ 51 h 52"/>
                  <a:gd name="T4" fmla="*/ 4 w 73"/>
                  <a:gd name="T5" fmla="*/ 12 h 52"/>
                  <a:gd name="T6" fmla="*/ 2 w 73"/>
                  <a:gd name="T7" fmla="*/ 4 h 52"/>
                  <a:gd name="T8" fmla="*/ 10 w 73"/>
                  <a:gd name="T9" fmla="*/ 2 h 52"/>
                  <a:gd name="T10" fmla="*/ 69 w 73"/>
                  <a:gd name="T11" fmla="*/ 41 h 52"/>
                  <a:gd name="T12" fmla="*/ 71 w 73"/>
                  <a:gd name="T13" fmla="*/ 49 h 52"/>
                  <a:gd name="T14" fmla="*/ 66 w 73"/>
                  <a:gd name="T15" fmla="*/ 52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52">
                    <a:moveTo>
                      <a:pt x="66" y="52"/>
                    </a:moveTo>
                    <a:cubicBezTo>
                      <a:pt x="65" y="52"/>
                      <a:pt x="63" y="52"/>
                      <a:pt x="62" y="51"/>
                    </a:cubicBezTo>
                    <a:cubicBezTo>
                      <a:pt x="4" y="12"/>
                      <a:pt x="4" y="12"/>
                      <a:pt x="4" y="12"/>
                    </a:cubicBezTo>
                    <a:cubicBezTo>
                      <a:pt x="1" y="10"/>
                      <a:pt x="0" y="6"/>
                      <a:pt x="2" y="4"/>
                    </a:cubicBezTo>
                    <a:cubicBezTo>
                      <a:pt x="4" y="1"/>
                      <a:pt x="7" y="0"/>
                      <a:pt x="10" y="2"/>
                    </a:cubicBezTo>
                    <a:cubicBezTo>
                      <a:pt x="69" y="41"/>
                      <a:pt x="69" y="41"/>
                      <a:pt x="69" y="41"/>
                    </a:cubicBezTo>
                    <a:cubicBezTo>
                      <a:pt x="72" y="43"/>
                      <a:pt x="73" y="47"/>
                      <a:pt x="71" y="49"/>
                    </a:cubicBezTo>
                    <a:cubicBezTo>
                      <a:pt x="70" y="51"/>
                      <a:pt x="68" y="52"/>
                      <a:pt x="6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89" name="Freeform 84">
                <a:extLst>
                  <a:ext uri="{FF2B5EF4-FFF2-40B4-BE49-F238E27FC236}">
                    <a16:creationId xmlns:a16="http://schemas.microsoft.com/office/drawing/2014/main" id="{FCE2F34F-4726-8426-B33C-93B209BBF324}"/>
                  </a:ext>
                </a:extLst>
              </p:cNvPr>
              <p:cNvSpPr>
                <a:spLocks/>
              </p:cNvSpPr>
              <p:nvPr/>
            </p:nvSpPr>
            <p:spPr bwMode="auto">
              <a:xfrm>
                <a:off x="3562" y="2024"/>
                <a:ext cx="197" cy="102"/>
              </a:xfrm>
              <a:custGeom>
                <a:avLst/>
                <a:gdLst>
                  <a:gd name="T0" fmla="*/ 6 w 133"/>
                  <a:gd name="T1" fmla="*/ 69 h 69"/>
                  <a:gd name="T2" fmla="*/ 1 w 133"/>
                  <a:gd name="T3" fmla="*/ 65 h 69"/>
                  <a:gd name="T4" fmla="*/ 4 w 133"/>
                  <a:gd name="T5" fmla="*/ 57 h 69"/>
                  <a:gd name="T6" fmla="*/ 123 w 133"/>
                  <a:gd name="T7" fmla="*/ 1 h 69"/>
                  <a:gd name="T8" fmla="*/ 131 w 133"/>
                  <a:gd name="T9" fmla="*/ 4 h 69"/>
                  <a:gd name="T10" fmla="*/ 128 w 133"/>
                  <a:gd name="T11" fmla="*/ 12 h 69"/>
                  <a:gd name="T12" fmla="*/ 9 w 133"/>
                  <a:gd name="T13" fmla="*/ 68 h 69"/>
                  <a:gd name="T14" fmla="*/ 6 w 133"/>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69">
                    <a:moveTo>
                      <a:pt x="6" y="69"/>
                    </a:moveTo>
                    <a:cubicBezTo>
                      <a:pt x="4" y="69"/>
                      <a:pt x="2" y="67"/>
                      <a:pt x="1" y="65"/>
                    </a:cubicBezTo>
                    <a:cubicBezTo>
                      <a:pt x="0" y="62"/>
                      <a:pt x="1" y="59"/>
                      <a:pt x="4" y="57"/>
                    </a:cubicBezTo>
                    <a:cubicBezTo>
                      <a:pt x="123" y="1"/>
                      <a:pt x="123" y="1"/>
                      <a:pt x="123" y="1"/>
                    </a:cubicBezTo>
                    <a:cubicBezTo>
                      <a:pt x="126" y="0"/>
                      <a:pt x="130" y="1"/>
                      <a:pt x="131" y="4"/>
                    </a:cubicBezTo>
                    <a:cubicBezTo>
                      <a:pt x="133" y="7"/>
                      <a:pt x="131" y="11"/>
                      <a:pt x="128" y="12"/>
                    </a:cubicBezTo>
                    <a:cubicBezTo>
                      <a:pt x="9" y="68"/>
                      <a:pt x="9" y="68"/>
                      <a:pt x="9" y="68"/>
                    </a:cubicBezTo>
                    <a:cubicBezTo>
                      <a:pt x="8" y="68"/>
                      <a:pt x="7" y="69"/>
                      <a:pt x="6"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grpSp>
        <p:grpSp>
          <p:nvGrpSpPr>
            <p:cNvPr id="90" name="Group 78">
              <a:extLst>
                <a:ext uri="{FF2B5EF4-FFF2-40B4-BE49-F238E27FC236}">
                  <a16:creationId xmlns:a16="http://schemas.microsoft.com/office/drawing/2014/main" id="{F2A644D3-C8D0-2A76-C578-D6237FD67FAD}"/>
                </a:ext>
              </a:extLst>
            </p:cNvPr>
            <p:cNvGrpSpPr>
              <a:grpSpLocks noChangeAspect="1"/>
            </p:cNvGrpSpPr>
            <p:nvPr/>
          </p:nvGrpSpPr>
          <p:grpSpPr bwMode="auto">
            <a:xfrm>
              <a:off x="130859" y="2426370"/>
              <a:ext cx="332338" cy="442426"/>
              <a:chOff x="5561" y="440"/>
              <a:chExt cx="320" cy="426"/>
            </a:xfrm>
            <a:solidFill>
              <a:srgbClr val="A100FF"/>
            </a:solidFill>
          </p:grpSpPr>
          <p:sp>
            <p:nvSpPr>
              <p:cNvPr id="91" name="Freeform 79">
                <a:extLst>
                  <a:ext uri="{FF2B5EF4-FFF2-40B4-BE49-F238E27FC236}">
                    <a16:creationId xmlns:a16="http://schemas.microsoft.com/office/drawing/2014/main" id="{DD20FD43-157B-D6FB-F579-2F3BBBA9F1BB}"/>
                  </a:ext>
                </a:extLst>
              </p:cNvPr>
              <p:cNvSpPr>
                <a:spLocks noEditPoints="1"/>
              </p:cNvSpPr>
              <p:nvPr/>
            </p:nvSpPr>
            <p:spPr bwMode="auto">
              <a:xfrm>
                <a:off x="5561" y="440"/>
                <a:ext cx="320" cy="426"/>
              </a:xfrm>
              <a:custGeom>
                <a:avLst/>
                <a:gdLst>
                  <a:gd name="T0" fmla="*/ 210 w 216"/>
                  <a:gd name="T1" fmla="*/ 288 h 288"/>
                  <a:gd name="T2" fmla="*/ 6 w 216"/>
                  <a:gd name="T3" fmla="*/ 288 h 288"/>
                  <a:gd name="T4" fmla="*/ 0 w 216"/>
                  <a:gd name="T5" fmla="*/ 282 h 288"/>
                  <a:gd name="T6" fmla="*/ 0 w 216"/>
                  <a:gd name="T7" fmla="*/ 6 h 288"/>
                  <a:gd name="T8" fmla="*/ 6 w 216"/>
                  <a:gd name="T9" fmla="*/ 0 h 288"/>
                  <a:gd name="T10" fmla="*/ 138 w 216"/>
                  <a:gd name="T11" fmla="*/ 0 h 288"/>
                  <a:gd name="T12" fmla="*/ 142 w 216"/>
                  <a:gd name="T13" fmla="*/ 2 h 288"/>
                  <a:gd name="T14" fmla="*/ 214 w 216"/>
                  <a:gd name="T15" fmla="*/ 74 h 288"/>
                  <a:gd name="T16" fmla="*/ 216 w 216"/>
                  <a:gd name="T17" fmla="*/ 78 h 288"/>
                  <a:gd name="T18" fmla="*/ 216 w 216"/>
                  <a:gd name="T19" fmla="*/ 282 h 288"/>
                  <a:gd name="T20" fmla="*/ 210 w 216"/>
                  <a:gd name="T21" fmla="*/ 288 h 288"/>
                  <a:gd name="T22" fmla="*/ 12 w 216"/>
                  <a:gd name="T23" fmla="*/ 276 h 288"/>
                  <a:gd name="T24" fmla="*/ 204 w 216"/>
                  <a:gd name="T25" fmla="*/ 276 h 288"/>
                  <a:gd name="T26" fmla="*/ 204 w 216"/>
                  <a:gd name="T27" fmla="*/ 81 h 288"/>
                  <a:gd name="T28" fmla="*/ 136 w 216"/>
                  <a:gd name="T29" fmla="*/ 12 h 288"/>
                  <a:gd name="T30" fmla="*/ 12 w 216"/>
                  <a:gd name="T31" fmla="*/ 12 h 288"/>
                  <a:gd name="T32" fmla="*/ 12 w 216"/>
                  <a:gd name="T3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288">
                    <a:moveTo>
                      <a:pt x="210" y="288"/>
                    </a:moveTo>
                    <a:cubicBezTo>
                      <a:pt x="6" y="288"/>
                      <a:pt x="6" y="288"/>
                      <a:pt x="6" y="288"/>
                    </a:cubicBezTo>
                    <a:cubicBezTo>
                      <a:pt x="3" y="288"/>
                      <a:pt x="0" y="286"/>
                      <a:pt x="0" y="282"/>
                    </a:cubicBezTo>
                    <a:cubicBezTo>
                      <a:pt x="0" y="6"/>
                      <a:pt x="0" y="6"/>
                      <a:pt x="0" y="6"/>
                    </a:cubicBezTo>
                    <a:cubicBezTo>
                      <a:pt x="0" y="3"/>
                      <a:pt x="3" y="0"/>
                      <a:pt x="6" y="0"/>
                    </a:cubicBezTo>
                    <a:cubicBezTo>
                      <a:pt x="138" y="0"/>
                      <a:pt x="138" y="0"/>
                      <a:pt x="138" y="0"/>
                    </a:cubicBezTo>
                    <a:cubicBezTo>
                      <a:pt x="140" y="0"/>
                      <a:pt x="141" y="1"/>
                      <a:pt x="142" y="2"/>
                    </a:cubicBezTo>
                    <a:cubicBezTo>
                      <a:pt x="214" y="74"/>
                      <a:pt x="214" y="74"/>
                      <a:pt x="214" y="74"/>
                    </a:cubicBezTo>
                    <a:cubicBezTo>
                      <a:pt x="216" y="75"/>
                      <a:pt x="216" y="77"/>
                      <a:pt x="216" y="78"/>
                    </a:cubicBezTo>
                    <a:cubicBezTo>
                      <a:pt x="216" y="282"/>
                      <a:pt x="216" y="282"/>
                      <a:pt x="216" y="282"/>
                    </a:cubicBezTo>
                    <a:cubicBezTo>
                      <a:pt x="216" y="286"/>
                      <a:pt x="214" y="288"/>
                      <a:pt x="210" y="288"/>
                    </a:cubicBezTo>
                    <a:close/>
                    <a:moveTo>
                      <a:pt x="12" y="276"/>
                    </a:moveTo>
                    <a:cubicBezTo>
                      <a:pt x="204" y="276"/>
                      <a:pt x="204" y="276"/>
                      <a:pt x="204" y="276"/>
                    </a:cubicBezTo>
                    <a:cubicBezTo>
                      <a:pt x="204" y="81"/>
                      <a:pt x="204" y="81"/>
                      <a:pt x="204" y="81"/>
                    </a:cubicBezTo>
                    <a:cubicBezTo>
                      <a:pt x="136" y="12"/>
                      <a:pt x="136" y="12"/>
                      <a:pt x="136" y="12"/>
                    </a:cubicBezTo>
                    <a:cubicBezTo>
                      <a:pt x="12" y="12"/>
                      <a:pt x="12" y="12"/>
                      <a:pt x="12" y="12"/>
                    </a:cubicBezTo>
                    <a:lnTo>
                      <a:pt x="1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92" name="Freeform 80">
                <a:extLst>
                  <a:ext uri="{FF2B5EF4-FFF2-40B4-BE49-F238E27FC236}">
                    <a16:creationId xmlns:a16="http://schemas.microsoft.com/office/drawing/2014/main" id="{83447AF2-1558-3C73-83B2-D6683360BA9A}"/>
                  </a:ext>
                </a:extLst>
              </p:cNvPr>
              <p:cNvSpPr>
                <a:spLocks/>
              </p:cNvSpPr>
              <p:nvPr/>
            </p:nvSpPr>
            <p:spPr bwMode="auto">
              <a:xfrm>
                <a:off x="5757" y="440"/>
                <a:ext cx="124" cy="125"/>
              </a:xfrm>
              <a:custGeom>
                <a:avLst/>
                <a:gdLst>
                  <a:gd name="T0" fmla="*/ 78 w 84"/>
                  <a:gd name="T1" fmla="*/ 84 h 84"/>
                  <a:gd name="T2" fmla="*/ 6 w 84"/>
                  <a:gd name="T3" fmla="*/ 84 h 84"/>
                  <a:gd name="T4" fmla="*/ 0 w 84"/>
                  <a:gd name="T5" fmla="*/ 78 h 84"/>
                  <a:gd name="T6" fmla="*/ 0 w 84"/>
                  <a:gd name="T7" fmla="*/ 6 h 84"/>
                  <a:gd name="T8" fmla="*/ 6 w 84"/>
                  <a:gd name="T9" fmla="*/ 0 h 84"/>
                  <a:gd name="T10" fmla="*/ 12 w 84"/>
                  <a:gd name="T11" fmla="*/ 6 h 84"/>
                  <a:gd name="T12" fmla="*/ 12 w 84"/>
                  <a:gd name="T13" fmla="*/ 72 h 84"/>
                  <a:gd name="T14" fmla="*/ 78 w 84"/>
                  <a:gd name="T15" fmla="*/ 72 h 84"/>
                  <a:gd name="T16" fmla="*/ 84 w 84"/>
                  <a:gd name="T17" fmla="*/ 78 h 84"/>
                  <a:gd name="T18" fmla="*/ 78 w 84"/>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78" y="84"/>
                    </a:moveTo>
                    <a:cubicBezTo>
                      <a:pt x="6" y="84"/>
                      <a:pt x="6" y="84"/>
                      <a:pt x="6" y="84"/>
                    </a:cubicBezTo>
                    <a:cubicBezTo>
                      <a:pt x="3" y="84"/>
                      <a:pt x="0" y="82"/>
                      <a:pt x="0" y="78"/>
                    </a:cubicBezTo>
                    <a:cubicBezTo>
                      <a:pt x="0" y="6"/>
                      <a:pt x="0" y="6"/>
                      <a:pt x="0" y="6"/>
                    </a:cubicBezTo>
                    <a:cubicBezTo>
                      <a:pt x="0" y="3"/>
                      <a:pt x="3" y="0"/>
                      <a:pt x="6" y="0"/>
                    </a:cubicBezTo>
                    <a:cubicBezTo>
                      <a:pt x="10" y="0"/>
                      <a:pt x="12" y="3"/>
                      <a:pt x="12" y="6"/>
                    </a:cubicBezTo>
                    <a:cubicBezTo>
                      <a:pt x="12" y="72"/>
                      <a:pt x="12" y="72"/>
                      <a:pt x="12" y="72"/>
                    </a:cubicBezTo>
                    <a:cubicBezTo>
                      <a:pt x="78" y="72"/>
                      <a:pt x="78" y="72"/>
                      <a:pt x="78" y="72"/>
                    </a:cubicBezTo>
                    <a:cubicBezTo>
                      <a:pt x="82" y="72"/>
                      <a:pt x="84" y="75"/>
                      <a:pt x="84" y="78"/>
                    </a:cubicBezTo>
                    <a:cubicBezTo>
                      <a:pt x="84" y="82"/>
                      <a:pt x="82"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93" name="Freeform 81">
                <a:extLst>
                  <a:ext uri="{FF2B5EF4-FFF2-40B4-BE49-F238E27FC236}">
                    <a16:creationId xmlns:a16="http://schemas.microsoft.com/office/drawing/2014/main" id="{7CE2BD2F-2CB9-B1BF-EC16-C32BB372F48E}"/>
                  </a:ext>
                </a:extLst>
              </p:cNvPr>
              <p:cNvSpPr>
                <a:spLocks/>
              </p:cNvSpPr>
              <p:nvPr/>
            </p:nvSpPr>
            <p:spPr bwMode="auto">
              <a:xfrm>
                <a:off x="5721"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94" name="Freeform 82">
                <a:extLst>
                  <a:ext uri="{FF2B5EF4-FFF2-40B4-BE49-F238E27FC236}">
                    <a16:creationId xmlns:a16="http://schemas.microsoft.com/office/drawing/2014/main" id="{432541C5-F5CC-7181-5FB6-3119CB6D7374}"/>
                  </a:ext>
                </a:extLst>
              </p:cNvPr>
              <p:cNvSpPr>
                <a:spLocks/>
              </p:cNvSpPr>
              <p:nvPr/>
            </p:nvSpPr>
            <p:spPr bwMode="auto">
              <a:xfrm>
                <a:off x="5721"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95" name="Freeform 83">
                <a:extLst>
                  <a:ext uri="{FF2B5EF4-FFF2-40B4-BE49-F238E27FC236}">
                    <a16:creationId xmlns:a16="http://schemas.microsoft.com/office/drawing/2014/main" id="{D527928B-85DA-97C6-48E4-5A3EB95A485F}"/>
                  </a:ext>
                </a:extLst>
              </p:cNvPr>
              <p:cNvSpPr>
                <a:spLocks/>
              </p:cNvSpPr>
              <p:nvPr/>
            </p:nvSpPr>
            <p:spPr bwMode="auto">
              <a:xfrm>
                <a:off x="5721" y="760"/>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96" name="Freeform 84">
                <a:extLst>
                  <a:ext uri="{FF2B5EF4-FFF2-40B4-BE49-F238E27FC236}">
                    <a16:creationId xmlns:a16="http://schemas.microsoft.com/office/drawing/2014/main" id="{CE489E59-BA64-299B-56B2-ADDE8FE0C697}"/>
                  </a:ext>
                </a:extLst>
              </p:cNvPr>
              <p:cNvSpPr>
                <a:spLocks/>
              </p:cNvSpPr>
              <p:nvPr/>
            </p:nvSpPr>
            <p:spPr bwMode="auto">
              <a:xfrm>
                <a:off x="5614" y="582"/>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97" name="Freeform 85">
                <a:extLst>
                  <a:ext uri="{FF2B5EF4-FFF2-40B4-BE49-F238E27FC236}">
                    <a16:creationId xmlns:a16="http://schemas.microsoft.com/office/drawing/2014/main" id="{728D855A-177F-1646-A2EF-942A0B85C8DA}"/>
                  </a:ext>
                </a:extLst>
              </p:cNvPr>
              <p:cNvSpPr>
                <a:spLocks/>
              </p:cNvSpPr>
              <p:nvPr/>
            </p:nvSpPr>
            <p:spPr bwMode="auto">
              <a:xfrm>
                <a:off x="5614" y="653"/>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98" name="Freeform 86">
                <a:extLst>
                  <a:ext uri="{FF2B5EF4-FFF2-40B4-BE49-F238E27FC236}">
                    <a16:creationId xmlns:a16="http://schemas.microsoft.com/office/drawing/2014/main" id="{0850A0AA-B2FD-940F-14C8-00E60C22787B}"/>
                  </a:ext>
                </a:extLst>
              </p:cNvPr>
              <p:cNvSpPr>
                <a:spLocks/>
              </p:cNvSpPr>
              <p:nvPr/>
            </p:nvSpPr>
            <p:spPr bwMode="auto">
              <a:xfrm>
                <a:off x="5614" y="724"/>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grpSp>
        <p:grpSp>
          <p:nvGrpSpPr>
            <p:cNvPr id="99" name="Group 139">
              <a:extLst>
                <a:ext uri="{FF2B5EF4-FFF2-40B4-BE49-F238E27FC236}">
                  <a16:creationId xmlns:a16="http://schemas.microsoft.com/office/drawing/2014/main" id="{3E2E1EDA-8DDF-9BEA-1B98-20D8DB58DCF4}"/>
                </a:ext>
              </a:extLst>
            </p:cNvPr>
            <p:cNvGrpSpPr>
              <a:grpSpLocks noChangeAspect="1"/>
            </p:cNvGrpSpPr>
            <p:nvPr/>
          </p:nvGrpSpPr>
          <p:grpSpPr bwMode="auto">
            <a:xfrm>
              <a:off x="137768" y="5784457"/>
              <a:ext cx="442426" cy="442426"/>
              <a:chOff x="4479" y="1723"/>
              <a:chExt cx="426" cy="426"/>
            </a:xfrm>
            <a:solidFill>
              <a:srgbClr val="A100FF"/>
            </a:solidFill>
          </p:grpSpPr>
          <p:sp>
            <p:nvSpPr>
              <p:cNvPr id="100" name="Freeform 140">
                <a:extLst>
                  <a:ext uri="{FF2B5EF4-FFF2-40B4-BE49-F238E27FC236}">
                    <a16:creationId xmlns:a16="http://schemas.microsoft.com/office/drawing/2014/main" id="{DDFF4A0D-72F3-7130-E37C-C96ED12AC1BA}"/>
                  </a:ext>
                </a:extLst>
              </p:cNvPr>
              <p:cNvSpPr>
                <a:spLocks noEditPoints="1"/>
              </p:cNvSpPr>
              <p:nvPr/>
            </p:nvSpPr>
            <p:spPr bwMode="auto">
              <a:xfrm>
                <a:off x="4692" y="1936"/>
                <a:ext cx="213" cy="213"/>
              </a:xfrm>
              <a:custGeom>
                <a:avLst/>
                <a:gdLst>
                  <a:gd name="T0" fmla="*/ 6 w 144"/>
                  <a:gd name="T1" fmla="*/ 144 h 144"/>
                  <a:gd name="T2" fmla="*/ 2 w 144"/>
                  <a:gd name="T3" fmla="*/ 143 h 144"/>
                  <a:gd name="T4" fmla="*/ 1 w 144"/>
                  <a:gd name="T5" fmla="*/ 137 h 144"/>
                  <a:gd name="T6" fmla="*/ 13 w 144"/>
                  <a:gd name="T7" fmla="*/ 95 h 144"/>
                  <a:gd name="T8" fmla="*/ 14 w 144"/>
                  <a:gd name="T9" fmla="*/ 92 h 144"/>
                  <a:gd name="T10" fmla="*/ 104 w 144"/>
                  <a:gd name="T11" fmla="*/ 2 h 144"/>
                  <a:gd name="T12" fmla="*/ 113 w 144"/>
                  <a:gd name="T13" fmla="*/ 2 h 144"/>
                  <a:gd name="T14" fmla="*/ 143 w 144"/>
                  <a:gd name="T15" fmla="*/ 32 h 144"/>
                  <a:gd name="T16" fmla="*/ 144 w 144"/>
                  <a:gd name="T17" fmla="*/ 36 h 144"/>
                  <a:gd name="T18" fmla="*/ 143 w 144"/>
                  <a:gd name="T19" fmla="*/ 41 h 144"/>
                  <a:gd name="T20" fmla="*/ 53 w 144"/>
                  <a:gd name="T21" fmla="*/ 131 h 144"/>
                  <a:gd name="T22" fmla="*/ 50 w 144"/>
                  <a:gd name="T23" fmla="*/ 132 h 144"/>
                  <a:gd name="T24" fmla="*/ 8 w 144"/>
                  <a:gd name="T25" fmla="*/ 144 h 144"/>
                  <a:gd name="T26" fmla="*/ 6 w 144"/>
                  <a:gd name="T27" fmla="*/ 144 h 144"/>
                  <a:gd name="T28" fmla="*/ 24 w 144"/>
                  <a:gd name="T29" fmla="*/ 100 h 144"/>
                  <a:gd name="T30" fmla="*/ 15 w 144"/>
                  <a:gd name="T31" fmla="*/ 130 h 144"/>
                  <a:gd name="T32" fmla="*/ 45 w 144"/>
                  <a:gd name="T33" fmla="*/ 121 h 144"/>
                  <a:gd name="T34" fmla="*/ 130 w 144"/>
                  <a:gd name="T35" fmla="*/ 36 h 144"/>
                  <a:gd name="T36" fmla="*/ 108 w 144"/>
                  <a:gd name="T37" fmla="*/ 15 h 144"/>
                  <a:gd name="T38" fmla="*/ 24 w 144"/>
                  <a:gd name="T39" fmla="*/ 100 h 144"/>
                  <a:gd name="T40" fmla="*/ 48 w 144"/>
                  <a:gd name="T41" fmla="*/ 126 h 144"/>
                  <a:gd name="T42" fmla="*/ 48 w 144"/>
                  <a:gd name="T43" fmla="*/ 12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 h="144">
                    <a:moveTo>
                      <a:pt x="6" y="144"/>
                    </a:moveTo>
                    <a:cubicBezTo>
                      <a:pt x="5" y="144"/>
                      <a:pt x="3" y="144"/>
                      <a:pt x="2" y="143"/>
                    </a:cubicBezTo>
                    <a:cubicBezTo>
                      <a:pt x="1" y="141"/>
                      <a:pt x="0" y="139"/>
                      <a:pt x="1" y="137"/>
                    </a:cubicBezTo>
                    <a:cubicBezTo>
                      <a:pt x="13" y="95"/>
                      <a:pt x="13" y="95"/>
                      <a:pt x="13" y="95"/>
                    </a:cubicBezTo>
                    <a:cubicBezTo>
                      <a:pt x="13" y="94"/>
                      <a:pt x="13" y="93"/>
                      <a:pt x="14" y="92"/>
                    </a:cubicBezTo>
                    <a:cubicBezTo>
                      <a:pt x="104" y="2"/>
                      <a:pt x="104" y="2"/>
                      <a:pt x="104" y="2"/>
                    </a:cubicBezTo>
                    <a:cubicBezTo>
                      <a:pt x="107" y="0"/>
                      <a:pt x="110" y="0"/>
                      <a:pt x="113" y="2"/>
                    </a:cubicBezTo>
                    <a:cubicBezTo>
                      <a:pt x="143" y="32"/>
                      <a:pt x="143" y="32"/>
                      <a:pt x="143" y="32"/>
                    </a:cubicBezTo>
                    <a:cubicBezTo>
                      <a:pt x="144" y="33"/>
                      <a:pt x="144" y="35"/>
                      <a:pt x="144" y="36"/>
                    </a:cubicBezTo>
                    <a:cubicBezTo>
                      <a:pt x="144" y="38"/>
                      <a:pt x="144" y="40"/>
                      <a:pt x="143" y="41"/>
                    </a:cubicBezTo>
                    <a:cubicBezTo>
                      <a:pt x="53" y="131"/>
                      <a:pt x="53" y="131"/>
                      <a:pt x="53" y="131"/>
                    </a:cubicBezTo>
                    <a:cubicBezTo>
                      <a:pt x="52" y="131"/>
                      <a:pt x="51" y="132"/>
                      <a:pt x="50" y="132"/>
                    </a:cubicBezTo>
                    <a:cubicBezTo>
                      <a:pt x="8" y="144"/>
                      <a:pt x="8" y="144"/>
                      <a:pt x="8" y="144"/>
                    </a:cubicBezTo>
                    <a:cubicBezTo>
                      <a:pt x="8" y="144"/>
                      <a:pt x="7" y="144"/>
                      <a:pt x="6" y="144"/>
                    </a:cubicBezTo>
                    <a:close/>
                    <a:moveTo>
                      <a:pt x="24" y="100"/>
                    </a:moveTo>
                    <a:cubicBezTo>
                      <a:pt x="15" y="130"/>
                      <a:pt x="15" y="130"/>
                      <a:pt x="15" y="130"/>
                    </a:cubicBezTo>
                    <a:cubicBezTo>
                      <a:pt x="45" y="121"/>
                      <a:pt x="45" y="121"/>
                      <a:pt x="45" y="121"/>
                    </a:cubicBezTo>
                    <a:cubicBezTo>
                      <a:pt x="130" y="36"/>
                      <a:pt x="130" y="36"/>
                      <a:pt x="130" y="36"/>
                    </a:cubicBezTo>
                    <a:cubicBezTo>
                      <a:pt x="108" y="15"/>
                      <a:pt x="108" y="15"/>
                      <a:pt x="108" y="15"/>
                    </a:cubicBezTo>
                    <a:lnTo>
                      <a:pt x="24" y="100"/>
                    </a:lnTo>
                    <a:close/>
                    <a:moveTo>
                      <a:pt x="48" y="126"/>
                    </a:moveTo>
                    <a:cubicBezTo>
                      <a:pt x="48" y="126"/>
                      <a:pt x="48" y="126"/>
                      <a:pt x="48"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01" name="Freeform 141">
                <a:extLst>
                  <a:ext uri="{FF2B5EF4-FFF2-40B4-BE49-F238E27FC236}">
                    <a16:creationId xmlns:a16="http://schemas.microsoft.com/office/drawing/2014/main" id="{C9536D26-5B23-B2AB-E2D1-453C484B5B4F}"/>
                  </a:ext>
                </a:extLst>
              </p:cNvPr>
              <p:cNvSpPr>
                <a:spLocks/>
              </p:cNvSpPr>
              <p:nvPr/>
            </p:nvSpPr>
            <p:spPr bwMode="auto">
              <a:xfrm>
                <a:off x="4811" y="1975"/>
                <a:ext cx="57" cy="57"/>
              </a:xfrm>
              <a:custGeom>
                <a:avLst/>
                <a:gdLst>
                  <a:gd name="T0" fmla="*/ 44 w 57"/>
                  <a:gd name="T1" fmla="*/ 57 h 57"/>
                  <a:gd name="T2" fmla="*/ 0 w 57"/>
                  <a:gd name="T3" fmla="*/ 13 h 57"/>
                  <a:gd name="T4" fmla="*/ 13 w 57"/>
                  <a:gd name="T5" fmla="*/ 0 h 57"/>
                  <a:gd name="T6" fmla="*/ 57 w 57"/>
                  <a:gd name="T7" fmla="*/ 44 h 57"/>
                  <a:gd name="T8" fmla="*/ 44 w 57"/>
                  <a:gd name="T9" fmla="*/ 57 h 57"/>
                </a:gdLst>
                <a:ahLst/>
                <a:cxnLst>
                  <a:cxn ang="0">
                    <a:pos x="T0" y="T1"/>
                  </a:cxn>
                  <a:cxn ang="0">
                    <a:pos x="T2" y="T3"/>
                  </a:cxn>
                  <a:cxn ang="0">
                    <a:pos x="T4" y="T5"/>
                  </a:cxn>
                  <a:cxn ang="0">
                    <a:pos x="T6" y="T7"/>
                  </a:cxn>
                  <a:cxn ang="0">
                    <a:pos x="T8" y="T9"/>
                  </a:cxn>
                </a:cxnLst>
                <a:rect l="0" t="0" r="r" b="b"/>
                <a:pathLst>
                  <a:path w="57" h="57">
                    <a:moveTo>
                      <a:pt x="44" y="57"/>
                    </a:moveTo>
                    <a:lnTo>
                      <a:pt x="0" y="13"/>
                    </a:lnTo>
                    <a:lnTo>
                      <a:pt x="13" y="0"/>
                    </a:lnTo>
                    <a:lnTo>
                      <a:pt x="57" y="44"/>
                    </a:lnTo>
                    <a:lnTo>
                      <a:pt x="44"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02" name="Freeform 142">
                <a:extLst>
                  <a:ext uri="{FF2B5EF4-FFF2-40B4-BE49-F238E27FC236}">
                    <a16:creationId xmlns:a16="http://schemas.microsoft.com/office/drawing/2014/main" id="{95215FDF-679B-B09D-DC37-997E1549CE1F}"/>
                  </a:ext>
                </a:extLst>
              </p:cNvPr>
              <p:cNvSpPr>
                <a:spLocks/>
              </p:cNvSpPr>
              <p:nvPr/>
            </p:nvSpPr>
            <p:spPr bwMode="auto">
              <a:xfrm>
                <a:off x="4710" y="2069"/>
                <a:ext cx="64" cy="62"/>
              </a:xfrm>
              <a:custGeom>
                <a:avLst/>
                <a:gdLst>
                  <a:gd name="T0" fmla="*/ 36 w 43"/>
                  <a:gd name="T1" fmla="*/ 42 h 42"/>
                  <a:gd name="T2" fmla="*/ 32 w 43"/>
                  <a:gd name="T3" fmla="*/ 41 h 42"/>
                  <a:gd name="T4" fmla="*/ 2 w 43"/>
                  <a:gd name="T5" fmla="*/ 11 h 42"/>
                  <a:gd name="T6" fmla="*/ 2 w 43"/>
                  <a:gd name="T7" fmla="*/ 2 h 42"/>
                  <a:gd name="T8" fmla="*/ 11 w 43"/>
                  <a:gd name="T9" fmla="*/ 2 h 42"/>
                  <a:gd name="T10" fmla="*/ 41 w 43"/>
                  <a:gd name="T11" fmla="*/ 32 h 42"/>
                  <a:gd name="T12" fmla="*/ 41 w 43"/>
                  <a:gd name="T13" fmla="*/ 41 h 42"/>
                  <a:gd name="T14" fmla="*/ 36 w 43"/>
                  <a:gd name="T15" fmla="*/ 42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2">
                    <a:moveTo>
                      <a:pt x="36" y="42"/>
                    </a:moveTo>
                    <a:cubicBezTo>
                      <a:pt x="35" y="42"/>
                      <a:pt x="33" y="42"/>
                      <a:pt x="32" y="41"/>
                    </a:cubicBezTo>
                    <a:cubicBezTo>
                      <a:pt x="2" y="11"/>
                      <a:pt x="2" y="11"/>
                      <a:pt x="2" y="11"/>
                    </a:cubicBezTo>
                    <a:cubicBezTo>
                      <a:pt x="0" y="8"/>
                      <a:pt x="0" y="5"/>
                      <a:pt x="2" y="2"/>
                    </a:cubicBezTo>
                    <a:cubicBezTo>
                      <a:pt x="5" y="0"/>
                      <a:pt x="8" y="0"/>
                      <a:pt x="11" y="2"/>
                    </a:cubicBezTo>
                    <a:cubicBezTo>
                      <a:pt x="41" y="32"/>
                      <a:pt x="41" y="32"/>
                      <a:pt x="41" y="32"/>
                    </a:cubicBezTo>
                    <a:cubicBezTo>
                      <a:pt x="43" y="35"/>
                      <a:pt x="43" y="38"/>
                      <a:pt x="41" y="41"/>
                    </a:cubicBezTo>
                    <a:cubicBezTo>
                      <a:pt x="39" y="42"/>
                      <a:pt x="38" y="42"/>
                      <a:pt x="3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03" name="Freeform 143">
                <a:extLst>
                  <a:ext uri="{FF2B5EF4-FFF2-40B4-BE49-F238E27FC236}">
                    <a16:creationId xmlns:a16="http://schemas.microsoft.com/office/drawing/2014/main" id="{458C0A7D-CC10-AB38-A71E-30896AEB4062}"/>
                  </a:ext>
                </a:extLst>
              </p:cNvPr>
              <p:cNvSpPr>
                <a:spLocks/>
              </p:cNvSpPr>
              <p:nvPr/>
            </p:nvSpPr>
            <p:spPr bwMode="auto">
              <a:xfrm>
                <a:off x="4479" y="1777"/>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4" y="228"/>
                      <a:pt x="0" y="215"/>
                      <a:pt x="0" y="198"/>
                    </a:cubicBezTo>
                    <a:cubicBezTo>
                      <a:pt x="0" y="6"/>
                      <a:pt x="0" y="6"/>
                      <a:pt x="0" y="6"/>
                    </a:cubicBezTo>
                    <a:cubicBezTo>
                      <a:pt x="0" y="3"/>
                      <a:pt x="3" y="0"/>
                      <a:pt x="6" y="0"/>
                    </a:cubicBezTo>
                    <a:cubicBezTo>
                      <a:pt x="54" y="0"/>
                      <a:pt x="54" y="0"/>
                      <a:pt x="54" y="0"/>
                    </a:cubicBezTo>
                    <a:cubicBezTo>
                      <a:pt x="58" y="0"/>
                      <a:pt x="60" y="3"/>
                      <a:pt x="60" y="6"/>
                    </a:cubicBezTo>
                    <a:cubicBezTo>
                      <a:pt x="60" y="10"/>
                      <a:pt x="58" y="12"/>
                      <a:pt x="54" y="12"/>
                    </a:cubicBezTo>
                    <a:cubicBezTo>
                      <a:pt x="12" y="12"/>
                      <a:pt x="12" y="12"/>
                      <a:pt x="12" y="12"/>
                    </a:cubicBezTo>
                    <a:cubicBezTo>
                      <a:pt x="12" y="198"/>
                      <a:pt x="12" y="198"/>
                      <a:pt x="12" y="198"/>
                    </a:cubicBezTo>
                    <a:cubicBezTo>
                      <a:pt x="12" y="208"/>
                      <a:pt x="21" y="216"/>
                      <a:pt x="30" y="216"/>
                    </a:cubicBezTo>
                    <a:cubicBezTo>
                      <a:pt x="120" y="216"/>
                      <a:pt x="120" y="216"/>
                      <a:pt x="120" y="216"/>
                    </a:cubicBezTo>
                    <a:cubicBezTo>
                      <a:pt x="124" y="216"/>
                      <a:pt x="126" y="219"/>
                      <a:pt x="126" y="222"/>
                    </a:cubicBezTo>
                    <a:cubicBezTo>
                      <a:pt x="126" y="226"/>
                      <a:pt x="124" y="228"/>
                      <a:pt x="120"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04" name="Freeform 144">
                <a:extLst>
                  <a:ext uri="{FF2B5EF4-FFF2-40B4-BE49-F238E27FC236}">
                    <a16:creationId xmlns:a16="http://schemas.microsoft.com/office/drawing/2014/main" id="{0CA2883B-DE22-4DBB-3A03-7A9E0F3D7D5C}"/>
                  </a:ext>
                </a:extLst>
              </p:cNvPr>
              <p:cNvSpPr>
                <a:spLocks/>
              </p:cNvSpPr>
              <p:nvPr/>
            </p:nvSpPr>
            <p:spPr bwMode="auto">
              <a:xfrm>
                <a:off x="4515" y="1812"/>
                <a:ext cx="142" cy="266"/>
              </a:xfrm>
              <a:custGeom>
                <a:avLst/>
                <a:gdLst>
                  <a:gd name="T0" fmla="*/ 90 w 96"/>
                  <a:gd name="T1" fmla="*/ 180 h 180"/>
                  <a:gd name="T2" fmla="*/ 6 w 96"/>
                  <a:gd name="T3" fmla="*/ 180 h 180"/>
                  <a:gd name="T4" fmla="*/ 0 w 96"/>
                  <a:gd name="T5" fmla="*/ 174 h 180"/>
                  <a:gd name="T6" fmla="*/ 0 w 96"/>
                  <a:gd name="T7" fmla="*/ 6 h 180"/>
                  <a:gd name="T8" fmla="*/ 6 w 96"/>
                  <a:gd name="T9" fmla="*/ 0 h 180"/>
                  <a:gd name="T10" fmla="*/ 30 w 96"/>
                  <a:gd name="T11" fmla="*/ 0 h 180"/>
                  <a:gd name="T12" fmla="*/ 36 w 96"/>
                  <a:gd name="T13" fmla="*/ 6 h 180"/>
                  <a:gd name="T14" fmla="*/ 30 w 96"/>
                  <a:gd name="T15" fmla="*/ 12 h 180"/>
                  <a:gd name="T16" fmla="*/ 12 w 96"/>
                  <a:gd name="T17" fmla="*/ 12 h 180"/>
                  <a:gd name="T18" fmla="*/ 12 w 96"/>
                  <a:gd name="T19" fmla="*/ 168 h 180"/>
                  <a:gd name="T20" fmla="*/ 90 w 96"/>
                  <a:gd name="T21" fmla="*/ 168 h 180"/>
                  <a:gd name="T22" fmla="*/ 96 w 96"/>
                  <a:gd name="T23" fmla="*/ 174 h 180"/>
                  <a:gd name="T24" fmla="*/ 90 w 96"/>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80">
                    <a:moveTo>
                      <a:pt x="90"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4" y="0"/>
                      <a:pt x="36" y="3"/>
                      <a:pt x="36" y="6"/>
                    </a:cubicBezTo>
                    <a:cubicBezTo>
                      <a:pt x="36" y="10"/>
                      <a:pt x="34" y="12"/>
                      <a:pt x="30" y="12"/>
                    </a:cubicBezTo>
                    <a:cubicBezTo>
                      <a:pt x="12" y="12"/>
                      <a:pt x="12" y="12"/>
                      <a:pt x="12" y="12"/>
                    </a:cubicBezTo>
                    <a:cubicBezTo>
                      <a:pt x="12" y="168"/>
                      <a:pt x="12" y="168"/>
                      <a:pt x="12" y="168"/>
                    </a:cubicBezTo>
                    <a:cubicBezTo>
                      <a:pt x="90" y="168"/>
                      <a:pt x="90" y="168"/>
                      <a:pt x="90" y="168"/>
                    </a:cubicBezTo>
                    <a:cubicBezTo>
                      <a:pt x="94" y="168"/>
                      <a:pt x="96" y="171"/>
                      <a:pt x="96" y="174"/>
                    </a:cubicBezTo>
                    <a:cubicBezTo>
                      <a:pt x="96" y="178"/>
                      <a:pt x="94" y="180"/>
                      <a:pt x="90"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05" name="Freeform 145">
                <a:extLst>
                  <a:ext uri="{FF2B5EF4-FFF2-40B4-BE49-F238E27FC236}">
                    <a16:creationId xmlns:a16="http://schemas.microsoft.com/office/drawing/2014/main" id="{C6B3D424-4EE1-DC55-E7B5-F4EC0C5C9B19}"/>
                  </a:ext>
                </a:extLst>
              </p:cNvPr>
              <p:cNvSpPr>
                <a:spLocks/>
              </p:cNvSpPr>
              <p:nvPr/>
            </p:nvSpPr>
            <p:spPr bwMode="auto">
              <a:xfrm>
                <a:off x="4692" y="1777"/>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84"/>
                      <a:pt x="60" y="84"/>
                      <a:pt x="60" y="84"/>
                    </a:cubicBezTo>
                    <a:cubicBezTo>
                      <a:pt x="60" y="88"/>
                      <a:pt x="58" y="90"/>
                      <a:pt x="54"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06" name="Freeform 146">
                <a:extLst>
                  <a:ext uri="{FF2B5EF4-FFF2-40B4-BE49-F238E27FC236}">
                    <a16:creationId xmlns:a16="http://schemas.microsoft.com/office/drawing/2014/main" id="{8B1FACF5-B410-9D54-0416-919953950B9E}"/>
                  </a:ext>
                </a:extLst>
              </p:cNvPr>
              <p:cNvSpPr>
                <a:spLocks noEditPoints="1"/>
              </p:cNvSpPr>
              <p:nvPr/>
            </p:nvSpPr>
            <p:spPr bwMode="auto">
              <a:xfrm>
                <a:off x="4550" y="1723"/>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4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7" y="0"/>
                      <a:pt x="54" y="0"/>
                    </a:cubicBezTo>
                    <a:cubicBezTo>
                      <a:pt x="72" y="0"/>
                      <a:pt x="82" y="12"/>
                      <a:pt x="84" y="24"/>
                    </a:cubicBezTo>
                    <a:cubicBezTo>
                      <a:pt x="102" y="24"/>
                      <a:pt x="102" y="24"/>
                      <a:pt x="102" y="24"/>
                    </a:cubicBezTo>
                    <a:cubicBezTo>
                      <a:pt x="106" y="24"/>
                      <a:pt x="108" y="27"/>
                      <a:pt x="108" y="30"/>
                    </a:cubicBezTo>
                    <a:cubicBezTo>
                      <a:pt x="108" y="78"/>
                      <a:pt x="108" y="78"/>
                      <a:pt x="108" y="78"/>
                    </a:cubicBezTo>
                    <a:cubicBezTo>
                      <a:pt x="108" y="82"/>
                      <a:pt x="106"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4" y="36"/>
                      <a:pt x="30" y="36"/>
                    </a:cubicBezTo>
                    <a:cubicBezTo>
                      <a:pt x="12" y="36"/>
                      <a:pt x="12" y="36"/>
                      <a:pt x="12" y="36"/>
                    </a:cubicBezTo>
                    <a:lnTo>
                      <a:pt x="12" y="72"/>
                    </a:lnTo>
                    <a:close/>
                    <a:moveTo>
                      <a:pt x="84" y="30"/>
                    </a:moveTo>
                    <a:cubicBezTo>
                      <a:pt x="84" y="30"/>
                      <a:pt x="84" y="30"/>
                      <a:pt x="84"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07" name="Freeform 147">
                <a:extLst>
                  <a:ext uri="{FF2B5EF4-FFF2-40B4-BE49-F238E27FC236}">
                    <a16:creationId xmlns:a16="http://schemas.microsoft.com/office/drawing/2014/main" id="{515211FD-B1AF-70F5-7857-3DBE86BEF057}"/>
                  </a:ext>
                </a:extLst>
              </p:cNvPr>
              <p:cNvSpPr>
                <a:spLocks/>
              </p:cNvSpPr>
              <p:nvPr/>
            </p:nvSpPr>
            <p:spPr bwMode="auto">
              <a:xfrm>
                <a:off x="4692" y="1812"/>
                <a:ext cx="53" cy="98"/>
              </a:xfrm>
              <a:custGeom>
                <a:avLst/>
                <a:gdLst>
                  <a:gd name="T0" fmla="*/ 30 w 36"/>
                  <a:gd name="T1" fmla="*/ 66 h 66"/>
                  <a:gd name="T2" fmla="*/ 24 w 36"/>
                  <a:gd name="T3" fmla="*/ 60 h 66"/>
                  <a:gd name="T4" fmla="*/ 24 w 36"/>
                  <a:gd name="T5" fmla="*/ 12 h 66"/>
                  <a:gd name="T6" fmla="*/ 6 w 36"/>
                  <a:gd name="T7" fmla="*/ 12 h 66"/>
                  <a:gd name="T8" fmla="*/ 0 w 36"/>
                  <a:gd name="T9" fmla="*/ 6 h 66"/>
                  <a:gd name="T10" fmla="*/ 6 w 36"/>
                  <a:gd name="T11" fmla="*/ 0 h 66"/>
                  <a:gd name="T12" fmla="*/ 30 w 36"/>
                  <a:gd name="T13" fmla="*/ 0 h 66"/>
                  <a:gd name="T14" fmla="*/ 36 w 36"/>
                  <a:gd name="T15" fmla="*/ 6 h 66"/>
                  <a:gd name="T16" fmla="*/ 36 w 36"/>
                  <a:gd name="T17" fmla="*/ 60 h 66"/>
                  <a:gd name="T18" fmla="*/ 30 w 36"/>
                  <a:gd name="T19"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66">
                    <a:moveTo>
                      <a:pt x="30" y="66"/>
                    </a:moveTo>
                    <a:cubicBezTo>
                      <a:pt x="27" y="66"/>
                      <a:pt x="24" y="64"/>
                      <a:pt x="24" y="60"/>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4" y="0"/>
                      <a:pt x="36" y="3"/>
                      <a:pt x="36" y="6"/>
                    </a:cubicBezTo>
                    <a:cubicBezTo>
                      <a:pt x="36" y="60"/>
                      <a:pt x="36" y="60"/>
                      <a:pt x="36" y="60"/>
                    </a:cubicBezTo>
                    <a:cubicBezTo>
                      <a:pt x="36" y="64"/>
                      <a:pt x="34" y="66"/>
                      <a:pt x="30"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08" name="Freeform 148">
                <a:extLst>
                  <a:ext uri="{FF2B5EF4-FFF2-40B4-BE49-F238E27FC236}">
                    <a16:creationId xmlns:a16="http://schemas.microsoft.com/office/drawing/2014/main" id="{4BA7488D-33D1-605F-57FD-CF827F799857}"/>
                  </a:ext>
                </a:extLst>
              </p:cNvPr>
              <p:cNvSpPr>
                <a:spLocks/>
              </p:cNvSpPr>
              <p:nvPr/>
            </p:nvSpPr>
            <p:spPr bwMode="auto">
              <a:xfrm>
                <a:off x="4568" y="1883"/>
                <a:ext cx="106"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70" y="0"/>
                      <a:pt x="72" y="3"/>
                      <a:pt x="72" y="6"/>
                    </a:cubicBezTo>
                    <a:cubicBezTo>
                      <a:pt x="72" y="10"/>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09" name="Freeform 149">
                <a:extLst>
                  <a:ext uri="{FF2B5EF4-FFF2-40B4-BE49-F238E27FC236}">
                    <a16:creationId xmlns:a16="http://schemas.microsoft.com/office/drawing/2014/main" id="{ABB6FA20-C6A0-0E01-E7ED-8A44CFED031E}"/>
                  </a:ext>
                </a:extLst>
              </p:cNvPr>
              <p:cNvSpPr>
                <a:spLocks/>
              </p:cNvSpPr>
              <p:nvPr/>
            </p:nvSpPr>
            <p:spPr bwMode="auto">
              <a:xfrm>
                <a:off x="4568" y="1918"/>
                <a:ext cx="106"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70" y="0"/>
                      <a:pt x="72" y="3"/>
                      <a:pt x="72" y="6"/>
                    </a:cubicBezTo>
                    <a:cubicBezTo>
                      <a:pt x="72" y="10"/>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10" name="Freeform 150">
                <a:extLst>
                  <a:ext uri="{FF2B5EF4-FFF2-40B4-BE49-F238E27FC236}">
                    <a16:creationId xmlns:a16="http://schemas.microsoft.com/office/drawing/2014/main" id="{40CE6EDE-0165-74B0-3A2D-EAF0845FAD02}"/>
                  </a:ext>
                </a:extLst>
              </p:cNvPr>
              <p:cNvSpPr>
                <a:spLocks/>
              </p:cNvSpPr>
              <p:nvPr/>
            </p:nvSpPr>
            <p:spPr bwMode="auto">
              <a:xfrm>
                <a:off x="4568" y="1954"/>
                <a:ext cx="106"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70" y="0"/>
                      <a:pt x="72" y="3"/>
                      <a:pt x="72" y="6"/>
                    </a:cubicBezTo>
                    <a:cubicBezTo>
                      <a:pt x="72" y="10"/>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11" name="Freeform 151">
                <a:extLst>
                  <a:ext uri="{FF2B5EF4-FFF2-40B4-BE49-F238E27FC236}">
                    <a16:creationId xmlns:a16="http://schemas.microsoft.com/office/drawing/2014/main" id="{B3283B52-A8A2-FD9B-5095-36B0602DB3CF}"/>
                  </a:ext>
                </a:extLst>
              </p:cNvPr>
              <p:cNvSpPr>
                <a:spLocks/>
              </p:cNvSpPr>
              <p:nvPr/>
            </p:nvSpPr>
            <p:spPr bwMode="auto">
              <a:xfrm>
                <a:off x="4568" y="1989"/>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6" y="0"/>
                      <a:pt x="48" y="3"/>
                      <a:pt x="48" y="6"/>
                    </a:cubicBezTo>
                    <a:cubicBezTo>
                      <a:pt x="48" y="10"/>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grpSp>
        <p:grpSp>
          <p:nvGrpSpPr>
            <p:cNvPr id="125" name="Group 102">
              <a:extLst>
                <a:ext uri="{FF2B5EF4-FFF2-40B4-BE49-F238E27FC236}">
                  <a16:creationId xmlns:a16="http://schemas.microsoft.com/office/drawing/2014/main" id="{C91236B3-D5DD-8A42-E6B1-C9B6D96CBEF5}"/>
                </a:ext>
              </a:extLst>
            </p:cNvPr>
            <p:cNvGrpSpPr>
              <a:grpSpLocks noChangeAspect="1"/>
            </p:cNvGrpSpPr>
            <p:nvPr/>
          </p:nvGrpSpPr>
          <p:grpSpPr bwMode="auto">
            <a:xfrm>
              <a:off x="114555" y="3575913"/>
              <a:ext cx="449086" cy="374413"/>
              <a:chOff x="5505" y="1752"/>
              <a:chExt cx="427" cy="356"/>
            </a:xfrm>
            <a:solidFill>
              <a:srgbClr val="A100FF"/>
            </a:solidFill>
          </p:grpSpPr>
          <p:sp>
            <p:nvSpPr>
              <p:cNvPr id="126" name="Freeform 103">
                <a:extLst>
                  <a:ext uri="{FF2B5EF4-FFF2-40B4-BE49-F238E27FC236}">
                    <a16:creationId xmlns:a16="http://schemas.microsoft.com/office/drawing/2014/main" id="{8F17D313-31D7-2847-D1A0-D7ADC4A9C353}"/>
                  </a:ext>
                </a:extLst>
              </p:cNvPr>
              <p:cNvSpPr>
                <a:spLocks noEditPoints="1"/>
              </p:cNvSpPr>
              <p:nvPr/>
            </p:nvSpPr>
            <p:spPr bwMode="auto">
              <a:xfrm>
                <a:off x="5576" y="1875"/>
                <a:ext cx="125" cy="179"/>
              </a:xfrm>
              <a:custGeom>
                <a:avLst/>
                <a:gdLst>
                  <a:gd name="T0" fmla="*/ 78 w 84"/>
                  <a:gd name="T1" fmla="*/ 121 h 121"/>
                  <a:gd name="T2" fmla="*/ 74 w 84"/>
                  <a:gd name="T3" fmla="*/ 119 h 121"/>
                  <a:gd name="T4" fmla="*/ 34 w 84"/>
                  <a:gd name="T5" fmla="*/ 85 h 121"/>
                  <a:gd name="T6" fmla="*/ 6 w 84"/>
                  <a:gd name="T7" fmla="*/ 85 h 121"/>
                  <a:gd name="T8" fmla="*/ 0 w 84"/>
                  <a:gd name="T9" fmla="*/ 79 h 121"/>
                  <a:gd name="T10" fmla="*/ 0 w 84"/>
                  <a:gd name="T11" fmla="*/ 43 h 121"/>
                  <a:gd name="T12" fmla="*/ 6 w 84"/>
                  <a:gd name="T13" fmla="*/ 37 h 121"/>
                  <a:gd name="T14" fmla="*/ 34 w 84"/>
                  <a:gd name="T15" fmla="*/ 37 h 121"/>
                  <a:gd name="T16" fmla="*/ 74 w 84"/>
                  <a:gd name="T17" fmla="*/ 2 h 121"/>
                  <a:gd name="T18" fmla="*/ 80 w 84"/>
                  <a:gd name="T19" fmla="*/ 1 h 121"/>
                  <a:gd name="T20" fmla="*/ 84 w 84"/>
                  <a:gd name="T21" fmla="*/ 7 h 121"/>
                  <a:gd name="T22" fmla="*/ 84 w 84"/>
                  <a:gd name="T23" fmla="*/ 115 h 121"/>
                  <a:gd name="T24" fmla="*/ 80 w 84"/>
                  <a:gd name="T25" fmla="*/ 120 h 121"/>
                  <a:gd name="T26" fmla="*/ 78 w 84"/>
                  <a:gd name="T27" fmla="*/ 121 h 121"/>
                  <a:gd name="T28" fmla="*/ 12 w 84"/>
                  <a:gd name="T29" fmla="*/ 73 h 121"/>
                  <a:gd name="T30" fmla="*/ 36 w 84"/>
                  <a:gd name="T31" fmla="*/ 73 h 121"/>
                  <a:gd name="T32" fmla="*/ 40 w 84"/>
                  <a:gd name="T33" fmla="*/ 74 h 121"/>
                  <a:gd name="T34" fmla="*/ 72 w 84"/>
                  <a:gd name="T35" fmla="*/ 102 h 121"/>
                  <a:gd name="T36" fmla="*/ 72 w 84"/>
                  <a:gd name="T37" fmla="*/ 20 h 121"/>
                  <a:gd name="T38" fmla="*/ 40 w 84"/>
                  <a:gd name="T39" fmla="*/ 47 h 121"/>
                  <a:gd name="T40" fmla="*/ 36 w 84"/>
                  <a:gd name="T41" fmla="*/ 49 h 121"/>
                  <a:gd name="T42" fmla="*/ 12 w 84"/>
                  <a:gd name="T43" fmla="*/ 49 h 121"/>
                  <a:gd name="T44" fmla="*/ 12 w 84"/>
                  <a:gd name="T45" fmla="*/ 7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4" h="121">
                    <a:moveTo>
                      <a:pt x="78" y="121"/>
                    </a:moveTo>
                    <a:cubicBezTo>
                      <a:pt x="76" y="121"/>
                      <a:pt x="75" y="120"/>
                      <a:pt x="74" y="119"/>
                    </a:cubicBezTo>
                    <a:cubicBezTo>
                      <a:pt x="34" y="85"/>
                      <a:pt x="34" y="85"/>
                      <a:pt x="34" y="85"/>
                    </a:cubicBezTo>
                    <a:cubicBezTo>
                      <a:pt x="6" y="85"/>
                      <a:pt x="6" y="85"/>
                      <a:pt x="6" y="85"/>
                    </a:cubicBezTo>
                    <a:cubicBezTo>
                      <a:pt x="3" y="85"/>
                      <a:pt x="0" y="82"/>
                      <a:pt x="0" y="79"/>
                    </a:cubicBezTo>
                    <a:cubicBezTo>
                      <a:pt x="0" y="43"/>
                      <a:pt x="0" y="43"/>
                      <a:pt x="0" y="43"/>
                    </a:cubicBezTo>
                    <a:cubicBezTo>
                      <a:pt x="0" y="39"/>
                      <a:pt x="3" y="37"/>
                      <a:pt x="6" y="37"/>
                    </a:cubicBezTo>
                    <a:cubicBezTo>
                      <a:pt x="34" y="37"/>
                      <a:pt x="34" y="37"/>
                      <a:pt x="34" y="37"/>
                    </a:cubicBezTo>
                    <a:cubicBezTo>
                      <a:pt x="74" y="2"/>
                      <a:pt x="74" y="2"/>
                      <a:pt x="74" y="2"/>
                    </a:cubicBezTo>
                    <a:cubicBezTo>
                      <a:pt x="76" y="1"/>
                      <a:pt x="78" y="0"/>
                      <a:pt x="80" y="1"/>
                    </a:cubicBezTo>
                    <a:cubicBezTo>
                      <a:pt x="82" y="2"/>
                      <a:pt x="84" y="4"/>
                      <a:pt x="84" y="7"/>
                    </a:cubicBezTo>
                    <a:cubicBezTo>
                      <a:pt x="84" y="115"/>
                      <a:pt x="84" y="115"/>
                      <a:pt x="84" y="115"/>
                    </a:cubicBezTo>
                    <a:cubicBezTo>
                      <a:pt x="84" y="117"/>
                      <a:pt x="82" y="119"/>
                      <a:pt x="80" y="120"/>
                    </a:cubicBezTo>
                    <a:cubicBezTo>
                      <a:pt x="80" y="120"/>
                      <a:pt x="79" y="121"/>
                      <a:pt x="78" y="121"/>
                    </a:cubicBezTo>
                    <a:close/>
                    <a:moveTo>
                      <a:pt x="12" y="73"/>
                    </a:moveTo>
                    <a:cubicBezTo>
                      <a:pt x="36" y="73"/>
                      <a:pt x="36" y="73"/>
                      <a:pt x="36" y="73"/>
                    </a:cubicBezTo>
                    <a:cubicBezTo>
                      <a:pt x="37" y="73"/>
                      <a:pt x="39" y="73"/>
                      <a:pt x="40" y="74"/>
                    </a:cubicBezTo>
                    <a:cubicBezTo>
                      <a:pt x="72" y="102"/>
                      <a:pt x="72" y="102"/>
                      <a:pt x="72" y="102"/>
                    </a:cubicBezTo>
                    <a:cubicBezTo>
                      <a:pt x="72" y="20"/>
                      <a:pt x="72" y="20"/>
                      <a:pt x="72" y="20"/>
                    </a:cubicBezTo>
                    <a:cubicBezTo>
                      <a:pt x="40" y="47"/>
                      <a:pt x="40" y="47"/>
                      <a:pt x="40" y="47"/>
                    </a:cubicBezTo>
                    <a:cubicBezTo>
                      <a:pt x="39" y="48"/>
                      <a:pt x="37" y="49"/>
                      <a:pt x="36" y="49"/>
                    </a:cubicBezTo>
                    <a:cubicBezTo>
                      <a:pt x="12" y="49"/>
                      <a:pt x="12" y="49"/>
                      <a:pt x="12" y="49"/>
                    </a:cubicBezTo>
                    <a:lnTo>
                      <a:pt x="12"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27" name="Freeform 104">
                <a:extLst>
                  <a:ext uri="{FF2B5EF4-FFF2-40B4-BE49-F238E27FC236}">
                    <a16:creationId xmlns:a16="http://schemas.microsoft.com/office/drawing/2014/main" id="{BAB564ED-1D95-61F1-FC59-0B3413B4190A}"/>
                  </a:ext>
                </a:extLst>
              </p:cNvPr>
              <p:cNvSpPr>
                <a:spLocks noEditPoints="1"/>
              </p:cNvSpPr>
              <p:nvPr/>
            </p:nvSpPr>
            <p:spPr bwMode="auto">
              <a:xfrm>
                <a:off x="5505" y="1752"/>
                <a:ext cx="267" cy="356"/>
              </a:xfrm>
              <a:custGeom>
                <a:avLst/>
                <a:gdLst>
                  <a:gd name="T0" fmla="*/ 174 w 180"/>
                  <a:gd name="T1" fmla="*/ 240 h 240"/>
                  <a:gd name="T2" fmla="*/ 30 w 180"/>
                  <a:gd name="T3" fmla="*/ 240 h 240"/>
                  <a:gd name="T4" fmla="*/ 0 w 180"/>
                  <a:gd name="T5" fmla="*/ 210 h 240"/>
                  <a:gd name="T6" fmla="*/ 0 w 180"/>
                  <a:gd name="T7" fmla="*/ 30 h 240"/>
                  <a:gd name="T8" fmla="*/ 30 w 180"/>
                  <a:gd name="T9" fmla="*/ 0 h 240"/>
                  <a:gd name="T10" fmla="*/ 180 w 180"/>
                  <a:gd name="T11" fmla="*/ 0 h 240"/>
                  <a:gd name="T12" fmla="*/ 180 w 180"/>
                  <a:gd name="T13" fmla="*/ 12 h 240"/>
                  <a:gd name="T14" fmla="*/ 30 w 180"/>
                  <a:gd name="T15" fmla="*/ 12 h 240"/>
                  <a:gd name="T16" fmla="*/ 12 w 180"/>
                  <a:gd name="T17" fmla="*/ 30 h 240"/>
                  <a:gd name="T18" fmla="*/ 30 w 180"/>
                  <a:gd name="T19" fmla="*/ 48 h 240"/>
                  <a:gd name="T20" fmla="*/ 174 w 180"/>
                  <a:gd name="T21" fmla="*/ 48 h 240"/>
                  <a:gd name="T22" fmla="*/ 180 w 180"/>
                  <a:gd name="T23" fmla="*/ 54 h 240"/>
                  <a:gd name="T24" fmla="*/ 180 w 180"/>
                  <a:gd name="T25" fmla="*/ 234 h 240"/>
                  <a:gd name="T26" fmla="*/ 174 w 180"/>
                  <a:gd name="T27" fmla="*/ 240 h 240"/>
                  <a:gd name="T28" fmla="*/ 12 w 180"/>
                  <a:gd name="T29" fmla="*/ 54 h 240"/>
                  <a:gd name="T30" fmla="*/ 12 w 180"/>
                  <a:gd name="T31" fmla="*/ 210 h 240"/>
                  <a:gd name="T32" fmla="*/ 30 w 180"/>
                  <a:gd name="T33" fmla="*/ 228 h 240"/>
                  <a:gd name="T34" fmla="*/ 168 w 180"/>
                  <a:gd name="T35" fmla="*/ 228 h 240"/>
                  <a:gd name="T36" fmla="*/ 168 w 180"/>
                  <a:gd name="T37" fmla="*/ 60 h 240"/>
                  <a:gd name="T38" fmla="*/ 30 w 180"/>
                  <a:gd name="T39" fmla="*/ 60 h 240"/>
                  <a:gd name="T40" fmla="*/ 12 w 180"/>
                  <a:gd name="T41" fmla="*/ 54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0" h="240">
                    <a:moveTo>
                      <a:pt x="174" y="240"/>
                    </a:moveTo>
                    <a:cubicBezTo>
                      <a:pt x="30" y="240"/>
                      <a:pt x="30" y="240"/>
                      <a:pt x="30" y="240"/>
                    </a:cubicBezTo>
                    <a:cubicBezTo>
                      <a:pt x="13" y="240"/>
                      <a:pt x="0" y="226"/>
                      <a:pt x="0" y="210"/>
                    </a:cubicBezTo>
                    <a:cubicBezTo>
                      <a:pt x="0" y="30"/>
                      <a:pt x="0" y="30"/>
                      <a:pt x="0" y="30"/>
                    </a:cubicBezTo>
                    <a:cubicBezTo>
                      <a:pt x="0" y="13"/>
                      <a:pt x="13" y="0"/>
                      <a:pt x="30" y="0"/>
                    </a:cubicBezTo>
                    <a:cubicBezTo>
                      <a:pt x="180" y="0"/>
                      <a:pt x="180" y="0"/>
                      <a:pt x="180" y="0"/>
                    </a:cubicBezTo>
                    <a:cubicBezTo>
                      <a:pt x="180" y="12"/>
                      <a:pt x="180" y="12"/>
                      <a:pt x="180" y="12"/>
                    </a:cubicBezTo>
                    <a:cubicBezTo>
                      <a:pt x="30" y="12"/>
                      <a:pt x="30" y="12"/>
                      <a:pt x="30" y="12"/>
                    </a:cubicBezTo>
                    <a:cubicBezTo>
                      <a:pt x="20" y="12"/>
                      <a:pt x="12" y="20"/>
                      <a:pt x="12" y="30"/>
                    </a:cubicBezTo>
                    <a:cubicBezTo>
                      <a:pt x="12" y="40"/>
                      <a:pt x="20" y="48"/>
                      <a:pt x="30" y="48"/>
                    </a:cubicBezTo>
                    <a:cubicBezTo>
                      <a:pt x="174" y="48"/>
                      <a:pt x="174" y="48"/>
                      <a:pt x="174" y="48"/>
                    </a:cubicBezTo>
                    <a:cubicBezTo>
                      <a:pt x="177" y="48"/>
                      <a:pt x="180" y="50"/>
                      <a:pt x="180" y="54"/>
                    </a:cubicBezTo>
                    <a:cubicBezTo>
                      <a:pt x="180" y="234"/>
                      <a:pt x="180" y="234"/>
                      <a:pt x="180" y="234"/>
                    </a:cubicBezTo>
                    <a:cubicBezTo>
                      <a:pt x="180" y="237"/>
                      <a:pt x="177" y="240"/>
                      <a:pt x="174" y="240"/>
                    </a:cubicBezTo>
                    <a:close/>
                    <a:moveTo>
                      <a:pt x="12" y="54"/>
                    </a:moveTo>
                    <a:cubicBezTo>
                      <a:pt x="12" y="210"/>
                      <a:pt x="12" y="210"/>
                      <a:pt x="12" y="210"/>
                    </a:cubicBezTo>
                    <a:cubicBezTo>
                      <a:pt x="12" y="220"/>
                      <a:pt x="20" y="228"/>
                      <a:pt x="30" y="228"/>
                    </a:cubicBezTo>
                    <a:cubicBezTo>
                      <a:pt x="168" y="228"/>
                      <a:pt x="168" y="228"/>
                      <a:pt x="168" y="228"/>
                    </a:cubicBezTo>
                    <a:cubicBezTo>
                      <a:pt x="168" y="60"/>
                      <a:pt x="168" y="60"/>
                      <a:pt x="168" y="60"/>
                    </a:cubicBezTo>
                    <a:cubicBezTo>
                      <a:pt x="30" y="60"/>
                      <a:pt x="30" y="60"/>
                      <a:pt x="30" y="60"/>
                    </a:cubicBezTo>
                    <a:cubicBezTo>
                      <a:pt x="23" y="60"/>
                      <a:pt x="17" y="57"/>
                      <a:pt x="1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28" name="Freeform 105">
                <a:extLst>
                  <a:ext uri="{FF2B5EF4-FFF2-40B4-BE49-F238E27FC236}">
                    <a16:creationId xmlns:a16="http://schemas.microsoft.com/office/drawing/2014/main" id="{802A1B61-F77D-8B37-4D50-2C96610B18A9}"/>
                  </a:ext>
                </a:extLst>
              </p:cNvPr>
              <p:cNvSpPr>
                <a:spLocks/>
              </p:cNvSpPr>
              <p:nvPr/>
            </p:nvSpPr>
            <p:spPr bwMode="auto">
              <a:xfrm>
                <a:off x="5541" y="1788"/>
                <a:ext cx="213" cy="18"/>
              </a:xfrm>
              <a:custGeom>
                <a:avLst/>
                <a:gdLst>
                  <a:gd name="T0" fmla="*/ 138 w 144"/>
                  <a:gd name="T1" fmla="*/ 12 h 12"/>
                  <a:gd name="T2" fmla="*/ 6 w 144"/>
                  <a:gd name="T3" fmla="*/ 12 h 12"/>
                  <a:gd name="T4" fmla="*/ 0 w 144"/>
                  <a:gd name="T5" fmla="*/ 6 h 12"/>
                  <a:gd name="T6" fmla="*/ 6 w 144"/>
                  <a:gd name="T7" fmla="*/ 0 h 12"/>
                  <a:gd name="T8" fmla="*/ 138 w 144"/>
                  <a:gd name="T9" fmla="*/ 0 h 12"/>
                  <a:gd name="T10" fmla="*/ 144 w 144"/>
                  <a:gd name="T11" fmla="*/ 6 h 12"/>
                  <a:gd name="T12" fmla="*/ 138 w 14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44" h="12">
                    <a:moveTo>
                      <a:pt x="138" y="12"/>
                    </a:moveTo>
                    <a:cubicBezTo>
                      <a:pt x="6" y="12"/>
                      <a:pt x="6" y="12"/>
                      <a:pt x="6" y="12"/>
                    </a:cubicBezTo>
                    <a:cubicBezTo>
                      <a:pt x="3" y="12"/>
                      <a:pt x="0" y="9"/>
                      <a:pt x="0" y="6"/>
                    </a:cubicBezTo>
                    <a:cubicBezTo>
                      <a:pt x="0" y="2"/>
                      <a:pt x="3" y="0"/>
                      <a:pt x="6" y="0"/>
                    </a:cubicBezTo>
                    <a:cubicBezTo>
                      <a:pt x="138" y="0"/>
                      <a:pt x="138" y="0"/>
                      <a:pt x="138" y="0"/>
                    </a:cubicBezTo>
                    <a:cubicBezTo>
                      <a:pt x="141" y="0"/>
                      <a:pt x="144" y="2"/>
                      <a:pt x="144" y="6"/>
                    </a:cubicBezTo>
                    <a:cubicBezTo>
                      <a:pt x="144" y="9"/>
                      <a:pt x="141" y="12"/>
                      <a:pt x="1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29" name="Freeform 106">
                <a:extLst>
                  <a:ext uri="{FF2B5EF4-FFF2-40B4-BE49-F238E27FC236}">
                    <a16:creationId xmlns:a16="http://schemas.microsoft.com/office/drawing/2014/main" id="{C467628C-4CB0-CA78-043B-1393D8809DB9}"/>
                  </a:ext>
                </a:extLst>
              </p:cNvPr>
              <p:cNvSpPr>
                <a:spLocks/>
              </p:cNvSpPr>
              <p:nvPr/>
            </p:nvSpPr>
            <p:spPr bwMode="auto">
              <a:xfrm>
                <a:off x="5834" y="1874"/>
                <a:ext cx="53" cy="182"/>
              </a:xfrm>
              <a:custGeom>
                <a:avLst/>
                <a:gdLst>
                  <a:gd name="T0" fmla="*/ 7 w 36"/>
                  <a:gd name="T1" fmla="*/ 123 h 123"/>
                  <a:gd name="T2" fmla="*/ 3 w 36"/>
                  <a:gd name="T3" fmla="*/ 121 h 123"/>
                  <a:gd name="T4" fmla="*/ 3 w 36"/>
                  <a:gd name="T5" fmla="*/ 113 h 123"/>
                  <a:gd name="T6" fmla="*/ 24 w 36"/>
                  <a:gd name="T7" fmla="*/ 62 h 123"/>
                  <a:gd name="T8" fmla="*/ 3 w 36"/>
                  <a:gd name="T9" fmla="*/ 11 h 123"/>
                  <a:gd name="T10" fmla="*/ 3 w 36"/>
                  <a:gd name="T11" fmla="*/ 2 h 123"/>
                  <a:gd name="T12" fmla="*/ 11 w 36"/>
                  <a:gd name="T13" fmla="*/ 2 h 123"/>
                  <a:gd name="T14" fmla="*/ 36 w 36"/>
                  <a:gd name="T15" fmla="*/ 62 h 123"/>
                  <a:gd name="T16" fmla="*/ 11 w 36"/>
                  <a:gd name="T17" fmla="*/ 121 h 123"/>
                  <a:gd name="T18" fmla="*/ 7 w 36"/>
                  <a:gd name="T1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23">
                    <a:moveTo>
                      <a:pt x="7" y="123"/>
                    </a:moveTo>
                    <a:cubicBezTo>
                      <a:pt x="5" y="123"/>
                      <a:pt x="4" y="122"/>
                      <a:pt x="3" y="121"/>
                    </a:cubicBezTo>
                    <a:cubicBezTo>
                      <a:pt x="0" y="119"/>
                      <a:pt x="0" y="115"/>
                      <a:pt x="3" y="113"/>
                    </a:cubicBezTo>
                    <a:cubicBezTo>
                      <a:pt x="16" y="99"/>
                      <a:pt x="24" y="81"/>
                      <a:pt x="24" y="62"/>
                    </a:cubicBezTo>
                    <a:cubicBezTo>
                      <a:pt x="24" y="43"/>
                      <a:pt x="16" y="24"/>
                      <a:pt x="3" y="11"/>
                    </a:cubicBezTo>
                    <a:cubicBezTo>
                      <a:pt x="0" y="9"/>
                      <a:pt x="0" y="5"/>
                      <a:pt x="3" y="2"/>
                    </a:cubicBezTo>
                    <a:cubicBezTo>
                      <a:pt x="5" y="0"/>
                      <a:pt x="9" y="0"/>
                      <a:pt x="11" y="2"/>
                    </a:cubicBezTo>
                    <a:cubicBezTo>
                      <a:pt x="27" y="18"/>
                      <a:pt x="36" y="39"/>
                      <a:pt x="36" y="62"/>
                    </a:cubicBezTo>
                    <a:cubicBezTo>
                      <a:pt x="36" y="84"/>
                      <a:pt x="27" y="105"/>
                      <a:pt x="11" y="121"/>
                    </a:cubicBezTo>
                    <a:cubicBezTo>
                      <a:pt x="10" y="122"/>
                      <a:pt x="9" y="123"/>
                      <a:pt x="7"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30" name="Freeform 107">
                <a:extLst>
                  <a:ext uri="{FF2B5EF4-FFF2-40B4-BE49-F238E27FC236}">
                    <a16:creationId xmlns:a16="http://schemas.microsoft.com/office/drawing/2014/main" id="{FCC0436D-15C3-CC04-4551-0ED13187024C}"/>
                  </a:ext>
                </a:extLst>
              </p:cNvPr>
              <p:cNvSpPr>
                <a:spLocks/>
              </p:cNvSpPr>
              <p:nvPr/>
            </p:nvSpPr>
            <p:spPr bwMode="auto">
              <a:xfrm>
                <a:off x="5868" y="1849"/>
                <a:ext cx="64" cy="232"/>
              </a:xfrm>
              <a:custGeom>
                <a:avLst/>
                <a:gdLst>
                  <a:gd name="T0" fmla="*/ 7 w 43"/>
                  <a:gd name="T1" fmla="*/ 157 h 157"/>
                  <a:gd name="T2" fmla="*/ 3 w 43"/>
                  <a:gd name="T3" fmla="*/ 155 h 157"/>
                  <a:gd name="T4" fmla="*/ 3 w 43"/>
                  <a:gd name="T5" fmla="*/ 147 h 157"/>
                  <a:gd name="T6" fmla="*/ 31 w 43"/>
                  <a:gd name="T7" fmla="*/ 79 h 157"/>
                  <a:gd name="T8" fmla="*/ 3 w 43"/>
                  <a:gd name="T9" fmla="*/ 11 h 157"/>
                  <a:gd name="T10" fmla="*/ 3 w 43"/>
                  <a:gd name="T11" fmla="*/ 2 h 157"/>
                  <a:gd name="T12" fmla="*/ 11 w 43"/>
                  <a:gd name="T13" fmla="*/ 2 h 157"/>
                  <a:gd name="T14" fmla="*/ 43 w 43"/>
                  <a:gd name="T15" fmla="*/ 79 h 157"/>
                  <a:gd name="T16" fmla="*/ 11 w 43"/>
                  <a:gd name="T17" fmla="*/ 155 h 157"/>
                  <a:gd name="T18" fmla="*/ 7 w 43"/>
                  <a:gd name="T19"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57">
                    <a:moveTo>
                      <a:pt x="7" y="157"/>
                    </a:moveTo>
                    <a:cubicBezTo>
                      <a:pt x="5" y="157"/>
                      <a:pt x="4" y="156"/>
                      <a:pt x="3" y="155"/>
                    </a:cubicBezTo>
                    <a:cubicBezTo>
                      <a:pt x="0" y="153"/>
                      <a:pt x="0" y="149"/>
                      <a:pt x="3" y="147"/>
                    </a:cubicBezTo>
                    <a:cubicBezTo>
                      <a:pt x="21" y="129"/>
                      <a:pt x="31" y="104"/>
                      <a:pt x="31" y="79"/>
                    </a:cubicBezTo>
                    <a:cubicBezTo>
                      <a:pt x="31" y="53"/>
                      <a:pt x="21" y="29"/>
                      <a:pt x="3" y="11"/>
                    </a:cubicBezTo>
                    <a:cubicBezTo>
                      <a:pt x="0" y="9"/>
                      <a:pt x="0" y="5"/>
                      <a:pt x="3" y="2"/>
                    </a:cubicBezTo>
                    <a:cubicBezTo>
                      <a:pt x="5" y="0"/>
                      <a:pt x="9" y="0"/>
                      <a:pt x="11" y="2"/>
                    </a:cubicBezTo>
                    <a:cubicBezTo>
                      <a:pt x="32" y="23"/>
                      <a:pt x="43" y="50"/>
                      <a:pt x="43" y="79"/>
                    </a:cubicBezTo>
                    <a:cubicBezTo>
                      <a:pt x="43" y="108"/>
                      <a:pt x="32" y="135"/>
                      <a:pt x="11" y="155"/>
                    </a:cubicBezTo>
                    <a:cubicBezTo>
                      <a:pt x="10" y="156"/>
                      <a:pt x="9" y="157"/>
                      <a:pt x="7"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131" name="Freeform 108">
                <a:extLst>
                  <a:ext uri="{FF2B5EF4-FFF2-40B4-BE49-F238E27FC236}">
                    <a16:creationId xmlns:a16="http://schemas.microsoft.com/office/drawing/2014/main" id="{3086E8D4-0567-1855-827D-02DFB93FED05}"/>
                  </a:ext>
                </a:extLst>
              </p:cNvPr>
              <p:cNvSpPr>
                <a:spLocks/>
              </p:cNvSpPr>
              <p:nvPr/>
            </p:nvSpPr>
            <p:spPr bwMode="auto">
              <a:xfrm>
                <a:off x="5800" y="1899"/>
                <a:ext cx="43" cy="132"/>
              </a:xfrm>
              <a:custGeom>
                <a:avLst/>
                <a:gdLst>
                  <a:gd name="T0" fmla="*/ 7 w 29"/>
                  <a:gd name="T1" fmla="*/ 89 h 89"/>
                  <a:gd name="T2" fmla="*/ 3 w 29"/>
                  <a:gd name="T3" fmla="*/ 87 h 89"/>
                  <a:gd name="T4" fmla="*/ 3 w 29"/>
                  <a:gd name="T5" fmla="*/ 79 h 89"/>
                  <a:gd name="T6" fmla="*/ 17 w 29"/>
                  <a:gd name="T7" fmla="*/ 45 h 89"/>
                  <a:gd name="T8" fmla="*/ 3 w 29"/>
                  <a:gd name="T9" fmla="*/ 11 h 89"/>
                  <a:gd name="T10" fmla="*/ 3 w 29"/>
                  <a:gd name="T11" fmla="*/ 2 h 89"/>
                  <a:gd name="T12" fmla="*/ 11 w 29"/>
                  <a:gd name="T13" fmla="*/ 2 h 89"/>
                  <a:gd name="T14" fmla="*/ 29 w 29"/>
                  <a:gd name="T15" fmla="*/ 45 h 89"/>
                  <a:gd name="T16" fmla="*/ 11 w 29"/>
                  <a:gd name="T17" fmla="*/ 87 h 89"/>
                  <a:gd name="T18" fmla="*/ 7 w 29"/>
                  <a:gd name="T19" fmla="*/ 8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89">
                    <a:moveTo>
                      <a:pt x="7" y="89"/>
                    </a:moveTo>
                    <a:cubicBezTo>
                      <a:pt x="6" y="89"/>
                      <a:pt x="4" y="88"/>
                      <a:pt x="3" y="87"/>
                    </a:cubicBezTo>
                    <a:cubicBezTo>
                      <a:pt x="0" y="85"/>
                      <a:pt x="0" y="81"/>
                      <a:pt x="3" y="79"/>
                    </a:cubicBezTo>
                    <a:cubicBezTo>
                      <a:pt x="12" y="70"/>
                      <a:pt x="17" y="58"/>
                      <a:pt x="17" y="45"/>
                    </a:cubicBezTo>
                    <a:cubicBezTo>
                      <a:pt x="17" y="32"/>
                      <a:pt x="12" y="20"/>
                      <a:pt x="3" y="11"/>
                    </a:cubicBezTo>
                    <a:cubicBezTo>
                      <a:pt x="0" y="8"/>
                      <a:pt x="0" y="5"/>
                      <a:pt x="3" y="2"/>
                    </a:cubicBezTo>
                    <a:cubicBezTo>
                      <a:pt x="5" y="0"/>
                      <a:pt x="9" y="0"/>
                      <a:pt x="11" y="2"/>
                    </a:cubicBezTo>
                    <a:cubicBezTo>
                      <a:pt x="23" y="14"/>
                      <a:pt x="29" y="29"/>
                      <a:pt x="29" y="45"/>
                    </a:cubicBezTo>
                    <a:cubicBezTo>
                      <a:pt x="29" y="61"/>
                      <a:pt x="23" y="76"/>
                      <a:pt x="11" y="87"/>
                    </a:cubicBezTo>
                    <a:cubicBezTo>
                      <a:pt x="10" y="88"/>
                      <a:pt x="9" y="89"/>
                      <a:pt x="7"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3" tIns="45691" rIns="91383" bIns="45691" numCol="1" anchor="t" anchorCtr="0" compatLnSpc="1">
                <a:prstTxWarp prst="textNoShape">
                  <a:avLst/>
                </a:prstTxWarp>
              </a:bodyPr>
              <a:lstStyle/>
              <a:p>
                <a:pPr marL="0" marR="0" lvl="0" indent="0" algn="l" defTabSz="913851" rtl="0" eaLnBrk="1" fontAlgn="base" latinLnBrk="0" hangingPunct="1">
                  <a:lnSpc>
                    <a:spcPct val="100000"/>
                  </a:lnSpc>
                  <a:spcBef>
                    <a:spcPct val="0"/>
                  </a:spcBef>
                  <a:spcAft>
                    <a:spcPct val="0"/>
                  </a:spcAft>
                  <a:buClrTx/>
                  <a:buSzTx/>
                  <a:buFontTx/>
                  <a:buNone/>
                  <a:tabLst/>
                  <a:defRPr/>
                </a:pPr>
                <a:endParaRPr kumimoji="0" lang="en-AU" sz="1799" b="0" i="0" u="none" strike="noStrike" kern="0" cap="none" spc="0" normalizeH="0" baseline="0" noProof="0">
                  <a:ln>
                    <a:noFill/>
                  </a:ln>
                  <a:solidFill>
                    <a:srgbClr val="96968C"/>
                  </a:solidFill>
                  <a:effectLst/>
                  <a:uLnTx/>
                  <a:uFillTx/>
                  <a:latin typeface="Arial" charset="0"/>
                  <a:ea typeface="+mn-ea"/>
                  <a:cs typeface="Arial" charset="0"/>
                </a:endParaRPr>
              </a:p>
            </p:txBody>
          </p:sp>
        </p:grpSp>
      </p:grpSp>
    </p:spTree>
    <p:extLst>
      <p:ext uri="{BB962C8B-B14F-4D97-AF65-F5344CB8AC3E}">
        <p14:creationId xmlns:p14="http://schemas.microsoft.com/office/powerpoint/2010/main" val="801699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6_Accenture 2023">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2">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Starter_Pack_Graphik_210303_Fixed_Accessibility.potx" id="{5533E145-E600-4444-BC3D-5102D2EEDB31}" vid="{383380C5-E3D1-4977-8974-3F092EA624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1715</TotalTime>
  <Words>4558</Words>
  <Application>Microsoft Office PowerPoint</Application>
  <PresentationFormat>Widescreen</PresentationFormat>
  <Paragraphs>483</Paragraphs>
  <Slides>15</Slides>
  <Notes>6</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6_Accenture 2023</vt:lpstr>
      <vt:lpstr>BMW Global IAM -Agentic Solution</vt:lpstr>
      <vt:lpstr>Enabling the IAM Transformation through Agentic AI </vt:lpstr>
      <vt:lpstr>Modules included in Agentic Sales Companion </vt:lpstr>
      <vt:lpstr>The Agentic Solution Delivers IAM Value Across Key Dimensions</vt:lpstr>
      <vt:lpstr>Costing</vt:lpstr>
      <vt:lpstr>Resource Plan</vt:lpstr>
      <vt:lpstr>Assumptions (1/2)</vt:lpstr>
      <vt:lpstr>Assumptions (2/2)</vt:lpstr>
      <vt:lpstr>Workplan For Build Phase</vt:lpstr>
      <vt:lpstr>Workplan For Rollout Phase</vt:lpstr>
      <vt:lpstr>Workplan For Operations/Maintenance Phase</vt:lpstr>
      <vt:lpstr>Key Risks And Mitigations</vt:lpstr>
      <vt:lpstr>Dependencies to have Field Force Orchestration ready on day 1</vt:lpstr>
      <vt:lpstr>Additional Questions We Need to Clarify with the Team</vt:lpstr>
      <vt:lpstr>AI empowers field teams to move from Administration Tasks to Selling better- Cutting efforts across Dealer and IR journeys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Shankar, Shiva B.</dc:creator>
  <cp:lastModifiedBy>Shankar, Shiva B.</cp:lastModifiedBy>
  <cp:revision>3</cp:revision>
  <dcterms:created xsi:type="dcterms:W3CDTF">2026-04-23T11:03:29Z</dcterms:created>
  <dcterms:modified xsi:type="dcterms:W3CDTF">2026-06-22T10:54:18Z</dcterms:modified>
</cp:coreProperties>
</file>